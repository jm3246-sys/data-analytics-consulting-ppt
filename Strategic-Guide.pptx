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Raleway Medium" panose="020F0502020204030204"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79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FFE14D"/>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FFE14D"/>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33453"/>
            <a:ext cx="14630400" cy="8229600"/>
          </a:xfrm>
          <a:prstGeom prst="rect">
            <a:avLst/>
          </a:prstGeom>
          <a:solidFill>
            <a:srgbClr val="FFE14D"/>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FFE14D"/>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11151"/>
            <a:ext cx="14630400" cy="8229600"/>
          </a:xfrm>
          <a:prstGeom prst="rect">
            <a:avLst/>
          </a:prstGeom>
          <a:solidFill>
            <a:srgbClr val="27272B"/>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FFE14D"/>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strategy"/><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11151"/>
            <a:ext cx="5486400" cy="8229600"/>
          </a:xfrm>
          <a:prstGeom prst="rect">
            <a:avLst/>
          </a:prstGeom>
        </p:spPr>
      </p:pic>
      <p:sp>
        <p:nvSpPr>
          <p:cNvPr id="3" name="Shape 0"/>
          <p:cNvSpPr/>
          <p:nvPr/>
        </p:nvSpPr>
        <p:spPr>
          <a:xfrm>
            <a:off x="864037" y="1496497"/>
            <a:ext cx="2300764" cy="464106"/>
          </a:xfrm>
          <a:prstGeom prst="roundRect">
            <a:avLst>
              <a:gd name="adj" fmla="val 63836"/>
            </a:avLst>
          </a:prstGeom>
          <a:solidFill>
            <a:srgbClr val="4D4000"/>
          </a:solidFill>
          <a:ln/>
        </p:spPr>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2150" y="1629847"/>
            <a:ext cx="197406" cy="197406"/>
          </a:xfrm>
          <a:prstGeom prst="rect">
            <a:avLst/>
          </a:prstGeom>
        </p:spPr>
      </p:pic>
      <p:sp>
        <p:nvSpPr>
          <p:cNvPr id="5" name="Text 1"/>
          <p:cNvSpPr/>
          <p:nvPr/>
        </p:nvSpPr>
        <p:spPr>
          <a:xfrm>
            <a:off x="1308259" y="1570553"/>
            <a:ext cx="1708428" cy="315992"/>
          </a:xfrm>
          <a:prstGeom prst="rect">
            <a:avLst/>
          </a:prstGeom>
          <a:noFill/>
          <a:ln/>
        </p:spPr>
        <p:txBody>
          <a:bodyPr wrap="none" lIns="0" tIns="0" rIns="0" bIns="0" rtlCol="0" anchor="t"/>
          <a:lstStyle/>
          <a:p>
            <a:pPr marL="0" indent="0" algn="l">
              <a:lnSpc>
                <a:spcPts val="2450"/>
              </a:lnSpc>
              <a:buNone/>
            </a:pPr>
            <a:r>
              <a:rPr lang="en-US" sz="1550" dirty="0">
                <a:solidFill>
                  <a:srgbClr val="D7D4CC"/>
                </a:solidFill>
                <a:latin typeface="Raleway Medium" pitchFamily="34" charset="0"/>
                <a:ea typeface="Raleway Medium" pitchFamily="34" charset="-122"/>
                <a:cs typeface="Raleway Medium" pitchFamily="34" charset="-120"/>
              </a:rPr>
              <a:t>STRATEGIC GUIDE</a:t>
            </a:r>
            <a:endParaRPr lang="en-US" sz="1550" dirty="0"/>
          </a:p>
        </p:txBody>
      </p:sp>
      <p:sp>
        <p:nvSpPr>
          <p:cNvPr id="6" name="Text 2"/>
          <p:cNvSpPr/>
          <p:nvPr/>
        </p:nvSpPr>
        <p:spPr>
          <a:xfrm>
            <a:off x="864037" y="2059305"/>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Boosting Sales and Building Market Goodwill</a:t>
            </a:r>
            <a:endParaRPr lang="en-US" sz="4300" dirty="0"/>
          </a:p>
        </p:txBody>
      </p:sp>
      <p:sp>
        <p:nvSpPr>
          <p:cNvPr id="7" name="Text 3"/>
          <p:cNvSpPr/>
          <p:nvPr/>
        </p:nvSpPr>
        <p:spPr>
          <a:xfrm>
            <a:off x="864037" y="3801189"/>
            <a:ext cx="7415927" cy="1975247"/>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In any business, sales and goodwill are inextricably linked. The profits from increased sales arrive alongside customer trust, loyalty, and long-term brand strength. When both flourish together, your company becomes more competitive, gains better recognition, and achieves greater profitability.</a:t>
            </a:r>
            <a:endParaRPr lang="en-US" sz="1900" dirty="0"/>
          </a:p>
        </p:txBody>
      </p:sp>
      <p:pic>
        <p:nvPicPr>
          <p:cNvPr id="8" name="Image 2" descr="preencoded.png">
            <a:hlinkClick r:id="rId6"/>
          </p:cNvPr>
          <p:cNvPicPr>
            <a:picLocks noChangeAspect="1"/>
          </p:cNvPicPr>
          <p:nvPr/>
        </p:nvPicPr>
        <p:blipFill>
          <a:blip r:embed="rId7"/>
          <a:stretch>
            <a:fillRect/>
          </a:stretch>
        </p:blipFill>
        <p:spPr>
          <a:xfrm>
            <a:off x="864037" y="6054090"/>
            <a:ext cx="2634853" cy="678894"/>
          </a:xfrm>
          <a:prstGeom prst="rect">
            <a:avLst/>
          </a:prstGeom>
        </p:spPr>
      </p:pic>
      <p:pic>
        <p:nvPicPr>
          <p:cNvPr id="9" name="Image 3" descr="preencoded.png"/>
          <p:cNvPicPr>
            <a:picLocks noChangeAspect="1"/>
          </p:cNvPicPr>
          <p:nvPr/>
        </p:nvPicPr>
        <p:blipFill>
          <a:blip r:embed="rId8"/>
          <a:stretch>
            <a:fillRect/>
          </a:stretch>
        </p:blipFill>
        <p:spPr>
          <a:xfrm>
            <a:off x="3622238" y="6054090"/>
            <a:ext cx="2438638" cy="6788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645569" y="456724"/>
            <a:ext cx="7099935" cy="369094"/>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Comfortaa Bold" pitchFamily="34" charset="0"/>
                <a:ea typeface="Comfortaa Bold" pitchFamily="34" charset="-122"/>
                <a:cs typeface="Comfortaa Bold" pitchFamily="34" charset="-120"/>
              </a:rPr>
              <a:t>The Foundation: Know Your Customers Deeply</a:t>
            </a:r>
            <a:endParaRPr lang="en-US" sz="2300" dirty="0"/>
          </a:p>
        </p:txBody>
      </p:sp>
      <p:sp>
        <p:nvSpPr>
          <p:cNvPr id="3" name="Text 1"/>
          <p:cNvSpPr/>
          <p:nvPr/>
        </p:nvSpPr>
        <p:spPr>
          <a:xfrm>
            <a:off x="2645569" y="1224320"/>
            <a:ext cx="5441275" cy="797243"/>
          </a:xfrm>
          <a:prstGeom prst="rect">
            <a:avLst/>
          </a:prstGeom>
          <a:noFill/>
          <a:ln/>
        </p:spPr>
        <p:txBody>
          <a:bodyPr wrap="square" lIns="0" tIns="0" rIns="0" bIns="0" rtlCol="0" anchor="t"/>
          <a:lstStyle/>
          <a:p>
            <a:pPr marL="0" indent="0" algn="l">
              <a:lnSpc>
                <a:spcPts val="2050"/>
              </a:lnSpc>
              <a:buNone/>
            </a:pPr>
            <a:r>
              <a:rPr lang="en-US" sz="1300" dirty="0">
                <a:solidFill>
                  <a:srgbClr val="000000"/>
                </a:solidFill>
                <a:latin typeface="Raleway Medium" pitchFamily="34" charset="0"/>
                <a:ea typeface="Raleway Medium" pitchFamily="34" charset="-122"/>
                <a:cs typeface="Raleway Medium" pitchFamily="34" charset="-120"/>
              </a:rPr>
              <a:t>A successful sale begins with a thorough understanding of the customers most likely to purchase your product. Without this foundation, even the most brilliant marketing efforts will fall flat.</a:t>
            </a:r>
            <a:endParaRPr lang="en-US" sz="1300" dirty="0"/>
          </a:p>
        </p:txBody>
      </p:sp>
      <p:sp>
        <p:nvSpPr>
          <p:cNvPr id="4" name="Text 2"/>
          <p:cNvSpPr/>
          <p:nvPr/>
        </p:nvSpPr>
        <p:spPr>
          <a:xfrm>
            <a:off x="2645569" y="2170986"/>
            <a:ext cx="5441275" cy="1062990"/>
          </a:xfrm>
          <a:prstGeom prst="rect">
            <a:avLst/>
          </a:prstGeom>
          <a:noFill/>
          <a:ln/>
        </p:spPr>
        <p:txBody>
          <a:bodyPr wrap="square" lIns="0" tIns="0" rIns="0" bIns="0" rtlCol="0" anchor="t"/>
          <a:lstStyle/>
          <a:p>
            <a:pPr marL="0" indent="0" algn="l">
              <a:lnSpc>
                <a:spcPts val="2050"/>
              </a:lnSpc>
              <a:buNone/>
            </a:pPr>
            <a:r>
              <a:rPr lang="en-US" sz="1300" dirty="0">
                <a:solidFill>
                  <a:srgbClr val="000000"/>
                </a:solidFill>
                <a:latin typeface="Raleway Medium" pitchFamily="34" charset="0"/>
                <a:ea typeface="Raleway Medium" pitchFamily="34" charset="-122"/>
                <a:cs typeface="Raleway Medium" pitchFamily="34" charset="-120"/>
              </a:rPr>
              <a:t>Deep customer knowledge enables you to refine product design, sharpen positioning, and create promotions that truly resonate. This isn't about guesswork—it's about systematic insight gathering that drives real results.</a:t>
            </a:r>
            <a:endParaRPr lang="en-US" sz="1300" dirty="0"/>
          </a:p>
        </p:txBody>
      </p:sp>
      <p:pic>
        <p:nvPicPr>
          <p:cNvPr id="5" name="Image 0" descr="preencoded.png"/>
          <p:cNvPicPr>
            <a:picLocks noChangeAspect="1"/>
          </p:cNvPicPr>
          <p:nvPr/>
        </p:nvPicPr>
        <p:blipFill>
          <a:blip r:embed="rId3"/>
          <a:stretch>
            <a:fillRect/>
          </a:stretch>
        </p:blipFill>
        <p:spPr>
          <a:xfrm>
            <a:off x="8499753" y="1261705"/>
            <a:ext cx="3492460" cy="3492460"/>
          </a:xfrm>
          <a:prstGeom prst="rect">
            <a:avLst/>
          </a:prstGeom>
        </p:spPr>
      </p:pic>
      <p:sp>
        <p:nvSpPr>
          <p:cNvPr id="6" name="Shape 3"/>
          <p:cNvSpPr/>
          <p:nvPr/>
        </p:nvSpPr>
        <p:spPr>
          <a:xfrm>
            <a:off x="2645569" y="5127784"/>
            <a:ext cx="4586526" cy="1239679"/>
          </a:xfrm>
          <a:prstGeom prst="roundRect">
            <a:avLst>
              <a:gd name="adj" fmla="val 8851"/>
            </a:avLst>
          </a:prstGeom>
          <a:solidFill>
            <a:srgbClr val="FFE14D"/>
          </a:solidFill>
          <a:ln w="22860">
            <a:solidFill>
              <a:srgbClr val="5F5F63"/>
            </a:solidFill>
            <a:prstDash val="solid"/>
          </a:ln>
        </p:spPr>
      </p:sp>
      <p:sp>
        <p:nvSpPr>
          <p:cNvPr id="7" name="Shape 4"/>
          <p:cNvSpPr/>
          <p:nvPr/>
        </p:nvSpPr>
        <p:spPr>
          <a:xfrm>
            <a:off x="2622709" y="5127784"/>
            <a:ext cx="91440" cy="1239679"/>
          </a:xfrm>
          <a:prstGeom prst="roundRect">
            <a:avLst>
              <a:gd name="adj" fmla="val 272494"/>
            </a:avLst>
          </a:prstGeom>
          <a:solidFill>
            <a:srgbClr val="FFE14D"/>
          </a:solidFill>
          <a:ln/>
        </p:spPr>
      </p:sp>
      <p:sp>
        <p:nvSpPr>
          <p:cNvPr id="8" name="Text 5"/>
          <p:cNvSpPr/>
          <p:nvPr/>
        </p:nvSpPr>
        <p:spPr>
          <a:xfrm>
            <a:off x="2903101" y="5316736"/>
            <a:ext cx="2169557" cy="23062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Comfortaa Bold" pitchFamily="34" charset="0"/>
                <a:ea typeface="Comfortaa Bold" pitchFamily="34" charset="-122"/>
                <a:cs typeface="Comfortaa Bold" pitchFamily="34" charset="-120"/>
              </a:rPr>
              <a:t>Deploy Simple Surveys</a:t>
            </a:r>
            <a:endParaRPr lang="en-US" sz="1450" dirty="0"/>
          </a:p>
        </p:txBody>
      </p:sp>
      <p:sp>
        <p:nvSpPr>
          <p:cNvPr id="9" name="Text 6"/>
          <p:cNvSpPr/>
          <p:nvPr/>
        </p:nvSpPr>
        <p:spPr>
          <a:xfrm>
            <a:off x="2903101" y="5647015"/>
            <a:ext cx="4140041" cy="531495"/>
          </a:xfrm>
          <a:prstGeom prst="rect">
            <a:avLst/>
          </a:prstGeom>
          <a:noFill/>
          <a:ln/>
        </p:spPr>
        <p:txBody>
          <a:bodyPr wrap="square" lIns="0" tIns="0" rIns="0" bIns="0" rtlCol="0" anchor="t"/>
          <a:lstStyle/>
          <a:p>
            <a:pPr marL="0" indent="0" algn="l">
              <a:lnSpc>
                <a:spcPts val="2050"/>
              </a:lnSpc>
              <a:buNone/>
            </a:pPr>
            <a:r>
              <a:rPr lang="en-US" sz="1300" dirty="0">
                <a:solidFill>
                  <a:srgbClr val="000000"/>
                </a:solidFill>
                <a:latin typeface="Raleway Medium" pitchFamily="34" charset="0"/>
                <a:ea typeface="Raleway Medium" pitchFamily="34" charset="-122"/>
                <a:cs typeface="Raleway Medium" pitchFamily="34" charset="-120"/>
              </a:rPr>
              <a:t>Use feedback forms to capture customer sentiment and preferences regularly</a:t>
            </a:r>
            <a:endParaRPr lang="en-US" sz="1300" dirty="0"/>
          </a:p>
        </p:txBody>
      </p:sp>
      <p:sp>
        <p:nvSpPr>
          <p:cNvPr id="10" name="Shape 7"/>
          <p:cNvSpPr/>
          <p:nvPr/>
        </p:nvSpPr>
        <p:spPr>
          <a:xfrm>
            <a:off x="7398187" y="5127784"/>
            <a:ext cx="4586526" cy="1239679"/>
          </a:xfrm>
          <a:prstGeom prst="roundRect">
            <a:avLst>
              <a:gd name="adj" fmla="val 8851"/>
            </a:avLst>
          </a:prstGeom>
          <a:solidFill>
            <a:srgbClr val="FFE14D"/>
          </a:solidFill>
          <a:ln w="22860">
            <a:solidFill>
              <a:srgbClr val="5F5F63"/>
            </a:solidFill>
            <a:prstDash val="solid"/>
          </a:ln>
        </p:spPr>
      </p:sp>
      <p:sp>
        <p:nvSpPr>
          <p:cNvPr id="11" name="Shape 8"/>
          <p:cNvSpPr/>
          <p:nvPr/>
        </p:nvSpPr>
        <p:spPr>
          <a:xfrm>
            <a:off x="7375327" y="5127784"/>
            <a:ext cx="91440" cy="1239679"/>
          </a:xfrm>
          <a:prstGeom prst="roundRect">
            <a:avLst>
              <a:gd name="adj" fmla="val 272494"/>
            </a:avLst>
          </a:prstGeom>
          <a:solidFill>
            <a:srgbClr val="FFE14D"/>
          </a:solidFill>
          <a:ln/>
        </p:spPr>
      </p:sp>
      <p:sp>
        <p:nvSpPr>
          <p:cNvPr id="12" name="Text 9"/>
          <p:cNvSpPr/>
          <p:nvPr/>
        </p:nvSpPr>
        <p:spPr>
          <a:xfrm>
            <a:off x="7655719" y="5316736"/>
            <a:ext cx="2173486" cy="23062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Comfortaa Bold" pitchFamily="34" charset="0"/>
                <a:ea typeface="Comfortaa Bold" pitchFamily="34" charset="-122"/>
                <a:cs typeface="Comfortaa Bold" pitchFamily="34" charset="-120"/>
              </a:rPr>
              <a:t>Investigate Pain Points</a:t>
            </a:r>
            <a:endParaRPr lang="en-US" sz="1450" dirty="0"/>
          </a:p>
        </p:txBody>
      </p:sp>
      <p:sp>
        <p:nvSpPr>
          <p:cNvPr id="13" name="Text 10"/>
          <p:cNvSpPr/>
          <p:nvPr/>
        </p:nvSpPr>
        <p:spPr>
          <a:xfrm>
            <a:off x="7655719" y="5647015"/>
            <a:ext cx="4140041" cy="531495"/>
          </a:xfrm>
          <a:prstGeom prst="rect">
            <a:avLst/>
          </a:prstGeom>
          <a:noFill/>
          <a:ln/>
        </p:spPr>
        <p:txBody>
          <a:bodyPr wrap="square" lIns="0" tIns="0" rIns="0" bIns="0" rtlCol="0" anchor="t"/>
          <a:lstStyle/>
          <a:p>
            <a:pPr marL="0" indent="0" algn="l">
              <a:lnSpc>
                <a:spcPts val="2050"/>
              </a:lnSpc>
              <a:buNone/>
            </a:pPr>
            <a:r>
              <a:rPr lang="en-US" sz="1300" dirty="0">
                <a:solidFill>
                  <a:srgbClr val="000000"/>
                </a:solidFill>
                <a:latin typeface="Raleway Medium" pitchFamily="34" charset="0"/>
                <a:ea typeface="Raleway Medium" pitchFamily="34" charset="-122"/>
                <a:cs typeface="Raleway Medium" pitchFamily="34" charset="-120"/>
              </a:rPr>
              <a:t>Examine the problems customers encounter and their buying habits more closely</a:t>
            </a:r>
            <a:endParaRPr lang="en-US" sz="1300" dirty="0"/>
          </a:p>
        </p:txBody>
      </p:sp>
      <p:sp>
        <p:nvSpPr>
          <p:cNvPr id="14" name="Shape 11"/>
          <p:cNvSpPr/>
          <p:nvPr/>
        </p:nvSpPr>
        <p:spPr>
          <a:xfrm>
            <a:off x="2645569" y="6533555"/>
            <a:ext cx="4586526" cy="1239679"/>
          </a:xfrm>
          <a:prstGeom prst="roundRect">
            <a:avLst>
              <a:gd name="adj" fmla="val 8851"/>
            </a:avLst>
          </a:prstGeom>
          <a:solidFill>
            <a:srgbClr val="FFE14D"/>
          </a:solidFill>
          <a:ln w="22860">
            <a:solidFill>
              <a:srgbClr val="5F5F63"/>
            </a:solidFill>
            <a:prstDash val="solid"/>
          </a:ln>
        </p:spPr>
      </p:sp>
      <p:sp>
        <p:nvSpPr>
          <p:cNvPr id="15" name="Shape 12"/>
          <p:cNvSpPr/>
          <p:nvPr/>
        </p:nvSpPr>
        <p:spPr>
          <a:xfrm>
            <a:off x="2622709" y="6533555"/>
            <a:ext cx="91440" cy="1239679"/>
          </a:xfrm>
          <a:prstGeom prst="roundRect">
            <a:avLst>
              <a:gd name="adj" fmla="val 272494"/>
            </a:avLst>
          </a:prstGeom>
          <a:solidFill>
            <a:srgbClr val="FFE14D"/>
          </a:solidFill>
          <a:ln/>
        </p:spPr>
      </p:sp>
      <p:sp>
        <p:nvSpPr>
          <p:cNvPr id="16" name="Text 13"/>
          <p:cNvSpPr/>
          <p:nvPr/>
        </p:nvSpPr>
        <p:spPr>
          <a:xfrm>
            <a:off x="2903101" y="6722507"/>
            <a:ext cx="2411016" cy="23062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Comfortaa Bold" pitchFamily="34" charset="0"/>
                <a:ea typeface="Comfortaa Bold" pitchFamily="34" charset="-122"/>
                <a:cs typeface="Comfortaa Bold" pitchFamily="34" charset="-120"/>
              </a:rPr>
              <a:t>Track Common Enquiries</a:t>
            </a:r>
            <a:endParaRPr lang="en-US" sz="1450" dirty="0"/>
          </a:p>
        </p:txBody>
      </p:sp>
      <p:sp>
        <p:nvSpPr>
          <p:cNvPr id="17" name="Text 14"/>
          <p:cNvSpPr/>
          <p:nvPr/>
        </p:nvSpPr>
        <p:spPr>
          <a:xfrm>
            <a:off x="2903101" y="7052786"/>
            <a:ext cx="4140041" cy="531495"/>
          </a:xfrm>
          <a:prstGeom prst="rect">
            <a:avLst/>
          </a:prstGeom>
          <a:noFill/>
          <a:ln/>
        </p:spPr>
        <p:txBody>
          <a:bodyPr wrap="square" lIns="0" tIns="0" rIns="0" bIns="0" rtlCol="0" anchor="t"/>
          <a:lstStyle/>
          <a:p>
            <a:pPr marL="0" indent="0" algn="l">
              <a:lnSpc>
                <a:spcPts val="2050"/>
              </a:lnSpc>
              <a:buNone/>
            </a:pPr>
            <a:r>
              <a:rPr lang="en-US" sz="1300" dirty="0">
                <a:solidFill>
                  <a:srgbClr val="000000"/>
                </a:solidFill>
                <a:latin typeface="Raleway Medium" pitchFamily="34" charset="0"/>
                <a:ea typeface="Raleway Medium" pitchFamily="34" charset="-122"/>
                <a:cs typeface="Raleway Medium" pitchFamily="34" charset="-120"/>
              </a:rPr>
              <a:t>List the questions customers ask most frequently to identify knowledge gaps</a:t>
            </a:r>
            <a:endParaRPr lang="en-US" sz="1300" dirty="0"/>
          </a:p>
        </p:txBody>
      </p:sp>
      <p:sp>
        <p:nvSpPr>
          <p:cNvPr id="18" name="Shape 15"/>
          <p:cNvSpPr/>
          <p:nvPr/>
        </p:nvSpPr>
        <p:spPr>
          <a:xfrm>
            <a:off x="7398187" y="6533555"/>
            <a:ext cx="4586526" cy="1239679"/>
          </a:xfrm>
          <a:prstGeom prst="roundRect">
            <a:avLst>
              <a:gd name="adj" fmla="val 8851"/>
            </a:avLst>
          </a:prstGeom>
          <a:solidFill>
            <a:srgbClr val="FFE14D"/>
          </a:solidFill>
          <a:ln w="22860">
            <a:solidFill>
              <a:srgbClr val="5F5F63"/>
            </a:solidFill>
            <a:prstDash val="solid"/>
          </a:ln>
        </p:spPr>
      </p:sp>
      <p:sp>
        <p:nvSpPr>
          <p:cNvPr id="19" name="Shape 16"/>
          <p:cNvSpPr/>
          <p:nvPr/>
        </p:nvSpPr>
        <p:spPr>
          <a:xfrm>
            <a:off x="7375327" y="6533555"/>
            <a:ext cx="91440" cy="1239679"/>
          </a:xfrm>
          <a:prstGeom prst="roundRect">
            <a:avLst>
              <a:gd name="adj" fmla="val 272494"/>
            </a:avLst>
          </a:prstGeom>
          <a:solidFill>
            <a:srgbClr val="FFE14D"/>
          </a:solidFill>
          <a:ln/>
        </p:spPr>
      </p:sp>
      <p:sp>
        <p:nvSpPr>
          <p:cNvPr id="20" name="Text 17"/>
          <p:cNvSpPr/>
          <p:nvPr/>
        </p:nvSpPr>
        <p:spPr>
          <a:xfrm>
            <a:off x="7655719" y="6722507"/>
            <a:ext cx="2136577" cy="23062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Comfortaa Bold" pitchFamily="34" charset="0"/>
                <a:ea typeface="Comfortaa Bold" pitchFamily="34" charset="-122"/>
                <a:cs typeface="Comfortaa Bold" pitchFamily="34" charset="-120"/>
              </a:rPr>
              <a:t>Research Competitors</a:t>
            </a:r>
            <a:endParaRPr lang="en-US" sz="1450" dirty="0"/>
          </a:p>
        </p:txBody>
      </p:sp>
      <p:sp>
        <p:nvSpPr>
          <p:cNvPr id="21" name="Text 18"/>
          <p:cNvSpPr/>
          <p:nvPr/>
        </p:nvSpPr>
        <p:spPr>
          <a:xfrm>
            <a:off x="7655719" y="7052786"/>
            <a:ext cx="4140041" cy="531495"/>
          </a:xfrm>
          <a:prstGeom prst="rect">
            <a:avLst/>
          </a:prstGeom>
          <a:noFill/>
          <a:ln/>
        </p:spPr>
        <p:txBody>
          <a:bodyPr wrap="square" lIns="0" tIns="0" rIns="0" bIns="0" rtlCol="0" anchor="t"/>
          <a:lstStyle/>
          <a:p>
            <a:pPr marL="0" indent="0" algn="l">
              <a:lnSpc>
                <a:spcPts val="2050"/>
              </a:lnSpc>
              <a:buNone/>
            </a:pPr>
            <a:r>
              <a:rPr lang="en-US" sz="1300" dirty="0">
                <a:solidFill>
                  <a:srgbClr val="000000"/>
                </a:solidFill>
                <a:latin typeface="Raleway Medium" pitchFamily="34" charset="0"/>
                <a:ea typeface="Raleway Medium" pitchFamily="34" charset="-122"/>
                <a:cs typeface="Raleway Medium" pitchFamily="34" charset="-120"/>
              </a:rPr>
              <a:t>Discover what customers expect by analysing competitor offerings and positioning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15633" y="1137761"/>
            <a:ext cx="3536752" cy="335994"/>
          </a:xfrm>
          <a:prstGeom prst="rect">
            <a:avLst/>
          </a:prstGeom>
          <a:noFill/>
          <a:ln/>
        </p:spPr>
        <p:txBody>
          <a:bodyPr wrap="none" lIns="0" tIns="0" rIns="0" bIns="0" rtlCol="0" anchor="t"/>
          <a:lstStyle/>
          <a:p>
            <a:pPr marL="0" indent="0" algn="l">
              <a:lnSpc>
                <a:spcPts val="2600"/>
              </a:lnSpc>
              <a:buNone/>
            </a:pPr>
            <a:r>
              <a:rPr lang="en-US" sz="2100" b="1" dirty="0">
                <a:solidFill>
                  <a:srgbClr val="FFE14D"/>
                </a:solidFill>
                <a:latin typeface="Comfortaa Bold" pitchFamily="34" charset="0"/>
                <a:ea typeface="Comfortaa Bold" pitchFamily="34" charset="-122"/>
                <a:cs typeface="Comfortaa Bold" pitchFamily="34" charset="-120"/>
              </a:rPr>
              <a:t>Enhance Perceived Value</a:t>
            </a:r>
            <a:endParaRPr lang="en-US" sz="2100" dirty="0"/>
          </a:p>
        </p:txBody>
      </p:sp>
      <p:sp>
        <p:nvSpPr>
          <p:cNvPr id="4" name="Text 1"/>
          <p:cNvSpPr/>
          <p:nvPr/>
        </p:nvSpPr>
        <p:spPr>
          <a:xfrm>
            <a:off x="6015633" y="1700570"/>
            <a:ext cx="8085534" cy="483870"/>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Customers consistently choose products that deliver clear, demonstrable value. It's not merely about features—it's about the perception of quality, uniqueness, and the overall experience your product provides.</a:t>
            </a:r>
            <a:endParaRPr lang="en-US" sz="1150" dirty="0"/>
          </a:p>
        </p:txBody>
      </p:sp>
      <p:sp>
        <p:nvSpPr>
          <p:cNvPr id="5" name="Shape 2"/>
          <p:cNvSpPr/>
          <p:nvPr/>
        </p:nvSpPr>
        <p:spPr>
          <a:xfrm>
            <a:off x="6015633" y="2354580"/>
            <a:ext cx="604957" cy="907375"/>
          </a:xfrm>
          <a:prstGeom prst="roundRect">
            <a:avLst>
              <a:gd name="adj" fmla="val 360006"/>
            </a:avLst>
          </a:prstGeom>
          <a:solidFill>
            <a:srgbClr val="46464A"/>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04704" y="2694861"/>
            <a:ext cx="226814" cy="226814"/>
          </a:xfrm>
          <a:prstGeom prst="rect">
            <a:avLst/>
          </a:prstGeom>
        </p:spPr>
      </p:pic>
      <p:sp>
        <p:nvSpPr>
          <p:cNvPr id="7" name="Text 3"/>
          <p:cNvSpPr/>
          <p:nvPr/>
        </p:nvSpPr>
        <p:spPr>
          <a:xfrm>
            <a:off x="6771799" y="2505789"/>
            <a:ext cx="1680448" cy="209907"/>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Elevate Quality</a:t>
            </a:r>
            <a:endParaRPr lang="en-US" sz="1300" dirty="0"/>
          </a:p>
        </p:txBody>
      </p:sp>
      <p:sp>
        <p:nvSpPr>
          <p:cNvPr id="8" name="Text 4"/>
          <p:cNvSpPr/>
          <p:nvPr/>
        </p:nvSpPr>
        <p:spPr>
          <a:xfrm>
            <a:off x="6771799" y="2806422"/>
            <a:ext cx="7329368" cy="24193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Upgrade product quality and packaging to exceed customer expectations</a:t>
            </a:r>
            <a:endParaRPr lang="en-US" sz="1150" dirty="0"/>
          </a:p>
        </p:txBody>
      </p:sp>
      <p:sp>
        <p:nvSpPr>
          <p:cNvPr id="9" name="Shape 5"/>
          <p:cNvSpPr/>
          <p:nvPr/>
        </p:nvSpPr>
        <p:spPr>
          <a:xfrm>
            <a:off x="6015633" y="3413165"/>
            <a:ext cx="604957" cy="907375"/>
          </a:xfrm>
          <a:prstGeom prst="roundRect">
            <a:avLst>
              <a:gd name="adj" fmla="val 360006"/>
            </a:avLst>
          </a:prstGeom>
          <a:solidFill>
            <a:srgbClr val="46464A"/>
          </a:solidFill>
          <a:ln/>
        </p:spPr>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4704" y="3753445"/>
            <a:ext cx="226814" cy="226814"/>
          </a:xfrm>
          <a:prstGeom prst="rect">
            <a:avLst/>
          </a:prstGeom>
        </p:spPr>
      </p:pic>
      <p:sp>
        <p:nvSpPr>
          <p:cNvPr id="11" name="Text 6"/>
          <p:cNvSpPr/>
          <p:nvPr/>
        </p:nvSpPr>
        <p:spPr>
          <a:xfrm>
            <a:off x="6771799" y="3564374"/>
            <a:ext cx="1916787" cy="209907"/>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Highlight Uniqueness</a:t>
            </a:r>
            <a:endParaRPr lang="en-US" sz="1300" dirty="0"/>
          </a:p>
        </p:txBody>
      </p:sp>
      <p:sp>
        <p:nvSpPr>
          <p:cNvPr id="12" name="Text 7"/>
          <p:cNvSpPr/>
          <p:nvPr/>
        </p:nvSpPr>
        <p:spPr>
          <a:xfrm>
            <a:off x="6771799" y="3865007"/>
            <a:ext cx="7329368" cy="24193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Emphasise specific features that competitors aren't offering to stand out</a:t>
            </a:r>
            <a:endParaRPr lang="en-US" sz="1150" dirty="0"/>
          </a:p>
        </p:txBody>
      </p:sp>
      <p:sp>
        <p:nvSpPr>
          <p:cNvPr id="13" name="Shape 8"/>
          <p:cNvSpPr/>
          <p:nvPr/>
        </p:nvSpPr>
        <p:spPr>
          <a:xfrm>
            <a:off x="6015633" y="4471749"/>
            <a:ext cx="604957" cy="907375"/>
          </a:xfrm>
          <a:prstGeom prst="roundRect">
            <a:avLst>
              <a:gd name="adj" fmla="val 360006"/>
            </a:avLst>
          </a:prstGeom>
          <a:solidFill>
            <a:srgbClr val="46464A"/>
          </a:solidFill>
          <a:ln/>
        </p:spPr>
      </p:sp>
      <p:pic>
        <p:nvPicPr>
          <p:cNvPr id="1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04704" y="4812030"/>
            <a:ext cx="226814" cy="226814"/>
          </a:xfrm>
          <a:prstGeom prst="rect">
            <a:avLst/>
          </a:prstGeom>
        </p:spPr>
      </p:pic>
      <p:sp>
        <p:nvSpPr>
          <p:cNvPr id="15" name="Text 9"/>
          <p:cNvSpPr/>
          <p:nvPr/>
        </p:nvSpPr>
        <p:spPr>
          <a:xfrm>
            <a:off x="6771799" y="4622959"/>
            <a:ext cx="1714500" cy="209907"/>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Support Vigorously</a:t>
            </a:r>
            <a:endParaRPr lang="en-US" sz="1300" dirty="0"/>
          </a:p>
        </p:txBody>
      </p:sp>
      <p:sp>
        <p:nvSpPr>
          <p:cNvPr id="16" name="Text 10"/>
          <p:cNvSpPr/>
          <p:nvPr/>
        </p:nvSpPr>
        <p:spPr>
          <a:xfrm>
            <a:off x="6771799" y="4923592"/>
            <a:ext cx="7329368" cy="24193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Provide robust customer assistance alongside attractive offers and bonuses</a:t>
            </a:r>
            <a:endParaRPr lang="en-US" sz="1150" dirty="0"/>
          </a:p>
        </p:txBody>
      </p:sp>
      <p:sp>
        <p:nvSpPr>
          <p:cNvPr id="17" name="Shape 11"/>
          <p:cNvSpPr/>
          <p:nvPr/>
        </p:nvSpPr>
        <p:spPr>
          <a:xfrm>
            <a:off x="6015633" y="5530334"/>
            <a:ext cx="604957" cy="907375"/>
          </a:xfrm>
          <a:prstGeom prst="roundRect">
            <a:avLst>
              <a:gd name="adj" fmla="val 360006"/>
            </a:avLst>
          </a:prstGeom>
          <a:solidFill>
            <a:srgbClr val="46464A"/>
          </a:solidFill>
          <a:ln/>
        </p:spPr>
      </p:sp>
      <p:pic>
        <p:nvPicPr>
          <p:cNvPr id="18"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04704" y="5870615"/>
            <a:ext cx="226814" cy="226814"/>
          </a:xfrm>
          <a:prstGeom prst="rect">
            <a:avLst/>
          </a:prstGeom>
        </p:spPr>
      </p:pic>
      <p:sp>
        <p:nvSpPr>
          <p:cNvPr id="19" name="Text 12"/>
          <p:cNvSpPr/>
          <p:nvPr/>
        </p:nvSpPr>
        <p:spPr>
          <a:xfrm>
            <a:off x="6771799" y="5681543"/>
            <a:ext cx="1740456" cy="209907"/>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Deliver Consistently</a:t>
            </a:r>
            <a:endParaRPr lang="en-US" sz="1300" dirty="0"/>
          </a:p>
        </p:txBody>
      </p:sp>
      <p:sp>
        <p:nvSpPr>
          <p:cNvPr id="20" name="Text 13"/>
          <p:cNvSpPr/>
          <p:nvPr/>
        </p:nvSpPr>
        <p:spPr>
          <a:xfrm>
            <a:off x="6771799" y="5982176"/>
            <a:ext cx="7329368" cy="24193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Maintain the same high standard across every product and interaction</a:t>
            </a:r>
            <a:endParaRPr lang="en-US" sz="1150" dirty="0"/>
          </a:p>
        </p:txBody>
      </p:sp>
      <p:sp>
        <p:nvSpPr>
          <p:cNvPr id="21" name="Text 14"/>
          <p:cNvSpPr/>
          <p:nvPr/>
        </p:nvSpPr>
        <p:spPr>
          <a:xfrm>
            <a:off x="6015633" y="6607850"/>
            <a:ext cx="8085534" cy="483870"/>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When confidence is built through consistent value delivery, your product rises in the hearts and minds of your customers, creating a lasting competitive advantage.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254216" y="397669"/>
            <a:ext cx="4252317" cy="320992"/>
          </a:xfrm>
          <a:prstGeom prst="rect">
            <a:avLst/>
          </a:prstGeom>
          <a:noFill/>
          <a:ln/>
        </p:spPr>
        <p:txBody>
          <a:bodyPr wrap="none" lIns="0" tIns="0" rIns="0" bIns="0" rtlCol="0" anchor="t"/>
          <a:lstStyle/>
          <a:p>
            <a:pPr marL="0" indent="0" algn="l">
              <a:lnSpc>
                <a:spcPts val="2500"/>
              </a:lnSpc>
              <a:buNone/>
            </a:pPr>
            <a:r>
              <a:rPr lang="en-US" sz="2000" b="1" dirty="0">
                <a:solidFill>
                  <a:srgbClr val="000000"/>
                </a:solidFill>
                <a:latin typeface="Comfortaa Bold" pitchFamily="34" charset="0"/>
                <a:ea typeface="Comfortaa Bold" pitchFamily="34" charset="-122"/>
                <a:cs typeface="Comfortaa Bold" pitchFamily="34" charset="-120"/>
              </a:rPr>
              <a:t>Create a Distinct Brand Identity</a:t>
            </a:r>
            <a:endParaRPr lang="en-US" sz="2000" dirty="0"/>
          </a:p>
        </p:txBody>
      </p:sp>
      <p:pic>
        <p:nvPicPr>
          <p:cNvPr id="3" name="Image 0" descr="preencoded.png"/>
          <p:cNvPicPr>
            <a:picLocks noChangeAspect="1"/>
          </p:cNvPicPr>
          <p:nvPr/>
        </p:nvPicPr>
        <p:blipFill>
          <a:blip r:embed="rId3"/>
          <a:stretch>
            <a:fillRect/>
          </a:stretch>
        </p:blipFill>
        <p:spPr>
          <a:xfrm>
            <a:off x="3254216" y="1097637"/>
            <a:ext cx="3884771" cy="3884771"/>
          </a:xfrm>
          <a:prstGeom prst="rect">
            <a:avLst/>
          </a:prstGeom>
        </p:spPr>
      </p:pic>
      <p:sp>
        <p:nvSpPr>
          <p:cNvPr id="4" name="Text 1"/>
          <p:cNvSpPr/>
          <p:nvPr/>
        </p:nvSpPr>
        <p:spPr>
          <a:xfrm>
            <a:off x="7499033" y="1065133"/>
            <a:ext cx="3884771" cy="923925"/>
          </a:xfrm>
          <a:prstGeom prst="rect">
            <a:avLst/>
          </a:prstGeom>
          <a:noFill/>
          <a:ln/>
        </p:spPr>
        <p:txBody>
          <a:bodyPr wrap="square" lIns="0" tIns="0" rIns="0" bIns="0" rtlCol="0" anchor="t"/>
          <a:lstStyle/>
          <a:p>
            <a:pPr marL="0" indent="0" algn="l">
              <a:lnSpc>
                <a:spcPts val="1800"/>
              </a:lnSpc>
              <a:buNone/>
            </a:pPr>
            <a:r>
              <a:rPr lang="en-US" sz="1100" dirty="0">
                <a:solidFill>
                  <a:srgbClr val="000000"/>
                </a:solidFill>
                <a:latin typeface="Raleway Medium" pitchFamily="34" charset="0"/>
                <a:ea typeface="Raleway Medium" pitchFamily="34" charset="-122"/>
                <a:cs typeface="Raleway Medium" pitchFamily="34" charset="-120"/>
              </a:rPr>
              <a:t>Goodwill flourishes when people trust and recognise your brand instantly. A distinct identity isn't just visual—it's the entire experience customers associate with your company.</a:t>
            </a:r>
            <a:endParaRPr lang="en-US" sz="1100" dirty="0"/>
          </a:p>
        </p:txBody>
      </p:sp>
      <p:sp>
        <p:nvSpPr>
          <p:cNvPr id="5" name="Text 2"/>
          <p:cNvSpPr/>
          <p:nvPr/>
        </p:nvSpPr>
        <p:spPr>
          <a:xfrm>
            <a:off x="7499033" y="2118955"/>
            <a:ext cx="3884771" cy="923925"/>
          </a:xfrm>
          <a:prstGeom prst="rect">
            <a:avLst/>
          </a:prstGeom>
          <a:noFill/>
          <a:ln/>
        </p:spPr>
        <p:txBody>
          <a:bodyPr wrap="square" lIns="0" tIns="0" rIns="0" bIns="0" rtlCol="0" anchor="t"/>
          <a:lstStyle/>
          <a:p>
            <a:pPr marL="0" indent="0" algn="l">
              <a:lnSpc>
                <a:spcPts val="1800"/>
              </a:lnSpc>
              <a:buNone/>
            </a:pPr>
            <a:r>
              <a:rPr lang="en-US" sz="1100" dirty="0">
                <a:solidFill>
                  <a:srgbClr val="000000"/>
                </a:solidFill>
                <a:latin typeface="Raleway Medium" pitchFamily="34" charset="0"/>
                <a:ea typeface="Raleway Medium" pitchFamily="34" charset="-122"/>
                <a:cs typeface="Raleway Medium" pitchFamily="34" charset="-120"/>
              </a:rPr>
              <a:t>Strong branding builds the foundation for trust, which directly enhances both immediate sales and enduring market goodwil. Every touchpoint should reinforce who you are and what you stand for.</a:t>
            </a:r>
            <a:endParaRPr lang="en-US" sz="1100" dirty="0"/>
          </a:p>
        </p:txBody>
      </p:sp>
      <p:sp>
        <p:nvSpPr>
          <p:cNvPr id="6" name="Text 3"/>
          <p:cNvSpPr/>
          <p:nvPr/>
        </p:nvSpPr>
        <p:spPr>
          <a:xfrm>
            <a:off x="3254216" y="5307211"/>
            <a:ext cx="144423" cy="180499"/>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Comfortaa Light" pitchFamily="34" charset="0"/>
                <a:ea typeface="Comfortaa Light" pitchFamily="34" charset="-122"/>
                <a:cs typeface="Comfortaa Light" pitchFamily="34" charset="-120"/>
              </a:rPr>
              <a:t>01</a:t>
            </a:r>
            <a:endParaRPr lang="en-US" sz="1100" dirty="0"/>
          </a:p>
        </p:txBody>
      </p:sp>
      <p:sp>
        <p:nvSpPr>
          <p:cNvPr id="7" name="Shape 4"/>
          <p:cNvSpPr/>
          <p:nvPr/>
        </p:nvSpPr>
        <p:spPr>
          <a:xfrm>
            <a:off x="3254216" y="5537359"/>
            <a:ext cx="3988713" cy="15240"/>
          </a:xfrm>
          <a:prstGeom prst="rect">
            <a:avLst/>
          </a:prstGeom>
          <a:solidFill>
            <a:srgbClr val="FFE14D"/>
          </a:solidFill>
          <a:ln/>
        </p:spPr>
      </p:sp>
      <p:sp>
        <p:nvSpPr>
          <p:cNvPr id="8" name="Text 5"/>
          <p:cNvSpPr/>
          <p:nvPr/>
        </p:nvSpPr>
        <p:spPr>
          <a:xfrm>
            <a:off x="3254216" y="5639991"/>
            <a:ext cx="1605082" cy="200620"/>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Comfortaa Bold" pitchFamily="34" charset="0"/>
                <a:ea typeface="Comfortaa Bold" pitchFamily="34" charset="-122"/>
                <a:cs typeface="Comfortaa Bold" pitchFamily="34" charset="-120"/>
              </a:rPr>
              <a:t>Memorable Logo</a:t>
            </a:r>
            <a:endParaRPr lang="en-US" sz="1250" dirty="0"/>
          </a:p>
        </p:txBody>
      </p:sp>
      <p:sp>
        <p:nvSpPr>
          <p:cNvPr id="9" name="Text 6"/>
          <p:cNvSpPr/>
          <p:nvPr/>
        </p:nvSpPr>
        <p:spPr>
          <a:xfrm>
            <a:off x="3254216" y="5927169"/>
            <a:ext cx="3988713" cy="461963"/>
          </a:xfrm>
          <a:prstGeom prst="rect">
            <a:avLst/>
          </a:prstGeom>
          <a:noFill/>
          <a:ln/>
        </p:spPr>
        <p:txBody>
          <a:bodyPr wrap="square" lIns="0" tIns="0" rIns="0" bIns="0" rtlCol="0" anchor="t"/>
          <a:lstStyle/>
          <a:p>
            <a:pPr marL="0" indent="0" algn="l">
              <a:lnSpc>
                <a:spcPts val="1800"/>
              </a:lnSpc>
              <a:buNone/>
            </a:pPr>
            <a:r>
              <a:rPr lang="en-US" sz="1100" dirty="0">
                <a:solidFill>
                  <a:srgbClr val="000000"/>
                </a:solidFill>
                <a:latin typeface="Raleway Medium" pitchFamily="34" charset="0"/>
                <a:ea typeface="Raleway Medium" pitchFamily="34" charset="-122"/>
                <a:cs typeface="Raleway Medium" pitchFamily="34" charset="-120"/>
              </a:rPr>
              <a:t>Create a simple, recognisable logo that customers remember instantly</a:t>
            </a:r>
            <a:endParaRPr lang="en-US" sz="1100" dirty="0"/>
          </a:p>
        </p:txBody>
      </p:sp>
      <p:sp>
        <p:nvSpPr>
          <p:cNvPr id="10" name="Text 7"/>
          <p:cNvSpPr/>
          <p:nvPr/>
        </p:nvSpPr>
        <p:spPr>
          <a:xfrm>
            <a:off x="7387352" y="5307211"/>
            <a:ext cx="144423" cy="180499"/>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Comfortaa Light" pitchFamily="34" charset="0"/>
                <a:ea typeface="Comfortaa Light" pitchFamily="34" charset="-122"/>
                <a:cs typeface="Comfortaa Light" pitchFamily="34" charset="-120"/>
              </a:rPr>
              <a:t>02</a:t>
            </a:r>
            <a:endParaRPr lang="en-US" sz="1100" dirty="0"/>
          </a:p>
        </p:txBody>
      </p:sp>
      <p:sp>
        <p:nvSpPr>
          <p:cNvPr id="11" name="Shape 8"/>
          <p:cNvSpPr/>
          <p:nvPr/>
        </p:nvSpPr>
        <p:spPr>
          <a:xfrm>
            <a:off x="7387352" y="5537359"/>
            <a:ext cx="3988832" cy="15240"/>
          </a:xfrm>
          <a:prstGeom prst="rect">
            <a:avLst/>
          </a:prstGeom>
          <a:solidFill>
            <a:srgbClr val="FFE14D"/>
          </a:solidFill>
          <a:ln/>
        </p:spPr>
      </p:sp>
      <p:sp>
        <p:nvSpPr>
          <p:cNvPr id="12" name="Text 9"/>
          <p:cNvSpPr/>
          <p:nvPr/>
        </p:nvSpPr>
        <p:spPr>
          <a:xfrm>
            <a:off x="7387352" y="5639991"/>
            <a:ext cx="2077641" cy="200620"/>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Comfortaa Bold" pitchFamily="34" charset="0"/>
                <a:ea typeface="Comfortaa Bold" pitchFamily="34" charset="-122"/>
                <a:cs typeface="Comfortaa Bold" pitchFamily="34" charset="-120"/>
              </a:rPr>
              <a:t>Unified Visual Language</a:t>
            </a:r>
            <a:endParaRPr lang="en-US" sz="1250" dirty="0"/>
          </a:p>
        </p:txBody>
      </p:sp>
      <p:sp>
        <p:nvSpPr>
          <p:cNvPr id="13" name="Text 10"/>
          <p:cNvSpPr/>
          <p:nvPr/>
        </p:nvSpPr>
        <p:spPr>
          <a:xfrm>
            <a:off x="7387352" y="5927169"/>
            <a:ext cx="3988832" cy="461963"/>
          </a:xfrm>
          <a:prstGeom prst="rect">
            <a:avLst/>
          </a:prstGeom>
          <a:noFill/>
          <a:ln/>
        </p:spPr>
        <p:txBody>
          <a:bodyPr wrap="square" lIns="0" tIns="0" rIns="0" bIns="0" rtlCol="0" anchor="t"/>
          <a:lstStyle/>
          <a:p>
            <a:pPr marL="0" indent="0" algn="l">
              <a:lnSpc>
                <a:spcPts val="1800"/>
              </a:lnSpc>
              <a:buNone/>
            </a:pPr>
            <a:r>
              <a:rPr lang="en-US" sz="1100" dirty="0">
                <a:solidFill>
                  <a:srgbClr val="000000"/>
                </a:solidFill>
                <a:latin typeface="Raleway Medium" pitchFamily="34" charset="0"/>
                <a:ea typeface="Raleway Medium" pitchFamily="34" charset="-122"/>
                <a:cs typeface="Raleway Medium" pitchFamily="34" charset="-120"/>
              </a:rPr>
              <a:t>Establish a consistent colour scheme and voice across all channels</a:t>
            </a:r>
            <a:endParaRPr lang="en-US" sz="1100" dirty="0"/>
          </a:p>
        </p:txBody>
      </p:sp>
      <p:sp>
        <p:nvSpPr>
          <p:cNvPr id="14" name="Text 11"/>
          <p:cNvSpPr/>
          <p:nvPr/>
        </p:nvSpPr>
        <p:spPr>
          <a:xfrm>
            <a:off x="3254216" y="6641783"/>
            <a:ext cx="144423" cy="180499"/>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Comfortaa Light" pitchFamily="34" charset="0"/>
                <a:ea typeface="Comfortaa Light" pitchFamily="34" charset="-122"/>
                <a:cs typeface="Comfortaa Light" pitchFamily="34" charset="-120"/>
              </a:rPr>
              <a:t>03</a:t>
            </a:r>
            <a:endParaRPr lang="en-US" sz="1100" dirty="0"/>
          </a:p>
        </p:txBody>
      </p:sp>
      <p:sp>
        <p:nvSpPr>
          <p:cNvPr id="15" name="Shape 12"/>
          <p:cNvSpPr/>
          <p:nvPr/>
        </p:nvSpPr>
        <p:spPr>
          <a:xfrm>
            <a:off x="3254216" y="6871930"/>
            <a:ext cx="3988713" cy="15240"/>
          </a:xfrm>
          <a:prstGeom prst="rect">
            <a:avLst/>
          </a:prstGeom>
          <a:solidFill>
            <a:srgbClr val="FFE14D"/>
          </a:solidFill>
          <a:ln/>
        </p:spPr>
      </p:sp>
      <p:sp>
        <p:nvSpPr>
          <p:cNvPr id="16" name="Text 13"/>
          <p:cNvSpPr/>
          <p:nvPr/>
        </p:nvSpPr>
        <p:spPr>
          <a:xfrm>
            <a:off x="3254216" y="6974562"/>
            <a:ext cx="1605082" cy="200620"/>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Comfortaa Bold" pitchFamily="34" charset="0"/>
                <a:ea typeface="Comfortaa Bold" pitchFamily="34" charset="-122"/>
                <a:cs typeface="Comfortaa Bold" pitchFamily="34" charset="-120"/>
              </a:rPr>
              <a:t>Compelling Story</a:t>
            </a:r>
            <a:endParaRPr lang="en-US" sz="1250" dirty="0"/>
          </a:p>
        </p:txBody>
      </p:sp>
      <p:sp>
        <p:nvSpPr>
          <p:cNvPr id="17" name="Text 14"/>
          <p:cNvSpPr/>
          <p:nvPr/>
        </p:nvSpPr>
        <p:spPr>
          <a:xfrm>
            <a:off x="3254216" y="7261741"/>
            <a:ext cx="3988713" cy="461963"/>
          </a:xfrm>
          <a:prstGeom prst="rect">
            <a:avLst/>
          </a:prstGeom>
          <a:noFill/>
          <a:ln/>
        </p:spPr>
        <p:txBody>
          <a:bodyPr wrap="square" lIns="0" tIns="0" rIns="0" bIns="0" rtlCol="0" anchor="t"/>
          <a:lstStyle/>
          <a:p>
            <a:pPr marL="0" indent="0" algn="l">
              <a:lnSpc>
                <a:spcPts val="1800"/>
              </a:lnSpc>
              <a:buNone/>
            </a:pPr>
            <a:r>
              <a:rPr lang="en-US" sz="1100" dirty="0">
                <a:solidFill>
                  <a:srgbClr val="000000"/>
                </a:solidFill>
                <a:latin typeface="Raleway Medium" pitchFamily="34" charset="0"/>
                <a:ea typeface="Raleway Medium" pitchFamily="34" charset="-122"/>
                <a:cs typeface="Raleway Medium" pitchFamily="34" charset="-120"/>
              </a:rPr>
              <a:t>Craft a brand narrative that explains why your product exists and matters</a:t>
            </a:r>
            <a:endParaRPr lang="en-US" sz="1100" dirty="0"/>
          </a:p>
        </p:txBody>
      </p:sp>
      <p:sp>
        <p:nvSpPr>
          <p:cNvPr id="18" name="Text 15"/>
          <p:cNvSpPr/>
          <p:nvPr/>
        </p:nvSpPr>
        <p:spPr>
          <a:xfrm>
            <a:off x="7387352" y="6641783"/>
            <a:ext cx="144423" cy="180499"/>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Comfortaa Light" pitchFamily="34" charset="0"/>
                <a:ea typeface="Comfortaa Light" pitchFamily="34" charset="-122"/>
                <a:cs typeface="Comfortaa Light" pitchFamily="34" charset="-120"/>
              </a:rPr>
              <a:t>04</a:t>
            </a:r>
            <a:endParaRPr lang="en-US" sz="1100" dirty="0"/>
          </a:p>
        </p:txBody>
      </p:sp>
      <p:sp>
        <p:nvSpPr>
          <p:cNvPr id="19" name="Shape 16"/>
          <p:cNvSpPr/>
          <p:nvPr/>
        </p:nvSpPr>
        <p:spPr>
          <a:xfrm>
            <a:off x="7387352" y="6871930"/>
            <a:ext cx="3988832" cy="15240"/>
          </a:xfrm>
          <a:prstGeom prst="rect">
            <a:avLst/>
          </a:prstGeom>
          <a:solidFill>
            <a:srgbClr val="FFE14D"/>
          </a:solidFill>
          <a:ln/>
        </p:spPr>
      </p:sp>
      <p:sp>
        <p:nvSpPr>
          <p:cNvPr id="20" name="Text 17"/>
          <p:cNvSpPr/>
          <p:nvPr/>
        </p:nvSpPr>
        <p:spPr>
          <a:xfrm>
            <a:off x="7387352" y="6974562"/>
            <a:ext cx="1605082" cy="200620"/>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Comfortaa Bold" pitchFamily="34" charset="0"/>
                <a:ea typeface="Comfortaa Bold" pitchFamily="34" charset="-122"/>
                <a:cs typeface="Comfortaa Bold" pitchFamily="34" charset="-120"/>
              </a:rPr>
              <a:t>Trust Signals</a:t>
            </a:r>
            <a:endParaRPr lang="en-US" sz="1250" dirty="0"/>
          </a:p>
        </p:txBody>
      </p:sp>
      <p:sp>
        <p:nvSpPr>
          <p:cNvPr id="21" name="Text 18"/>
          <p:cNvSpPr/>
          <p:nvPr/>
        </p:nvSpPr>
        <p:spPr>
          <a:xfrm>
            <a:off x="7387352" y="7261741"/>
            <a:ext cx="3988832" cy="461963"/>
          </a:xfrm>
          <a:prstGeom prst="rect">
            <a:avLst/>
          </a:prstGeom>
          <a:noFill/>
          <a:ln/>
        </p:spPr>
        <p:txBody>
          <a:bodyPr wrap="square" lIns="0" tIns="0" rIns="0" bIns="0" rtlCol="0" anchor="t"/>
          <a:lstStyle/>
          <a:p>
            <a:pPr marL="0" indent="0" algn="l">
              <a:lnSpc>
                <a:spcPts val="1800"/>
              </a:lnSpc>
              <a:buNone/>
            </a:pPr>
            <a:r>
              <a:rPr lang="en-US" sz="1100" dirty="0">
                <a:solidFill>
                  <a:srgbClr val="000000"/>
                </a:solidFill>
                <a:latin typeface="Raleway Medium" pitchFamily="34" charset="0"/>
                <a:ea typeface="Raleway Medium" pitchFamily="34" charset="-122"/>
                <a:cs typeface="Raleway Medium" pitchFamily="34" charset="-120"/>
              </a:rPr>
              <a:t>Display reviews, testimonials, and case studies prominently to build credibility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42211" y="1123593"/>
            <a:ext cx="4780717" cy="34421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Elevate the Customer Experience</a:t>
            </a:r>
            <a:endParaRPr lang="en-US" sz="2150" dirty="0"/>
          </a:p>
        </p:txBody>
      </p:sp>
      <p:sp>
        <p:nvSpPr>
          <p:cNvPr id="4" name="Text 1"/>
          <p:cNvSpPr/>
          <p:nvPr/>
        </p:nvSpPr>
        <p:spPr>
          <a:xfrm>
            <a:off x="774502" y="1874282"/>
            <a:ext cx="7827288" cy="495538"/>
          </a:xfrm>
          <a:prstGeom prst="rect">
            <a:avLst/>
          </a:prstGeom>
          <a:noFill/>
          <a:ln/>
        </p:spPr>
        <p:txBody>
          <a:bodyPr wrap="square" lIns="0" tIns="0" rIns="0" bIns="0" rtlCol="0" anchor="t"/>
          <a:lstStyle/>
          <a:p>
            <a:pPr marL="0" indent="0" algn="l">
              <a:lnSpc>
                <a:spcPts val="1950"/>
              </a:lnSpc>
              <a:buNone/>
            </a:pPr>
            <a:r>
              <a:rPr lang="en-US" sz="1200" b="1" dirty="0">
                <a:solidFill>
                  <a:srgbClr val="D7D4CC"/>
                </a:solidFill>
                <a:latin typeface="Raleway Medium" pitchFamily="34" charset="0"/>
                <a:ea typeface="Raleway Medium" pitchFamily="34" charset="-122"/>
                <a:cs typeface="Raleway Medium" pitchFamily="34" charset="-120"/>
              </a:rPr>
              <a:t>A happy customer is the strongest advertising tool.</a:t>
            </a:r>
            <a:r>
              <a:rPr lang="en-US" sz="1200" dirty="0">
                <a:solidFill>
                  <a:srgbClr val="D7D4CC"/>
                </a:solidFill>
                <a:latin typeface="Raleway Medium" pitchFamily="34" charset="0"/>
                <a:ea typeface="Raleway Medium" pitchFamily="34" charset="-122"/>
                <a:cs typeface="Raleway Medium" pitchFamily="34" charset="-120"/>
              </a:rPr>
              <a:t> Their recommendations carry more weight than any paid campaign ever could.</a:t>
            </a:r>
            <a:endParaRPr lang="en-US" sz="1200" dirty="0"/>
          </a:p>
        </p:txBody>
      </p:sp>
      <p:sp>
        <p:nvSpPr>
          <p:cNvPr id="5" name="Shape 2"/>
          <p:cNvSpPr/>
          <p:nvPr/>
        </p:nvSpPr>
        <p:spPr>
          <a:xfrm>
            <a:off x="542211" y="1700093"/>
            <a:ext cx="22860" cy="843915"/>
          </a:xfrm>
          <a:prstGeom prst="rect">
            <a:avLst/>
          </a:prstGeom>
          <a:solidFill>
            <a:srgbClr val="FFE14D"/>
          </a:solidFill>
          <a:ln/>
        </p:spPr>
      </p:sp>
      <p:pic>
        <p:nvPicPr>
          <p:cNvPr id="6" name="Image 1" descr="preencoded.png"/>
          <p:cNvPicPr>
            <a:picLocks noChangeAspect="1"/>
          </p:cNvPicPr>
          <p:nvPr/>
        </p:nvPicPr>
        <p:blipFill>
          <a:blip r:embed="rId4"/>
          <a:stretch>
            <a:fillRect/>
          </a:stretch>
        </p:blipFill>
        <p:spPr>
          <a:xfrm>
            <a:off x="542211" y="2718197"/>
            <a:ext cx="774621" cy="929521"/>
          </a:xfrm>
          <a:prstGeom prst="rect">
            <a:avLst/>
          </a:prstGeom>
        </p:spPr>
      </p:pic>
      <p:sp>
        <p:nvSpPr>
          <p:cNvPr id="7" name="Text 3"/>
          <p:cNvSpPr/>
          <p:nvPr/>
        </p:nvSpPr>
        <p:spPr>
          <a:xfrm>
            <a:off x="1471732" y="2873097"/>
            <a:ext cx="1721406" cy="215146"/>
          </a:xfrm>
          <a:prstGeom prst="rect">
            <a:avLst/>
          </a:prstGeom>
          <a:noFill/>
          <a:ln/>
        </p:spPr>
        <p:txBody>
          <a:bodyPr wrap="none" lIns="0" tIns="0" rIns="0" bIns="0" rtlCol="0" anchor="t"/>
          <a:lstStyle/>
          <a:p>
            <a:pPr marL="0" indent="0" algn="l">
              <a:lnSpc>
                <a:spcPts val="1650"/>
              </a:lnSpc>
              <a:buNone/>
            </a:pPr>
            <a:r>
              <a:rPr lang="en-US" sz="1350" b="1" dirty="0">
                <a:solidFill>
                  <a:srgbClr val="D7D4CC"/>
                </a:solidFill>
                <a:latin typeface="Comfortaa Bold" pitchFamily="34" charset="0"/>
                <a:ea typeface="Comfortaa Bold" pitchFamily="34" charset="-122"/>
                <a:cs typeface="Comfortaa Bold" pitchFamily="34" charset="-120"/>
              </a:rPr>
              <a:t>Timely Response</a:t>
            </a:r>
            <a:endParaRPr lang="en-US" sz="1350" dirty="0"/>
          </a:p>
        </p:txBody>
      </p:sp>
      <p:sp>
        <p:nvSpPr>
          <p:cNvPr id="8" name="Text 4"/>
          <p:cNvSpPr/>
          <p:nvPr/>
        </p:nvSpPr>
        <p:spPr>
          <a:xfrm>
            <a:off x="1471732" y="3181112"/>
            <a:ext cx="7130058" cy="247769"/>
          </a:xfrm>
          <a:prstGeom prst="rect">
            <a:avLst/>
          </a:prstGeom>
          <a:noFill/>
          <a:ln/>
        </p:spPr>
        <p:txBody>
          <a:bodyPr wrap="non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Acknowledge and respond to all enquiries promptly and professionally</a:t>
            </a:r>
            <a:endParaRPr lang="en-US" sz="1200" dirty="0"/>
          </a:p>
        </p:txBody>
      </p:sp>
      <p:pic>
        <p:nvPicPr>
          <p:cNvPr id="9" name="Image 2" descr="preencoded.png"/>
          <p:cNvPicPr>
            <a:picLocks noChangeAspect="1"/>
          </p:cNvPicPr>
          <p:nvPr/>
        </p:nvPicPr>
        <p:blipFill>
          <a:blip r:embed="rId5"/>
          <a:stretch>
            <a:fillRect/>
          </a:stretch>
        </p:blipFill>
        <p:spPr>
          <a:xfrm>
            <a:off x="542211" y="3647718"/>
            <a:ext cx="774621" cy="929521"/>
          </a:xfrm>
          <a:prstGeom prst="rect">
            <a:avLst/>
          </a:prstGeom>
        </p:spPr>
      </p:pic>
      <p:sp>
        <p:nvSpPr>
          <p:cNvPr id="10" name="Text 5"/>
          <p:cNvSpPr/>
          <p:nvPr/>
        </p:nvSpPr>
        <p:spPr>
          <a:xfrm>
            <a:off x="1471732" y="3802618"/>
            <a:ext cx="1897737" cy="215146"/>
          </a:xfrm>
          <a:prstGeom prst="rect">
            <a:avLst/>
          </a:prstGeom>
          <a:noFill/>
          <a:ln/>
        </p:spPr>
        <p:txBody>
          <a:bodyPr wrap="none" lIns="0" tIns="0" rIns="0" bIns="0" rtlCol="0" anchor="t"/>
          <a:lstStyle/>
          <a:p>
            <a:pPr marL="0" indent="0" algn="l">
              <a:lnSpc>
                <a:spcPts val="1650"/>
              </a:lnSpc>
              <a:buNone/>
            </a:pPr>
            <a:r>
              <a:rPr lang="en-US" sz="1350" b="1" dirty="0">
                <a:solidFill>
                  <a:srgbClr val="D7D4CC"/>
                </a:solidFill>
                <a:latin typeface="Comfortaa Bold" pitchFamily="34" charset="0"/>
                <a:ea typeface="Comfortaa Bold" pitchFamily="34" charset="-122"/>
                <a:cs typeface="Comfortaa Bold" pitchFamily="34" charset="-120"/>
              </a:rPr>
              <a:t>Respectful Treatment</a:t>
            </a:r>
            <a:endParaRPr lang="en-US" sz="1350" dirty="0"/>
          </a:p>
        </p:txBody>
      </p:sp>
      <p:sp>
        <p:nvSpPr>
          <p:cNvPr id="11" name="Text 6"/>
          <p:cNvSpPr/>
          <p:nvPr/>
        </p:nvSpPr>
        <p:spPr>
          <a:xfrm>
            <a:off x="1471732" y="4110633"/>
            <a:ext cx="7130058" cy="247769"/>
          </a:xfrm>
          <a:prstGeom prst="rect">
            <a:avLst/>
          </a:prstGeom>
          <a:noFill/>
          <a:ln/>
        </p:spPr>
        <p:txBody>
          <a:bodyPr wrap="non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Handle every customer with professionalism and genuine care</a:t>
            </a:r>
            <a:endParaRPr lang="en-US" sz="1200" dirty="0"/>
          </a:p>
        </p:txBody>
      </p:sp>
      <p:pic>
        <p:nvPicPr>
          <p:cNvPr id="12" name="Image 3" descr="preencoded.png"/>
          <p:cNvPicPr>
            <a:picLocks noChangeAspect="1"/>
          </p:cNvPicPr>
          <p:nvPr/>
        </p:nvPicPr>
        <p:blipFill>
          <a:blip r:embed="rId6"/>
          <a:stretch>
            <a:fillRect/>
          </a:stretch>
        </p:blipFill>
        <p:spPr>
          <a:xfrm>
            <a:off x="542211" y="4577239"/>
            <a:ext cx="774621" cy="929521"/>
          </a:xfrm>
          <a:prstGeom prst="rect">
            <a:avLst/>
          </a:prstGeom>
        </p:spPr>
      </p:pic>
      <p:sp>
        <p:nvSpPr>
          <p:cNvPr id="13" name="Text 7"/>
          <p:cNvSpPr/>
          <p:nvPr/>
        </p:nvSpPr>
        <p:spPr>
          <a:xfrm>
            <a:off x="1471732" y="4732139"/>
            <a:ext cx="1721406" cy="215146"/>
          </a:xfrm>
          <a:prstGeom prst="rect">
            <a:avLst/>
          </a:prstGeom>
          <a:noFill/>
          <a:ln/>
        </p:spPr>
        <p:txBody>
          <a:bodyPr wrap="none" lIns="0" tIns="0" rIns="0" bIns="0" rtlCol="0" anchor="t"/>
          <a:lstStyle/>
          <a:p>
            <a:pPr marL="0" indent="0" algn="l">
              <a:lnSpc>
                <a:spcPts val="1650"/>
              </a:lnSpc>
              <a:buNone/>
            </a:pPr>
            <a:r>
              <a:rPr lang="en-US" sz="1350" b="1" dirty="0">
                <a:solidFill>
                  <a:srgbClr val="D7D4CC"/>
                </a:solidFill>
                <a:latin typeface="Comfortaa Bold" pitchFamily="34" charset="0"/>
                <a:ea typeface="Comfortaa Bold" pitchFamily="34" charset="-122"/>
                <a:cs typeface="Comfortaa Bold" pitchFamily="34" charset="-120"/>
              </a:rPr>
              <a:t>Simple Process</a:t>
            </a:r>
            <a:endParaRPr lang="en-US" sz="1350" dirty="0"/>
          </a:p>
        </p:txBody>
      </p:sp>
      <p:sp>
        <p:nvSpPr>
          <p:cNvPr id="14" name="Text 8"/>
          <p:cNvSpPr/>
          <p:nvPr/>
        </p:nvSpPr>
        <p:spPr>
          <a:xfrm>
            <a:off x="1471732" y="5040154"/>
            <a:ext cx="7130058" cy="247769"/>
          </a:xfrm>
          <a:prstGeom prst="rect">
            <a:avLst/>
          </a:prstGeom>
          <a:noFill/>
          <a:ln/>
        </p:spPr>
        <p:txBody>
          <a:bodyPr wrap="non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Ensure clear communication and an uncomplicated purchasing journey</a:t>
            </a:r>
            <a:endParaRPr lang="en-US" sz="1200" dirty="0"/>
          </a:p>
        </p:txBody>
      </p:sp>
      <p:pic>
        <p:nvPicPr>
          <p:cNvPr id="15" name="Image 4" descr="preencoded.png"/>
          <p:cNvPicPr>
            <a:picLocks noChangeAspect="1"/>
          </p:cNvPicPr>
          <p:nvPr/>
        </p:nvPicPr>
        <p:blipFill>
          <a:blip r:embed="rId7"/>
          <a:stretch>
            <a:fillRect/>
          </a:stretch>
        </p:blipFill>
        <p:spPr>
          <a:xfrm>
            <a:off x="542211" y="5506760"/>
            <a:ext cx="774621" cy="929521"/>
          </a:xfrm>
          <a:prstGeom prst="rect">
            <a:avLst/>
          </a:prstGeom>
        </p:spPr>
      </p:pic>
      <p:sp>
        <p:nvSpPr>
          <p:cNvPr id="16" name="Text 9"/>
          <p:cNvSpPr/>
          <p:nvPr/>
        </p:nvSpPr>
        <p:spPr>
          <a:xfrm>
            <a:off x="1471732" y="5661660"/>
            <a:ext cx="1839516" cy="215146"/>
          </a:xfrm>
          <a:prstGeom prst="rect">
            <a:avLst/>
          </a:prstGeom>
          <a:noFill/>
          <a:ln/>
        </p:spPr>
        <p:txBody>
          <a:bodyPr wrap="none" lIns="0" tIns="0" rIns="0" bIns="0" rtlCol="0" anchor="t"/>
          <a:lstStyle/>
          <a:p>
            <a:pPr marL="0" indent="0" algn="l">
              <a:lnSpc>
                <a:spcPts val="1650"/>
              </a:lnSpc>
              <a:buNone/>
            </a:pPr>
            <a:r>
              <a:rPr lang="en-US" sz="1350" b="1" dirty="0">
                <a:solidFill>
                  <a:srgbClr val="D7D4CC"/>
                </a:solidFill>
                <a:latin typeface="Comfortaa Bold" pitchFamily="34" charset="0"/>
                <a:ea typeface="Comfortaa Bold" pitchFamily="34" charset="-122"/>
                <a:cs typeface="Comfortaa Bold" pitchFamily="34" charset="-120"/>
              </a:rPr>
              <a:t>Continuous Support</a:t>
            </a:r>
            <a:endParaRPr lang="en-US" sz="1350" dirty="0"/>
          </a:p>
        </p:txBody>
      </p:sp>
      <p:sp>
        <p:nvSpPr>
          <p:cNvPr id="17" name="Text 10"/>
          <p:cNvSpPr/>
          <p:nvPr/>
        </p:nvSpPr>
        <p:spPr>
          <a:xfrm>
            <a:off x="1471732" y="5969675"/>
            <a:ext cx="7130058" cy="247769"/>
          </a:xfrm>
          <a:prstGeom prst="rect">
            <a:avLst/>
          </a:prstGeom>
          <a:noFill/>
          <a:ln/>
        </p:spPr>
        <p:txBody>
          <a:bodyPr wrap="non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Offer assistance before, during, and after every sale</a:t>
            </a:r>
            <a:endParaRPr lang="en-US" sz="1200" dirty="0"/>
          </a:p>
        </p:txBody>
      </p:sp>
      <p:sp>
        <p:nvSpPr>
          <p:cNvPr id="18" name="Text 11"/>
          <p:cNvSpPr/>
          <p:nvPr/>
        </p:nvSpPr>
        <p:spPr>
          <a:xfrm>
            <a:off x="542211" y="6610469"/>
            <a:ext cx="8059579" cy="495538"/>
          </a:xfrm>
          <a:prstGeom prst="rect">
            <a:avLst/>
          </a:prstGeom>
          <a:noFill/>
          <a:ln/>
        </p:spPr>
        <p:txBody>
          <a:bodyPr wrap="squar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Happy customers become repeat buyers and enthusiastic brand ambassadors who actively promote your business within their networks, creating a virtuous cycle of growth.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983230" y="424577"/>
            <a:ext cx="4249817" cy="342424"/>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Comfortaa Bold" pitchFamily="34" charset="0"/>
                <a:ea typeface="Comfortaa Bold" pitchFamily="34" charset="-122"/>
                <a:cs typeface="Comfortaa Bold" pitchFamily="34" charset="-120"/>
              </a:rPr>
              <a:t>Smart Promotional Strategies</a:t>
            </a:r>
            <a:endParaRPr lang="en-US" sz="2150" dirty="0"/>
          </a:p>
        </p:txBody>
      </p:sp>
      <p:sp>
        <p:nvSpPr>
          <p:cNvPr id="3" name="Text 1"/>
          <p:cNvSpPr/>
          <p:nvPr/>
        </p:nvSpPr>
        <p:spPr>
          <a:xfrm>
            <a:off x="2983230" y="1075134"/>
            <a:ext cx="8663821" cy="739378"/>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Effective promotion extends far beyond discounts—it's about gaining visibility, building influence, and creating compelling reasons for customers to choose you. Strategic promotions drive rapid sales growth whilst maintaining your brand's positive reputation.</a:t>
            </a:r>
            <a:endParaRPr lang="en-US" sz="1200" dirty="0"/>
          </a:p>
        </p:txBody>
      </p:sp>
      <p:sp>
        <p:nvSpPr>
          <p:cNvPr id="4" name="Shape 2"/>
          <p:cNvSpPr/>
          <p:nvPr/>
        </p:nvSpPr>
        <p:spPr>
          <a:xfrm>
            <a:off x="2983230" y="2161223"/>
            <a:ext cx="346710" cy="346710"/>
          </a:xfrm>
          <a:prstGeom prst="roundRect">
            <a:avLst>
              <a:gd name="adj" fmla="val 66670"/>
            </a:avLst>
          </a:prstGeom>
          <a:solidFill>
            <a:srgbClr val="46464A"/>
          </a:solidFill>
          <a:ln/>
        </p:spPr>
      </p:sp>
      <p:sp>
        <p:nvSpPr>
          <p:cNvPr id="5" name="Text 3"/>
          <p:cNvSpPr/>
          <p:nvPr/>
        </p:nvSpPr>
        <p:spPr>
          <a:xfrm>
            <a:off x="3484007" y="2214086"/>
            <a:ext cx="1756648" cy="21395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Limited-Time Offers</a:t>
            </a:r>
            <a:endParaRPr lang="en-US" sz="1300" dirty="0"/>
          </a:p>
        </p:txBody>
      </p:sp>
      <p:sp>
        <p:nvSpPr>
          <p:cNvPr id="6" name="Text 4"/>
          <p:cNvSpPr/>
          <p:nvPr/>
        </p:nvSpPr>
        <p:spPr>
          <a:xfrm>
            <a:off x="3484007" y="2582108"/>
            <a:ext cx="3643074" cy="49291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Create urgency to motivate immediate purchasing decisions</a:t>
            </a:r>
            <a:endParaRPr lang="en-US" sz="1200" dirty="0"/>
          </a:p>
        </p:txBody>
      </p:sp>
      <p:sp>
        <p:nvSpPr>
          <p:cNvPr id="7" name="Shape 5"/>
          <p:cNvSpPr/>
          <p:nvPr/>
        </p:nvSpPr>
        <p:spPr>
          <a:xfrm>
            <a:off x="2983230" y="3383161"/>
            <a:ext cx="346710" cy="346710"/>
          </a:xfrm>
          <a:prstGeom prst="roundRect">
            <a:avLst>
              <a:gd name="adj" fmla="val 66670"/>
            </a:avLst>
          </a:prstGeom>
          <a:solidFill>
            <a:srgbClr val="46464A"/>
          </a:solidFill>
          <a:ln/>
        </p:spPr>
      </p:sp>
      <p:sp>
        <p:nvSpPr>
          <p:cNvPr id="8" name="Text 6"/>
          <p:cNvSpPr/>
          <p:nvPr/>
        </p:nvSpPr>
        <p:spPr>
          <a:xfrm>
            <a:off x="3484007" y="3436025"/>
            <a:ext cx="1778794" cy="21395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Targeted Social Ads</a:t>
            </a:r>
            <a:endParaRPr lang="en-US" sz="1300" dirty="0"/>
          </a:p>
        </p:txBody>
      </p:sp>
      <p:sp>
        <p:nvSpPr>
          <p:cNvPr id="9" name="Text 7"/>
          <p:cNvSpPr/>
          <p:nvPr/>
        </p:nvSpPr>
        <p:spPr>
          <a:xfrm>
            <a:off x="3484007" y="3804047"/>
            <a:ext cx="3643074" cy="49291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Focus on specific customer segments for maximum impact</a:t>
            </a:r>
            <a:endParaRPr lang="en-US" sz="1200" dirty="0"/>
          </a:p>
        </p:txBody>
      </p:sp>
      <p:sp>
        <p:nvSpPr>
          <p:cNvPr id="10" name="Shape 8"/>
          <p:cNvSpPr/>
          <p:nvPr/>
        </p:nvSpPr>
        <p:spPr>
          <a:xfrm>
            <a:off x="2983230" y="4605099"/>
            <a:ext cx="346710" cy="346710"/>
          </a:xfrm>
          <a:prstGeom prst="roundRect">
            <a:avLst>
              <a:gd name="adj" fmla="val 66670"/>
            </a:avLst>
          </a:prstGeom>
          <a:solidFill>
            <a:srgbClr val="46464A"/>
          </a:solidFill>
          <a:ln/>
        </p:spPr>
      </p:sp>
      <p:sp>
        <p:nvSpPr>
          <p:cNvPr id="11" name="Text 9"/>
          <p:cNvSpPr/>
          <p:nvPr/>
        </p:nvSpPr>
        <p:spPr>
          <a:xfrm>
            <a:off x="3484007" y="4657963"/>
            <a:ext cx="2117408" cy="21395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Influencer Partnerships</a:t>
            </a:r>
            <a:endParaRPr lang="en-US" sz="1300" dirty="0"/>
          </a:p>
        </p:txBody>
      </p:sp>
      <p:sp>
        <p:nvSpPr>
          <p:cNvPr id="12" name="Text 10"/>
          <p:cNvSpPr/>
          <p:nvPr/>
        </p:nvSpPr>
        <p:spPr>
          <a:xfrm>
            <a:off x="3484007" y="5025985"/>
            <a:ext cx="3643074" cy="49291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Collaborate with trusted voices to expand your reach</a:t>
            </a:r>
            <a:endParaRPr lang="en-US" sz="1200" dirty="0"/>
          </a:p>
        </p:txBody>
      </p:sp>
      <p:pic>
        <p:nvPicPr>
          <p:cNvPr id="13" name="Image 0" descr="preencoded.png"/>
          <p:cNvPicPr>
            <a:picLocks noChangeAspect="1"/>
          </p:cNvPicPr>
          <p:nvPr/>
        </p:nvPicPr>
        <p:blipFill>
          <a:blip r:embed="rId3"/>
          <a:stretch>
            <a:fillRect/>
          </a:stretch>
        </p:blipFill>
        <p:spPr>
          <a:xfrm>
            <a:off x="7510701" y="2161223"/>
            <a:ext cx="4143851" cy="4143851"/>
          </a:xfrm>
          <a:prstGeom prst="rect">
            <a:avLst/>
          </a:prstGeom>
        </p:spPr>
      </p:pic>
      <p:sp>
        <p:nvSpPr>
          <p:cNvPr id="14" name="Shape 11"/>
          <p:cNvSpPr/>
          <p:nvPr/>
        </p:nvSpPr>
        <p:spPr>
          <a:xfrm>
            <a:off x="2983230" y="6651784"/>
            <a:ext cx="4254818" cy="1153120"/>
          </a:xfrm>
          <a:prstGeom prst="roundRect">
            <a:avLst>
              <a:gd name="adj" fmla="val 20046"/>
            </a:avLst>
          </a:prstGeom>
          <a:solidFill>
            <a:srgbClr val="FFE14D"/>
          </a:solidFill>
          <a:ln w="22860">
            <a:solidFill>
              <a:srgbClr val="5F5F63"/>
            </a:solidFill>
            <a:prstDash val="solid"/>
          </a:ln>
        </p:spPr>
      </p:sp>
      <p:sp>
        <p:nvSpPr>
          <p:cNvPr id="15" name="Text 12"/>
          <p:cNvSpPr/>
          <p:nvPr/>
        </p:nvSpPr>
        <p:spPr>
          <a:xfrm>
            <a:off x="3160157" y="6828711"/>
            <a:ext cx="1793558" cy="21395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Seasonal Marketing</a:t>
            </a:r>
            <a:endParaRPr lang="en-US" sz="1300" dirty="0"/>
          </a:p>
        </p:txBody>
      </p:sp>
      <p:sp>
        <p:nvSpPr>
          <p:cNvPr id="16" name="Text 13"/>
          <p:cNvSpPr/>
          <p:nvPr/>
        </p:nvSpPr>
        <p:spPr>
          <a:xfrm>
            <a:off x="3160157" y="7135058"/>
            <a:ext cx="3900964" cy="49291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Capitalise on celebrations, events, and special occasions when customers are primed to purchase</a:t>
            </a:r>
            <a:endParaRPr lang="en-US" sz="1200" dirty="0"/>
          </a:p>
        </p:txBody>
      </p:sp>
      <p:sp>
        <p:nvSpPr>
          <p:cNvPr id="17" name="Shape 14"/>
          <p:cNvSpPr/>
          <p:nvPr/>
        </p:nvSpPr>
        <p:spPr>
          <a:xfrm>
            <a:off x="7392114" y="6651784"/>
            <a:ext cx="4254937" cy="1153120"/>
          </a:xfrm>
          <a:prstGeom prst="roundRect">
            <a:avLst>
              <a:gd name="adj" fmla="val 20046"/>
            </a:avLst>
          </a:prstGeom>
          <a:solidFill>
            <a:srgbClr val="FFE14D"/>
          </a:solidFill>
          <a:ln w="22860">
            <a:solidFill>
              <a:srgbClr val="5F5F63"/>
            </a:solidFill>
            <a:prstDash val="solid"/>
          </a:ln>
        </p:spPr>
      </p:sp>
      <p:sp>
        <p:nvSpPr>
          <p:cNvPr id="18" name="Text 15"/>
          <p:cNvSpPr/>
          <p:nvPr/>
        </p:nvSpPr>
        <p:spPr>
          <a:xfrm>
            <a:off x="7569041" y="6828711"/>
            <a:ext cx="1712119" cy="21395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Risk-Free Trials</a:t>
            </a:r>
            <a:endParaRPr lang="en-US" sz="1300" dirty="0"/>
          </a:p>
        </p:txBody>
      </p:sp>
      <p:sp>
        <p:nvSpPr>
          <p:cNvPr id="19" name="Text 16"/>
          <p:cNvSpPr/>
          <p:nvPr/>
        </p:nvSpPr>
        <p:spPr>
          <a:xfrm>
            <a:off x="7569041" y="7135058"/>
            <a:ext cx="3901083" cy="49291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Offer free samples, trials, or money-back guarantees to reduce purchase hesitation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15478"/>
          </a:xfrm>
          <a:prstGeom prst="rect">
            <a:avLst/>
          </a:prstGeom>
        </p:spPr>
      </p:pic>
      <p:sp>
        <p:nvSpPr>
          <p:cNvPr id="3" name="Text 0"/>
          <p:cNvSpPr/>
          <p:nvPr/>
        </p:nvSpPr>
        <p:spPr>
          <a:xfrm>
            <a:off x="3007400" y="2452926"/>
            <a:ext cx="4828103" cy="340519"/>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Comfortaa Bold" pitchFamily="34" charset="0"/>
                <a:ea typeface="Comfortaa Bold" pitchFamily="34" charset="-122"/>
                <a:cs typeface="Comfortaa Bold" pitchFamily="34" charset="-120"/>
              </a:rPr>
              <a:t>Harness the Power of Social Proof</a:t>
            </a:r>
            <a:endParaRPr lang="en-US" sz="2100" dirty="0"/>
          </a:p>
        </p:txBody>
      </p:sp>
      <p:sp>
        <p:nvSpPr>
          <p:cNvPr id="4" name="Text 1"/>
          <p:cNvSpPr/>
          <p:nvPr/>
        </p:nvSpPr>
        <p:spPr>
          <a:xfrm>
            <a:off x="3007400" y="3023235"/>
            <a:ext cx="8615482" cy="49029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Customers place significantly more trust in other customers than in advertisements. Social proof transforms sceptical prospects into confident buyers by demonstrating that others have succeeded with your product.</a:t>
            </a:r>
            <a:endParaRPr lang="en-US" sz="1200" dirty="0"/>
          </a:p>
        </p:txBody>
      </p:sp>
      <p:sp>
        <p:nvSpPr>
          <p:cNvPr id="5" name="Shape 2"/>
          <p:cNvSpPr/>
          <p:nvPr/>
        </p:nvSpPr>
        <p:spPr>
          <a:xfrm>
            <a:off x="3007400" y="3685818"/>
            <a:ext cx="2769632" cy="1392317"/>
          </a:xfrm>
          <a:prstGeom prst="roundRect">
            <a:avLst>
              <a:gd name="adj" fmla="val 7881"/>
            </a:avLst>
          </a:prstGeom>
          <a:solidFill>
            <a:srgbClr val="FFE14D"/>
          </a:solidFill>
          <a:ln w="22860">
            <a:solidFill>
              <a:srgbClr val="5F5F63"/>
            </a:solidFill>
            <a:prstDash val="solid"/>
          </a:ln>
        </p:spPr>
      </p:sp>
      <p:sp>
        <p:nvSpPr>
          <p:cNvPr id="6" name="Shape 3"/>
          <p:cNvSpPr/>
          <p:nvPr/>
        </p:nvSpPr>
        <p:spPr>
          <a:xfrm>
            <a:off x="2984540" y="3685818"/>
            <a:ext cx="91440" cy="1392317"/>
          </a:xfrm>
          <a:prstGeom prst="roundRect">
            <a:avLst>
              <a:gd name="adj" fmla="val 251379"/>
            </a:avLst>
          </a:prstGeom>
          <a:solidFill>
            <a:srgbClr val="FFE14D"/>
          </a:solidFill>
          <a:ln/>
        </p:spPr>
      </p:sp>
      <p:sp>
        <p:nvSpPr>
          <p:cNvPr id="7" name="Text 4"/>
          <p:cNvSpPr/>
          <p:nvPr/>
        </p:nvSpPr>
        <p:spPr>
          <a:xfrm>
            <a:off x="3252073" y="3861911"/>
            <a:ext cx="1702594" cy="21276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Customer Reviews</a:t>
            </a:r>
            <a:endParaRPr lang="en-US" sz="1300" dirty="0"/>
          </a:p>
        </p:txBody>
      </p:sp>
      <p:sp>
        <p:nvSpPr>
          <p:cNvPr id="8" name="Text 5"/>
          <p:cNvSpPr/>
          <p:nvPr/>
        </p:nvSpPr>
        <p:spPr>
          <a:xfrm>
            <a:off x="3252073" y="4166592"/>
            <a:ext cx="2348865" cy="73544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Display authentic feedback and ratings prominently on your website and product pages</a:t>
            </a:r>
            <a:endParaRPr lang="en-US" sz="1200" dirty="0"/>
          </a:p>
        </p:txBody>
      </p:sp>
      <p:sp>
        <p:nvSpPr>
          <p:cNvPr id="9" name="Shape 6"/>
          <p:cNvSpPr/>
          <p:nvPr/>
        </p:nvSpPr>
        <p:spPr>
          <a:xfrm>
            <a:off x="5930265" y="3685818"/>
            <a:ext cx="2769632" cy="1392317"/>
          </a:xfrm>
          <a:prstGeom prst="roundRect">
            <a:avLst>
              <a:gd name="adj" fmla="val 7881"/>
            </a:avLst>
          </a:prstGeom>
          <a:solidFill>
            <a:srgbClr val="FFE14D"/>
          </a:solidFill>
          <a:ln w="22860">
            <a:solidFill>
              <a:srgbClr val="5F5F63"/>
            </a:solidFill>
            <a:prstDash val="solid"/>
          </a:ln>
        </p:spPr>
      </p:sp>
      <p:sp>
        <p:nvSpPr>
          <p:cNvPr id="10" name="Shape 7"/>
          <p:cNvSpPr/>
          <p:nvPr/>
        </p:nvSpPr>
        <p:spPr>
          <a:xfrm>
            <a:off x="5907405" y="3685818"/>
            <a:ext cx="91440" cy="1392317"/>
          </a:xfrm>
          <a:prstGeom prst="roundRect">
            <a:avLst>
              <a:gd name="adj" fmla="val 251379"/>
            </a:avLst>
          </a:prstGeom>
          <a:solidFill>
            <a:srgbClr val="FFE14D"/>
          </a:solidFill>
          <a:ln/>
        </p:spPr>
      </p:sp>
      <p:sp>
        <p:nvSpPr>
          <p:cNvPr id="11" name="Text 8"/>
          <p:cNvSpPr/>
          <p:nvPr/>
        </p:nvSpPr>
        <p:spPr>
          <a:xfrm>
            <a:off x="6174938" y="3861911"/>
            <a:ext cx="2051447" cy="21276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Transformation Stories</a:t>
            </a:r>
            <a:endParaRPr lang="en-US" sz="1300" dirty="0"/>
          </a:p>
        </p:txBody>
      </p:sp>
      <p:sp>
        <p:nvSpPr>
          <p:cNvPr id="12" name="Text 9"/>
          <p:cNvSpPr/>
          <p:nvPr/>
        </p:nvSpPr>
        <p:spPr>
          <a:xfrm>
            <a:off x="6174938" y="4166592"/>
            <a:ext cx="2348865" cy="73544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Showcase before-and-after results that demonstrate tangible outcomes</a:t>
            </a:r>
            <a:endParaRPr lang="en-US" sz="1200" dirty="0"/>
          </a:p>
        </p:txBody>
      </p:sp>
      <p:sp>
        <p:nvSpPr>
          <p:cNvPr id="13" name="Shape 10"/>
          <p:cNvSpPr/>
          <p:nvPr/>
        </p:nvSpPr>
        <p:spPr>
          <a:xfrm>
            <a:off x="8853130" y="3685818"/>
            <a:ext cx="2769751" cy="1392317"/>
          </a:xfrm>
          <a:prstGeom prst="roundRect">
            <a:avLst>
              <a:gd name="adj" fmla="val 7881"/>
            </a:avLst>
          </a:prstGeom>
          <a:solidFill>
            <a:srgbClr val="FFE14D"/>
          </a:solidFill>
          <a:ln w="22860">
            <a:solidFill>
              <a:srgbClr val="5F5F63"/>
            </a:solidFill>
            <a:prstDash val="solid"/>
          </a:ln>
        </p:spPr>
      </p:sp>
      <p:sp>
        <p:nvSpPr>
          <p:cNvPr id="14" name="Shape 11"/>
          <p:cNvSpPr/>
          <p:nvPr/>
        </p:nvSpPr>
        <p:spPr>
          <a:xfrm>
            <a:off x="8830270" y="3685818"/>
            <a:ext cx="91440" cy="1392317"/>
          </a:xfrm>
          <a:prstGeom prst="roundRect">
            <a:avLst>
              <a:gd name="adj" fmla="val 251379"/>
            </a:avLst>
          </a:prstGeom>
          <a:solidFill>
            <a:srgbClr val="FFE14D"/>
          </a:solidFill>
          <a:ln/>
        </p:spPr>
      </p:sp>
      <p:sp>
        <p:nvSpPr>
          <p:cNvPr id="15" name="Text 12"/>
          <p:cNvSpPr/>
          <p:nvPr/>
        </p:nvSpPr>
        <p:spPr>
          <a:xfrm>
            <a:off x="9097804" y="3861911"/>
            <a:ext cx="2183844" cy="21276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User-Generated Content</a:t>
            </a:r>
            <a:endParaRPr lang="en-US" sz="1300" dirty="0"/>
          </a:p>
        </p:txBody>
      </p:sp>
      <p:sp>
        <p:nvSpPr>
          <p:cNvPr id="16" name="Text 13"/>
          <p:cNvSpPr/>
          <p:nvPr/>
        </p:nvSpPr>
        <p:spPr>
          <a:xfrm>
            <a:off x="9097804" y="4166592"/>
            <a:ext cx="2348984" cy="73544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Feature customer photos, videos, and testimonials across your channels</a:t>
            </a:r>
            <a:endParaRPr lang="en-US" sz="1200" dirty="0"/>
          </a:p>
        </p:txBody>
      </p:sp>
      <p:sp>
        <p:nvSpPr>
          <p:cNvPr id="17" name="Shape 14"/>
          <p:cNvSpPr/>
          <p:nvPr/>
        </p:nvSpPr>
        <p:spPr>
          <a:xfrm>
            <a:off x="3007400" y="5231368"/>
            <a:ext cx="2769632" cy="1392317"/>
          </a:xfrm>
          <a:prstGeom prst="roundRect">
            <a:avLst>
              <a:gd name="adj" fmla="val 7881"/>
            </a:avLst>
          </a:prstGeom>
          <a:solidFill>
            <a:srgbClr val="FFE14D"/>
          </a:solidFill>
          <a:ln w="22860">
            <a:solidFill>
              <a:srgbClr val="5F5F63"/>
            </a:solidFill>
            <a:prstDash val="solid"/>
          </a:ln>
        </p:spPr>
      </p:sp>
      <p:sp>
        <p:nvSpPr>
          <p:cNvPr id="18" name="Shape 15"/>
          <p:cNvSpPr/>
          <p:nvPr/>
        </p:nvSpPr>
        <p:spPr>
          <a:xfrm>
            <a:off x="2984540" y="5231368"/>
            <a:ext cx="91440" cy="1392317"/>
          </a:xfrm>
          <a:prstGeom prst="roundRect">
            <a:avLst>
              <a:gd name="adj" fmla="val 251379"/>
            </a:avLst>
          </a:prstGeom>
          <a:solidFill>
            <a:srgbClr val="FFE14D"/>
          </a:solidFill>
          <a:ln/>
        </p:spPr>
      </p:sp>
      <p:sp>
        <p:nvSpPr>
          <p:cNvPr id="19" name="Text 16"/>
          <p:cNvSpPr/>
          <p:nvPr/>
        </p:nvSpPr>
        <p:spPr>
          <a:xfrm>
            <a:off x="3252073" y="5407462"/>
            <a:ext cx="1927027" cy="21276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Expert Endorsements</a:t>
            </a:r>
            <a:endParaRPr lang="en-US" sz="1300" dirty="0"/>
          </a:p>
        </p:txBody>
      </p:sp>
      <p:sp>
        <p:nvSpPr>
          <p:cNvPr id="20" name="Text 17"/>
          <p:cNvSpPr/>
          <p:nvPr/>
        </p:nvSpPr>
        <p:spPr>
          <a:xfrm>
            <a:off x="3252073" y="5712143"/>
            <a:ext cx="2348865" cy="73544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Leverage recommendations from recognised authorities and influencers</a:t>
            </a:r>
            <a:endParaRPr lang="en-US" sz="1200" dirty="0"/>
          </a:p>
        </p:txBody>
      </p:sp>
      <p:sp>
        <p:nvSpPr>
          <p:cNvPr id="21" name="Shape 18"/>
          <p:cNvSpPr/>
          <p:nvPr/>
        </p:nvSpPr>
        <p:spPr>
          <a:xfrm>
            <a:off x="5930265" y="5231368"/>
            <a:ext cx="2769632" cy="1392317"/>
          </a:xfrm>
          <a:prstGeom prst="roundRect">
            <a:avLst>
              <a:gd name="adj" fmla="val 7881"/>
            </a:avLst>
          </a:prstGeom>
          <a:solidFill>
            <a:srgbClr val="FFE14D"/>
          </a:solidFill>
          <a:ln w="22860">
            <a:solidFill>
              <a:srgbClr val="5F5F63"/>
            </a:solidFill>
            <a:prstDash val="solid"/>
          </a:ln>
        </p:spPr>
      </p:sp>
      <p:sp>
        <p:nvSpPr>
          <p:cNvPr id="22" name="Shape 19"/>
          <p:cNvSpPr/>
          <p:nvPr/>
        </p:nvSpPr>
        <p:spPr>
          <a:xfrm>
            <a:off x="5907405" y="5231368"/>
            <a:ext cx="91440" cy="1392317"/>
          </a:xfrm>
          <a:prstGeom prst="roundRect">
            <a:avLst>
              <a:gd name="adj" fmla="val 251379"/>
            </a:avLst>
          </a:prstGeom>
          <a:solidFill>
            <a:srgbClr val="FFE14D"/>
          </a:solidFill>
          <a:ln/>
        </p:spPr>
      </p:sp>
      <p:sp>
        <p:nvSpPr>
          <p:cNvPr id="23" name="Text 20"/>
          <p:cNvSpPr/>
          <p:nvPr/>
        </p:nvSpPr>
        <p:spPr>
          <a:xfrm>
            <a:off x="6174938" y="5407462"/>
            <a:ext cx="1759625" cy="21276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Comfortaa Bold" pitchFamily="34" charset="0"/>
                <a:ea typeface="Comfortaa Bold" pitchFamily="34" charset="-122"/>
                <a:cs typeface="Comfortaa Bold" pitchFamily="34" charset="-120"/>
              </a:rPr>
              <a:t>Data-Driven Results</a:t>
            </a:r>
            <a:endParaRPr lang="en-US" sz="1300" dirty="0"/>
          </a:p>
        </p:txBody>
      </p:sp>
      <p:sp>
        <p:nvSpPr>
          <p:cNvPr id="24" name="Text 21"/>
          <p:cNvSpPr/>
          <p:nvPr/>
        </p:nvSpPr>
        <p:spPr>
          <a:xfrm>
            <a:off x="6174938" y="5712143"/>
            <a:ext cx="2348865" cy="735449"/>
          </a:xfrm>
          <a:prstGeom prst="rect">
            <a:avLst/>
          </a:prstGeom>
          <a:noFill/>
          <a:ln/>
        </p:spPr>
        <p:txBody>
          <a:bodyPr wrap="square" lIns="0" tIns="0" rIns="0" bIns="0" rtlCol="0" anchor="t"/>
          <a:lstStyle/>
          <a:p>
            <a:pPr marL="0" indent="0" algn="l">
              <a:lnSpc>
                <a:spcPts val="1900"/>
              </a:lnSpc>
              <a:buNone/>
            </a:pPr>
            <a:r>
              <a:rPr lang="en-US" sz="1200" dirty="0">
                <a:solidFill>
                  <a:srgbClr val="000000"/>
                </a:solidFill>
                <a:latin typeface="Raleway Medium" pitchFamily="34" charset="0"/>
                <a:ea typeface="Raleway Medium" pitchFamily="34" charset="-122"/>
                <a:cs typeface="Raleway Medium" pitchFamily="34" charset="-120"/>
              </a:rPr>
              <a:t>Present research reports and case studies demonstrating measurable outcomes</a:t>
            </a:r>
            <a:endParaRPr lang="en-US" sz="1200" dirty="0"/>
          </a:p>
        </p:txBody>
      </p:sp>
      <p:sp>
        <p:nvSpPr>
          <p:cNvPr id="25" name="Shape 22"/>
          <p:cNvSpPr/>
          <p:nvPr/>
        </p:nvSpPr>
        <p:spPr>
          <a:xfrm>
            <a:off x="3007400" y="6795968"/>
            <a:ext cx="8615482" cy="896183"/>
          </a:xfrm>
          <a:prstGeom prst="roundRect">
            <a:avLst>
              <a:gd name="adj" fmla="val 25649"/>
            </a:avLst>
          </a:prstGeom>
          <a:solidFill>
            <a:srgbClr val="FFF2B3"/>
          </a:solidFill>
          <a:ln/>
        </p:spPr>
      </p:sp>
      <p:pic>
        <p:nvPicPr>
          <p:cNvPr id="26" name="Image 1" descr="preencoded.png"/>
          <p:cNvPicPr>
            <a:picLocks noChangeAspect="1"/>
          </p:cNvPicPr>
          <p:nvPr/>
        </p:nvPicPr>
        <p:blipFill>
          <a:blip r:embed="rId4"/>
          <a:stretch>
            <a:fillRect/>
          </a:stretch>
        </p:blipFill>
        <p:spPr>
          <a:xfrm>
            <a:off x="3160633" y="7028498"/>
            <a:ext cx="191453" cy="153233"/>
          </a:xfrm>
          <a:prstGeom prst="rect">
            <a:avLst/>
          </a:prstGeom>
        </p:spPr>
      </p:pic>
      <p:sp>
        <p:nvSpPr>
          <p:cNvPr id="27" name="Text 23"/>
          <p:cNvSpPr/>
          <p:nvPr/>
        </p:nvSpPr>
        <p:spPr>
          <a:xfrm>
            <a:off x="3505319" y="6987421"/>
            <a:ext cx="7964329" cy="490299"/>
          </a:xfrm>
          <a:prstGeom prst="rect">
            <a:avLst/>
          </a:prstGeom>
          <a:noFill/>
          <a:ln/>
        </p:spPr>
        <p:txBody>
          <a:bodyPr wrap="square" lIns="0" tIns="0" rIns="0" bIns="0" rtlCol="0" anchor="t"/>
          <a:lstStyle/>
          <a:p>
            <a:pPr marL="0" indent="0" algn="l">
              <a:lnSpc>
                <a:spcPts val="1900"/>
              </a:lnSpc>
              <a:buNone/>
            </a:pPr>
            <a:r>
              <a:rPr lang="en-US" sz="1200" b="1" dirty="0">
                <a:solidFill>
                  <a:srgbClr val="000000"/>
                </a:solidFill>
                <a:latin typeface="Raleway Medium" pitchFamily="34" charset="0"/>
                <a:ea typeface="Raleway Medium" pitchFamily="34" charset="-122"/>
                <a:cs typeface="Raleway Medium" pitchFamily="34" charset="-120"/>
              </a:rPr>
              <a:t>Key Insight:</a:t>
            </a:r>
            <a:r>
              <a:rPr lang="en-US" sz="1200" dirty="0">
                <a:solidFill>
                  <a:srgbClr val="000000"/>
                </a:solidFill>
                <a:latin typeface="Raleway Medium" pitchFamily="34" charset="0"/>
                <a:ea typeface="Raleway Medium" pitchFamily="34" charset="-122"/>
                <a:cs typeface="Raleway Medium" pitchFamily="34" charset="-120"/>
              </a:rPr>
              <a:t> The more proof you provide, the easier it becomes for customers to trust your brand and make confident purchasing decisions.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845004" y="339447"/>
            <a:ext cx="3261003" cy="274201"/>
          </a:xfrm>
          <a:prstGeom prst="rect">
            <a:avLst/>
          </a:prstGeom>
          <a:noFill/>
          <a:ln/>
        </p:spPr>
        <p:txBody>
          <a:bodyPr wrap="none" lIns="0" tIns="0" rIns="0" bIns="0" rtlCol="0" anchor="t"/>
          <a:lstStyle/>
          <a:p>
            <a:pPr marL="0" indent="0" algn="l">
              <a:lnSpc>
                <a:spcPts val="2150"/>
              </a:lnSpc>
              <a:buNone/>
            </a:pPr>
            <a:r>
              <a:rPr lang="en-US" sz="1700" b="1" dirty="0">
                <a:solidFill>
                  <a:srgbClr val="FFE14D"/>
                </a:solidFill>
                <a:latin typeface="Comfortaa Bold" pitchFamily="34" charset="0"/>
                <a:ea typeface="Comfortaa Bold" pitchFamily="34" charset="-122"/>
                <a:cs typeface="Comfortaa Bold" pitchFamily="34" charset="-120"/>
              </a:rPr>
              <a:t>Digital Marketing Excellence</a:t>
            </a:r>
            <a:endParaRPr lang="en-US" sz="1700" dirty="0"/>
          </a:p>
        </p:txBody>
      </p:sp>
      <p:pic>
        <p:nvPicPr>
          <p:cNvPr id="3" name="Image 0" descr="preencoded.png"/>
          <p:cNvPicPr>
            <a:picLocks noChangeAspect="1"/>
          </p:cNvPicPr>
          <p:nvPr/>
        </p:nvPicPr>
        <p:blipFill>
          <a:blip r:embed="rId3"/>
          <a:stretch>
            <a:fillRect/>
          </a:stretch>
        </p:blipFill>
        <p:spPr>
          <a:xfrm>
            <a:off x="3845004" y="937617"/>
            <a:ext cx="2595443" cy="2595443"/>
          </a:xfrm>
          <a:prstGeom prst="rect">
            <a:avLst/>
          </a:prstGeom>
        </p:spPr>
      </p:pic>
      <p:sp>
        <p:nvSpPr>
          <p:cNvPr id="4" name="Text 1"/>
          <p:cNvSpPr/>
          <p:nvPr/>
        </p:nvSpPr>
        <p:spPr>
          <a:xfrm>
            <a:off x="6749058" y="909876"/>
            <a:ext cx="4043720" cy="790099"/>
          </a:xfrm>
          <a:prstGeom prst="rect">
            <a:avLst/>
          </a:prstGeom>
          <a:noFill/>
          <a:ln/>
        </p:spPr>
        <p:txBody>
          <a:bodyPr wrap="square" lIns="0" tIns="0" rIns="0" bIns="0" rtlCol="0" anchor="t"/>
          <a:lstStyle/>
          <a:p>
            <a:pPr marL="0" indent="0" algn="l">
              <a:lnSpc>
                <a:spcPts val="1550"/>
              </a:lnSpc>
              <a:buNone/>
            </a:pPr>
            <a:r>
              <a:rPr lang="en-US" sz="950" dirty="0">
                <a:solidFill>
                  <a:srgbClr val="D7D4CC"/>
                </a:solidFill>
                <a:latin typeface="Raleway Medium" pitchFamily="34" charset="0"/>
                <a:ea typeface="Raleway Medium" pitchFamily="34" charset="-122"/>
                <a:cs typeface="Raleway Medium" pitchFamily="34" charset="-120"/>
              </a:rPr>
              <a:t>Digital platforms deliver exceptional results when used strategically and consistently. A powerful digital presence simultaneously enhances brand reputation and increases product visibility across multiple touchpoints.</a:t>
            </a:r>
            <a:endParaRPr lang="en-US" sz="950" dirty="0"/>
          </a:p>
        </p:txBody>
      </p:sp>
      <p:sp>
        <p:nvSpPr>
          <p:cNvPr id="5" name="Text 2"/>
          <p:cNvSpPr/>
          <p:nvPr/>
        </p:nvSpPr>
        <p:spPr>
          <a:xfrm>
            <a:off x="6749058" y="1811060"/>
            <a:ext cx="4043720" cy="395049"/>
          </a:xfrm>
          <a:prstGeom prst="rect">
            <a:avLst/>
          </a:prstGeom>
          <a:noFill/>
          <a:ln/>
        </p:spPr>
        <p:txBody>
          <a:bodyPr wrap="square" lIns="0" tIns="0" rIns="0" bIns="0" rtlCol="0" anchor="t"/>
          <a:lstStyle/>
          <a:p>
            <a:pPr marL="0" indent="0" algn="l">
              <a:lnSpc>
                <a:spcPts val="1550"/>
              </a:lnSpc>
              <a:buNone/>
            </a:pPr>
            <a:r>
              <a:rPr lang="en-US" sz="950" dirty="0">
                <a:solidFill>
                  <a:srgbClr val="D7D4CC"/>
                </a:solidFill>
                <a:latin typeface="Raleway Medium" pitchFamily="34" charset="0"/>
                <a:ea typeface="Raleway Medium" pitchFamily="34" charset="-122"/>
                <a:cs typeface="Raleway Medium" pitchFamily="34" charset="-120"/>
              </a:rPr>
              <a:t>The key is selecting the right channels for your audience and maintaining a cohesive, value-driven approach across all platforms.</a:t>
            </a:r>
            <a:endParaRPr lang="en-US" sz="950" dirty="0"/>
          </a:p>
        </p:txBody>
      </p:sp>
      <p:sp>
        <p:nvSpPr>
          <p:cNvPr id="6" name="Shape 3"/>
          <p:cNvSpPr/>
          <p:nvPr/>
        </p:nvSpPr>
        <p:spPr>
          <a:xfrm>
            <a:off x="7307461" y="3810714"/>
            <a:ext cx="15240" cy="5423535"/>
          </a:xfrm>
          <a:prstGeom prst="roundRect">
            <a:avLst>
              <a:gd name="adj" fmla="val 1215000"/>
            </a:avLst>
          </a:prstGeom>
          <a:solidFill>
            <a:srgbClr val="5F5F63"/>
          </a:solidFill>
          <a:ln/>
        </p:spPr>
      </p:sp>
      <p:sp>
        <p:nvSpPr>
          <p:cNvPr id="7" name="Shape 4"/>
          <p:cNvSpPr/>
          <p:nvPr/>
        </p:nvSpPr>
        <p:spPr>
          <a:xfrm>
            <a:off x="3829764" y="3810714"/>
            <a:ext cx="3470077" cy="887254"/>
          </a:xfrm>
          <a:prstGeom prst="roundRect">
            <a:avLst>
              <a:gd name="adj" fmla="val 20870"/>
            </a:avLst>
          </a:prstGeom>
          <a:solidFill>
            <a:srgbClr val="46464A"/>
          </a:solidFill>
          <a:ln/>
        </p:spPr>
      </p:sp>
      <p:sp>
        <p:nvSpPr>
          <p:cNvPr id="8" name="Text 5"/>
          <p:cNvSpPr/>
          <p:nvPr/>
        </p:nvSpPr>
        <p:spPr>
          <a:xfrm>
            <a:off x="5471160" y="3934063"/>
            <a:ext cx="1705332" cy="171450"/>
          </a:xfrm>
          <a:prstGeom prst="rect">
            <a:avLst/>
          </a:prstGeom>
          <a:noFill/>
          <a:ln/>
        </p:spPr>
        <p:txBody>
          <a:bodyPr wrap="none" lIns="0" tIns="0" rIns="0" bIns="0" rtlCol="0" anchor="t"/>
          <a:lstStyle/>
          <a:p>
            <a:pPr marL="0" indent="0" algn="r">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Social Media Marketing</a:t>
            </a:r>
            <a:endParaRPr lang="en-US" sz="1050" dirty="0"/>
          </a:p>
        </p:txBody>
      </p:sp>
      <p:sp>
        <p:nvSpPr>
          <p:cNvPr id="9" name="Text 6"/>
          <p:cNvSpPr/>
          <p:nvPr/>
        </p:nvSpPr>
        <p:spPr>
          <a:xfrm>
            <a:off x="3953113" y="4179570"/>
            <a:ext cx="3223379" cy="395049"/>
          </a:xfrm>
          <a:prstGeom prst="rect">
            <a:avLst/>
          </a:prstGeom>
          <a:noFill/>
          <a:ln/>
        </p:spPr>
        <p:txBody>
          <a:bodyPr wrap="square" lIns="0" tIns="0" rIns="0" bIns="0" rtlCol="0" anchor="t"/>
          <a:lstStyle/>
          <a:p>
            <a:pPr marL="0" indent="0" algn="r">
              <a:lnSpc>
                <a:spcPts val="1550"/>
              </a:lnSpc>
              <a:buNone/>
            </a:pPr>
            <a:r>
              <a:rPr lang="en-US" sz="950" dirty="0">
                <a:solidFill>
                  <a:srgbClr val="D7D4CC"/>
                </a:solidFill>
                <a:latin typeface="Raleway Medium" pitchFamily="34" charset="0"/>
                <a:ea typeface="Raleway Medium" pitchFamily="34" charset="-122"/>
                <a:cs typeface="Raleway Medium" pitchFamily="34" charset="-120"/>
              </a:rPr>
              <a:t>Share valuable, engaging content that educates and entertains your audience regularly</a:t>
            </a:r>
            <a:endParaRPr lang="en-US" sz="950" dirty="0"/>
          </a:p>
        </p:txBody>
      </p:sp>
      <p:sp>
        <p:nvSpPr>
          <p:cNvPr id="10" name="Shape 7"/>
          <p:cNvSpPr/>
          <p:nvPr/>
        </p:nvSpPr>
        <p:spPr>
          <a:xfrm>
            <a:off x="7330321" y="4944785"/>
            <a:ext cx="3470196" cy="887254"/>
          </a:xfrm>
          <a:prstGeom prst="rect">
            <a:avLst/>
          </a:prstGeom>
          <a:solidFill>
            <a:srgbClr val="46464A"/>
          </a:solidFill>
          <a:ln/>
        </p:spPr>
      </p:sp>
      <p:sp>
        <p:nvSpPr>
          <p:cNvPr id="11" name="Text 8"/>
          <p:cNvSpPr/>
          <p:nvPr/>
        </p:nvSpPr>
        <p:spPr>
          <a:xfrm>
            <a:off x="7453670" y="5068133"/>
            <a:ext cx="2028230" cy="171450"/>
          </a:xfrm>
          <a:prstGeom prst="rect">
            <a:avLst/>
          </a:prstGeom>
          <a:noFill/>
          <a:ln/>
        </p:spPr>
        <p:txBody>
          <a:bodyPr wrap="none" lIns="0" tIns="0" rIns="0" bIns="0" rtlCol="0" anchor="t"/>
          <a:lstStyle/>
          <a:p>
            <a:pPr marL="0" indent="0" algn="l">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Search Engine Optimisation</a:t>
            </a:r>
            <a:endParaRPr lang="en-US" sz="1050" dirty="0"/>
          </a:p>
        </p:txBody>
      </p:sp>
      <p:sp>
        <p:nvSpPr>
          <p:cNvPr id="12" name="Text 9"/>
          <p:cNvSpPr/>
          <p:nvPr/>
        </p:nvSpPr>
        <p:spPr>
          <a:xfrm>
            <a:off x="7453670" y="5313640"/>
            <a:ext cx="3223498" cy="395049"/>
          </a:xfrm>
          <a:prstGeom prst="rect">
            <a:avLst/>
          </a:prstGeom>
          <a:noFill/>
          <a:ln/>
        </p:spPr>
        <p:txBody>
          <a:bodyPr wrap="square" lIns="0" tIns="0" rIns="0" bIns="0" rtlCol="0" anchor="t"/>
          <a:lstStyle/>
          <a:p>
            <a:pPr marL="0" indent="0" algn="l">
              <a:lnSpc>
                <a:spcPts val="1550"/>
              </a:lnSpc>
              <a:buNone/>
            </a:pPr>
            <a:r>
              <a:rPr lang="en-US" sz="950" dirty="0">
                <a:solidFill>
                  <a:srgbClr val="D7D4CC"/>
                </a:solidFill>
                <a:latin typeface="Raleway Medium" pitchFamily="34" charset="0"/>
                <a:ea typeface="Raleway Medium" pitchFamily="34" charset="-122"/>
                <a:cs typeface="Raleway Medium" pitchFamily="34" charset="-120"/>
              </a:rPr>
              <a:t>Improve your website's rankings to capture high-intent customers actively searching</a:t>
            </a:r>
            <a:endParaRPr lang="en-US" sz="950" dirty="0"/>
          </a:p>
        </p:txBody>
      </p:sp>
      <p:sp>
        <p:nvSpPr>
          <p:cNvPr id="13" name="Shape 10"/>
          <p:cNvSpPr/>
          <p:nvPr/>
        </p:nvSpPr>
        <p:spPr>
          <a:xfrm>
            <a:off x="3829764" y="6078855"/>
            <a:ext cx="3470077" cy="887254"/>
          </a:xfrm>
          <a:prstGeom prst="roundRect">
            <a:avLst>
              <a:gd name="adj" fmla="val 20870"/>
            </a:avLst>
          </a:prstGeom>
          <a:solidFill>
            <a:srgbClr val="46464A"/>
          </a:solidFill>
          <a:ln/>
        </p:spPr>
      </p:sp>
      <p:sp>
        <p:nvSpPr>
          <p:cNvPr id="14" name="Text 11"/>
          <p:cNvSpPr/>
          <p:nvPr/>
        </p:nvSpPr>
        <p:spPr>
          <a:xfrm>
            <a:off x="5804892" y="6202204"/>
            <a:ext cx="1371600" cy="171450"/>
          </a:xfrm>
          <a:prstGeom prst="rect">
            <a:avLst/>
          </a:prstGeom>
          <a:noFill/>
          <a:ln/>
        </p:spPr>
        <p:txBody>
          <a:bodyPr wrap="none" lIns="0" tIns="0" rIns="0" bIns="0" rtlCol="0" anchor="t"/>
          <a:lstStyle/>
          <a:p>
            <a:pPr marL="0" indent="0" algn="r">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Email Marketing</a:t>
            </a:r>
            <a:endParaRPr lang="en-US" sz="1050" dirty="0"/>
          </a:p>
        </p:txBody>
      </p:sp>
      <p:sp>
        <p:nvSpPr>
          <p:cNvPr id="15" name="Text 12"/>
          <p:cNvSpPr/>
          <p:nvPr/>
        </p:nvSpPr>
        <p:spPr>
          <a:xfrm>
            <a:off x="3953113" y="6447711"/>
            <a:ext cx="3223379" cy="395049"/>
          </a:xfrm>
          <a:prstGeom prst="rect">
            <a:avLst/>
          </a:prstGeom>
          <a:noFill/>
          <a:ln/>
        </p:spPr>
        <p:txBody>
          <a:bodyPr wrap="square" lIns="0" tIns="0" rIns="0" bIns="0" rtlCol="0" anchor="t"/>
          <a:lstStyle/>
          <a:p>
            <a:pPr marL="0" indent="0" algn="r">
              <a:lnSpc>
                <a:spcPts val="1550"/>
              </a:lnSpc>
              <a:buNone/>
            </a:pPr>
            <a:r>
              <a:rPr lang="en-US" sz="950" dirty="0">
                <a:solidFill>
                  <a:srgbClr val="D7D4CC"/>
                </a:solidFill>
                <a:latin typeface="Raleway Medium" pitchFamily="34" charset="0"/>
                <a:ea typeface="Raleway Medium" pitchFamily="34" charset="-122"/>
                <a:cs typeface="Raleway Medium" pitchFamily="34" charset="-120"/>
              </a:rPr>
              <a:t>Nurture leads and encourage repeat purchases from existing customers through personalised campaigns</a:t>
            </a:r>
            <a:endParaRPr lang="en-US" sz="950" dirty="0"/>
          </a:p>
        </p:txBody>
      </p:sp>
      <p:sp>
        <p:nvSpPr>
          <p:cNvPr id="16" name="Shape 13"/>
          <p:cNvSpPr/>
          <p:nvPr/>
        </p:nvSpPr>
        <p:spPr>
          <a:xfrm>
            <a:off x="7330321" y="7212925"/>
            <a:ext cx="3470196" cy="887254"/>
          </a:xfrm>
          <a:prstGeom prst="rect">
            <a:avLst/>
          </a:prstGeom>
          <a:solidFill>
            <a:srgbClr val="46464A"/>
          </a:solidFill>
          <a:ln/>
        </p:spPr>
      </p:sp>
      <p:sp>
        <p:nvSpPr>
          <p:cNvPr id="17" name="Text 14"/>
          <p:cNvSpPr/>
          <p:nvPr/>
        </p:nvSpPr>
        <p:spPr>
          <a:xfrm>
            <a:off x="7453670" y="7336274"/>
            <a:ext cx="1371600" cy="171450"/>
          </a:xfrm>
          <a:prstGeom prst="rect">
            <a:avLst/>
          </a:prstGeom>
          <a:noFill/>
          <a:ln/>
        </p:spPr>
        <p:txBody>
          <a:bodyPr wrap="none" lIns="0" tIns="0" rIns="0" bIns="0" rtlCol="0" anchor="t"/>
          <a:lstStyle/>
          <a:p>
            <a:pPr marL="0" indent="0" algn="l">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Content Marketing</a:t>
            </a:r>
            <a:endParaRPr lang="en-US" sz="1050" dirty="0"/>
          </a:p>
        </p:txBody>
      </p:sp>
      <p:sp>
        <p:nvSpPr>
          <p:cNvPr id="18" name="Text 15"/>
          <p:cNvSpPr/>
          <p:nvPr/>
        </p:nvSpPr>
        <p:spPr>
          <a:xfrm>
            <a:off x="7453670" y="7581781"/>
            <a:ext cx="3223498" cy="395049"/>
          </a:xfrm>
          <a:prstGeom prst="rect">
            <a:avLst/>
          </a:prstGeom>
          <a:noFill/>
          <a:ln/>
        </p:spPr>
        <p:txBody>
          <a:bodyPr wrap="square" lIns="0" tIns="0" rIns="0" bIns="0" rtlCol="0" anchor="t"/>
          <a:lstStyle/>
          <a:p>
            <a:pPr marL="0" indent="0" algn="l">
              <a:lnSpc>
                <a:spcPts val="1550"/>
              </a:lnSpc>
              <a:buNone/>
            </a:pPr>
            <a:r>
              <a:rPr lang="en-US" sz="950" dirty="0">
                <a:solidFill>
                  <a:srgbClr val="D7D4CC"/>
                </a:solidFill>
                <a:latin typeface="Raleway Medium" pitchFamily="34" charset="0"/>
                <a:ea typeface="Raleway Medium" pitchFamily="34" charset="-122"/>
                <a:cs typeface="Raleway Medium" pitchFamily="34" charset="-120"/>
              </a:rPr>
              <a:t>Develop blogs, videos, reels, and comprehensive guides that establish thought leadership</a:t>
            </a:r>
            <a:endParaRPr lang="en-US" sz="950" dirty="0"/>
          </a:p>
        </p:txBody>
      </p:sp>
      <p:sp>
        <p:nvSpPr>
          <p:cNvPr id="19" name="Shape 16"/>
          <p:cNvSpPr/>
          <p:nvPr/>
        </p:nvSpPr>
        <p:spPr>
          <a:xfrm>
            <a:off x="3829764" y="8346996"/>
            <a:ext cx="3470077" cy="887254"/>
          </a:xfrm>
          <a:prstGeom prst="roundRect">
            <a:avLst>
              <a:gd name="adj" fmla="val 20870"/>
            </a:avLst>
          </a:prstGeom>
          <a:solidFill>
            <a:srgbClr val="46464A"/>
          </a:solidFill>
          <a:ln/>
        </p:spPr>
      </p:sp>
      <p:sp>
        <p:nvSpPr>
          <p:cNvPr id="20" name="Text 17"/>
          <p:cNvSpPr/>
          <p:nvPr/>
        </p:nvSpPr>
        <p:spPr>
          <a:xfrm>
            <a:off x="5804892" y="8470344"/>
            <a:ext cx="1371600" cy="171450"/>
          </a:xfrm>
          <a:prstGeom prst="rect">
            <a:avLst/>
          </a:prstGeom>
          <a:noFill/>
          <a:ln/>
        </p:spPr>
        <p:txBody>
          <a:bodyPr wrap="none" lIns="0" tIns="0" rIns="0" bIns="0" rtlCol="0" anchor="t"/>
          <a:lstStyle/>
          <a:p>
            <a:pPr marL="0" indent="0" algn="r">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Paid Advertising</a:t>
            </a:r>
            <a:endParaRPr lang="en-US" sz="1050" dirty="0"/>
          </a:p>
        </p:txBody>
      </p:sp>
      <p:sp>
        <p:nvSpPr>
          <p:cNvPr id="21" name="Text 18"/>
          <p:cNvSpPr/>
          <p:nvPr/>
        </p:nvSpPr>
        <p:spPr>
          <a:xfrm>
            <a:off x="3953113" y="8715851"/>
            <a:ext cx="3223379" cy="395049"/>
          </a:xfrm>
          <a:prstGeom prst="rect">
            <a:avLst/>
          </a:prstGeom>
          <a:noFill/>
          <a:ln/>
        </p:spPr>
        <p:txBody>
          <a:bodyPr wrap="square" lIns="0" tIns="0" rIns="0" bIns="0" rtlCol="0" anchor="t"/>
          <a:lstStyle/>
          <a:p>
            <a:pPr marL="0" indent="0" algn="r">
              <a:lnSpc>
                <a:spcPts val="1550"/>
              </a:lnSpc>
              <a:buNone/>
            </a:pPr>
            <a:r>
              <a:rPr lang="en-US" sz="950" dirty="0">
                <a:solidFill>
                  <a:srgbClr val="D7D4CC"/>
                </a:solidFill>
                <a:latin typeface="Raleway Medium" pitchFamily="34" charset="0"/>
                <a:ea typeface="Raleway Medium" pitchFamily="34" charset="-122"/>
                <a:cs typeface="Raleway Medium" pitchFamily="34" charset="-120"/>
              </a:rPr>
              <a:t>Use Google Ads and Meta Ads to expand reach to precisely targeted audience segments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491139" y="660916"/>
            <a:ext cx="7230428" cy="460296"/>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Comfortaa Bold" pitchFamily="34" charset="0"/>
                <a:ea typeface="Comfortaa Bold" pitchFamily="34" charset="-122"/>
                <a:cs typeface="Comfortaa Bold" pitchFamily="34" charset="-120"/>
              </a:rPr>
              <a:t>Build Lasting Customer Relationships</a:t>
            </a:r>
            <a:endParaRPr lang="en-US" sz="2900" dirty="0"/>
          </a:p>
        </p:txBody>
      </p:sp>
      <p:sp>
        <p:nvSpPr>
          <p:cNvPr id="3" name="Text 1"/>
          <p:cNvSpPr/>
          <p:nvPr/>
        </p:nvSpPr>
        <p:spPr>
          <a:xfrm>
            <a:off x="1491139" y="1535549"/>
            <a:ext cx="11648003" cy="662940"/>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Raleway Medium" pitchFamily="34" charset="0"/>
                <a:ea typeface="Raleway Medium" pitchFamily="34" charset="-122"/>
                <a:cs typeface="Raleway Medium" pitchFamily="34" charset="-120"/>
              </a:rPr>
              <a:t>Long-term relationships are the wellspring of genuine market goodwill. When customers perceive their worth within your company, they not only remain loyal—they become vocal advocates who actively promote your products.</a:t>
            </a:r>
            <a:endParaRPr lang="en-US" sz="1600" dirty="0"/>
          </a:p>
        </p:txBody>
      </p:sp>
      <p:pic>
        <p:nvPicPr>
          <p:cNvPr id="4" name="Image 0" descr="preencoded.png"/>
          <p:cNvPicPr>
            <a:picLocks noChangeAspect="1"/>
          </p:cNvPicPr>
          <p:nvPr/>
        </p:nvPicPr>
        <p:blipFill>
          <a:blip r:embed="rId3"/>
          <a:stretch>
            <a:fillRect/>
          </a:stretch>
        </p:blipFill>
        <p:spPr>
          <a:xfrm>
            <a:off x="1491139" y="2431494"/>
            <a:ext cx="1956673" cy="1956673"/>
          </a:xfrm>
          <a:prstGeom prst="rect">
            <a:avLst/>
          </a:prstGeom>
        </p:spPr>
      </p:pic>
      <p:sp>
        <p:nvSpPr>
          <p:cNvPr id="5" name="Text 2"/>
          <p:cNvSpPr/>
          <p:nvPr/>
        </p:nvSpPr>
        <p:spPr>
          <a:xfrm>
            <a:off x="1491139" y="4647128"/>
            <a:ext cx="2436971" cy="287655"/>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Loyalty Programmes</a:t>
            </a:r>
            <a:endParaRPr lang="en-US" sz="1800" dirty="0"/>
          </a:p>
        </p:txBody>
      </p:sp>
      <p:sp>
        <p:nvSpPr>
          <p:cNvPr id="6" name="Text 3"/>
          <p:cNvSpPr/>
          <p:nvPr/>
        </p:nvSpPr>
        <p:spPr>
          <a:xfrm>
            <a:off x="1491139" y="5059085"/>
            <a:ext cx="2717721" cy="994410"/>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Raleway Medium" pitchFamily="34" charset="0"/>
                <a:ea typeface="Raleway Medium" pitchFamily="34" charset="-122"/>
                <a:cs typeface="Raleway Medium" pitchFamily="34" charset="-120"/>
              </a:rPr>
              <a:t>Reward repeat customers with points, discounts, and exclusive benefits</a:t>
            </a:r>
            <a:endParaRPr lang="en-US" sz="1600" dirty="0"/>
          </a:p>
        </p:txBody>
      </p:sp>
      <p:pic>
        <p:nvPicPr>
          <p:cNvPr id="7" name="Image 1" descr="preencoded.png"/>
          <p:cNvPicPr>
            <a:picLocks noChangeAspect="1"/>
          </p:cNvPicPr>
          <p:nvPr/>
        </p:nvPicPr>
        <p:blipFill>
          <a:blip r:embed="rId4"/>
          <a:stretch>
            <a:fillRect/>
          </a:stretch>
        </p:blipFill>
        <p:spPr>
          <a:xfrm>
            <a:off x="4467820" y="2431494"/>
            <a:ext cx="1956792" cy="1956792"/>
          </a:xfrm>
          <a:prstGeom prst="rect">
            <a:avLst/>
          </a:prstGeom>
        </p:spPr>
      </p:pic>
      <p:sp>
        <p:nvSpPr>
          <p:cNvPr id="8" name="Text 4"/>
          <p:cNvSpPr/>
          <p:nvPr/>
        </p:nvSpPr>
        <p:spPr>
          <a:xfrm>
            <a:off x="4467820" y="4647248"/>
            <a:ext cx="2717840" cy="575310"/>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Returning Customer Perks</a:t>
            </a:r>
            <a:endParaRPr lang="en-US" sz="1800" dirty="0"/>
          </a:p>
        </p:txBody>
      </p:sp>
      <p:sp>
        <p:nvSpPr>
          <p:cNvPr id="9" name="Text 5"/>
          <p:cNvSpPr/>
          <p:nvPr/>
        </p:nvSpPr>
        <p:spPr>
          <a:xfrm>
            <a:off x="4467820" y="5346859"/>
            <a:ext cx="2717840" cy="1325880"/>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Raleway Medium" pitchFamily="34" charset="0"/>
                <a:ea typeface="Raleway Medium" pitchFamily="34" charset="-122"/>
                <a:cs typeface="Raleway Medium" pitchFamily="34" charset="-120"/>
              </a:rPr>
              <a:t>Offer special discounts that acknowledge and appreciate continued patronage</a:t>
            </a:r>
            <a:endParaRPr lang="en-US" sz="1600" dirty="0"/>
          </a:p>
        </p:txBody>
      </p:sp>
      <p:pic>
        <p:nvPicPr>
          <p:cNvPr id="10" name="Image 2" descr="preencoded.png"/>
          <p:cNvPicPr>
            <a:picLocks noChangeAspect="1"/>
          </p:cNvPicPr>
          <p:nvPr/>
        </p:nvPicPr>
        <p:blipFill>
          <a:blip r:embed="rId5"/>
          <a:stretch>
            <a:fillRect/>
          </a:stretch>
        </p:blipFill>
        <p:spPr>
          <a:xfrm>
            <a:off x="7444621" y="2431494"/>
            <a:ext cx="1956673" cy="1956673"/>
          </a:xfrm>
          <a:prstGeom prst="rect">
            <a:avLst/>
          </a:prstGeom>
        </p:spPr>
      </p:pic>
      <p:sp>
        <p:nvSpPr>
          <p:cNvPr id="11" name="Text 6"/>
          <p:cNvSpPr/>
          <p:nvPr/>
        </p:nvSpPr>
        <p:spPr>
          <a:xfrm>
            <a:off x="7444621" y="4647128"/>
            <a:ext cx="2717721" cy="575310"/>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Personalised Communication</a:t>
            </a:r>
            <a:endParaRPr lang="en-US" sz="1800" dirty="0"/>
          </a:p>
        </p:txBody>
      </p:sp>
      <p:sp>
        <p:nvSpPr>
          <p:cNvPr id="12" name="Text 7"/>
          <p:cNvSpPr/>
          <p:nvPr/>
        </p:nvSpPr>
        <p:spPr>
          <a:xfrm>
            <a:off x="7444621" y="5346740"/>
            <a:ext cx="2717721" cy="994410"/>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Raleway Medium" pitchFamily="34" charset="0"/>
                <a:ea typeface="Raleway Medium" pitchFamily="34" charset="-122"/>
                <a:cs typeface="Raleway Medium" pitchFamily="34" charset="-120"/>
              </a:rPr>
              <a:t>Send tailored emails and recommendations based on purchase history</a:t>
            </a:r>
            <a:endParaRPr lang="en-US" sz="1600" dirty="0"/>
          </a:p>
        </p:txBody>
      </p:sp>
      <p:pic>
        <p:nvPicPr>
          <p:cNvPr id="13" name="Image 3" descr="preencoded.png"/>
          <p:cNvPicPr>
            <a:picLocks noChangeAspect="1"/>
          </p:cNvPicPr>
          <p:nvPr/>
        </p:nvPicPr>
        <p:blipFill>
          <a:blip r:embed="rId6"/>
          <a:stretch>
            <a:fillRect/>
          </a:stretch>
        </p:blipFill>
        <p:spPr>
          <a:xfrm>
            <a:off x="10421303" y="2431494"/>
            <a:ext cx="1956792" cy="1956792"/>
          </a:xfrm>
          <a:prstGeom prst="rect">
            <a:avLst/>
          </a:prstGeom>
        </p:spPr>
      </p:pic>
      <p:sp>
        <p:nvSpPr>
          <p:cNvPr id="14" name="Text 8"/>
          <p:cNvSpPr/>
          <p:nvPr/>
        </p:nvSpPr>
        <p:spPr>
          <a:xfrm>
            <a:off x="10421303" y="4647248"/>
            <a:ext cx="2672596" cy="287655"/>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Milestone Recognition</a:t>
            </a:r>
            <a:endParaRPr lang="en-US" sz="1800" dirty="0"/>
          </a:p>
        </p:txBody>
      </p:sp>
      <p:sp>
        <p:nvSpPr>
          <p:cNvPr id="15" name="Text 9"/>
          <p:cNvSpPr/>
          <p:nvPr/>
        </p:nvSpPr>
        <p:spPr>
          <a:xfrm>
            <a:off x="10421303" y="5059204"/>
            <a:ext cx="2717840" cy="994410"/>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Raleway Medium" pitchFamily="34" charset="0"/>
                <a:ea typeface="Raleway Medium" pitchFamily="34" charset="-122"/>
                <a:cs typeface="Raleway Medium" pitchFamily="34" charset="-120"/>
              </a:rPr>
              <a:t>Acknowledge birthdays, anniversaries, and other personal occasions</a:t>
            </a:r>
            <a:endParaRPr lang="en-US" sz="1600" dirty="0"/>
          </a:p>
        </p:txBody>
      </p:sp>
      <p:sp>
        <p:nvSpPr>
          <p:cNvPr id="16" name="Text 10"/>
          <p:cNvSpPr/>
          <p:nvPr/>
        </p:nvSpPr>
        <p:spPr>
          <a:xfrm>
            <a:off x="1491139" y="6905744"/>
            <a:ext cx="11648003" cy="662940"/>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Raleway Medium" pitchFamily="34" charset="0"/>
                <a:ea typeface="Raleway Medium" pitchFamily="34" charset="-122"/>
                <a:cs typeface="Raleway Medium" pitchFamily="34" charset="-120"/>
              </a:rPr>
              <a:t>In B2B contexts, regular client meetings and strategic check-ins demonstrate commitment and uncover new opportunities for collaboration and growth.</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603058"/>
          </a:xfrm>
          <a:prstGeom prst="rect">
            <a:avLst/>
          </a:prstGeom>
        </p:spPr>
      </p:pic>
      <p:sp>
        <p:nvSpPr>
          <p:cNvPr id="3" name="Text 0"/>
          <p:cNvSpPr/>
          <p:nvPr/>
        </p:nvSpPr>
        <p:spPr>
          <a:xfrm>
            <a:off x="3709868" y="1955721"/>
            <a:ext cx="5249228" cy="284917"/>
          </a:xfrm>
          <a:prstGeom prst="rect">
            <a:avLst/>
          </a:prstGeom>
          <a:noFill/>
          <a:ln/>
        </p:spPr>
        <p:txBody>
          <a:bodyPr wrap="none" lIns="0" tIns="0" rIns="0" bIns="0" rtlCol="0" anchor="t"/>
          <a:lstStyle/>
          <a:p>
            <a:pPr marL="0" indent="0" algn="l">
              <a:lnSpc>
                <a:spcPts val="2200"/>
              </a:lnSpc>
              <a:buNone/>
            </a:pPr>
            <a:r>
              <a:rPr lang="en-US" sz="1750" b="1" dirty="0">
                <a:solidFill>
                  <a:srgbClr val="FFE14D"/>
                </a:solidFill>
                <a:latin typeface="Comfortaa Bold" pitchFamily="34" charset="0"/>
                <a:ea typeface="Comfortaa Bold" pitchFamily="34" charset="-122"/>
                <a:cs typeface="Comfortaa Bold" pitchFamily="34" charset="-120"/>
              </a:rPr>
              <a:t>Maintain Consistency and Monitor Progress</a:t>
            </a:r>
            <a:endParaRPr lang="en-US" sz="1750" dirty="0"/>
          </a:p>
        </p:txBody>
      </p:sp>
      <p:sp>
        <p:nvSpPr>
          <p:cNvPr id="4" name="Text 1"/>
          <p:cNvSpPr/>
          <p:nvPr/>
        </p:nvSpPr>
        <p:spPr>
          <a:xfrm>
            <a:off x="3902154" y="2577108"/>
            <a:ext cx="7018377" cy="205145"/>
          </a:xfrm>
          <a:prstGeom prst="rect">
            <a:avLst/>
          </a:prstGeom>
          <a:noFill/>
          <a:ln/>
        </p:spPr>
        <p:txBody>
          <a:bodyPr wrap="none" lIns="0" tIns="0" rIns="0" bIns="0" rtlCol="0" anchor="t"/>
          <a:lstStyle/>
          <a:p>
            <a:pPr marL="0" indent="0" algn="l">
              <a:lnSpc>
                <a:spcPts val="1600"/>
              </a:lnSpc>
              <a:buNone/>
            </a:pPr>
            <a:r>
              <a:rPr lang="en-US" sz="1000" b="1" dirty="0">
                <a:solidFill>
                  <a:srgbClr val="D7D4CC"/>
                </a:solidFill>
                <a:latin typeface="Raleway Medium" pitchFamily="34" charset="0"/>
                <a:ea typeface="Raleway Medium" pitchFamily="34" charset="-122"/>
                <a:cs typeface="Raleway Medium" pitchFamily="34" charset="-120"/>
              </a:rPr>
              <a:t>Inconsistency is the greatest enemy of goodwill.</a:t>
            </a:r>
            <a:r>
              <a:rPr lang="en-US" sz="1000" dirty="0">
                <a:solidFill>
                  <a:srgbClr val="D7D4CC"/>
                </a:solidFill>
                <a:latin typeface="Raleway Medium" pitchFamily="34" charset="0"/>
                <a:ea typeface="Raleway Medium" pitchFamily="34" charset="-122"/>
                <a:cs typeface="Raleway Medium" pitchFamily="34" charset="-120"/>
              </a:rPr>
              <a:t> A consistent business becomes a trusted business.</a:t>
            </a:r>
            <a:endParaRPr lang="en-US" sz="1000" dirty="0"/>
          </a:p>
        </p:txBody>
      </p:sp>
      <p:sp>
        <p:nvSpPr>
          <p:cNvPr id="5" name="Shape 2"/>
          <p:cNvSpPr/>
          <p:nvPr/>
        </p:nvSpPr>
        <p:spPr>
          <a:xfrm>
            <a:off x="3709868" y="2432923"/>
            <a:ext cx="15240" cy="493514"/>
          </a:xfrm>
          <a:prstGeom prst="rect">
            <a:avLst/>
          </a:prstGeom>
          <a:solidFill>
            <a:srgbClr val="FFE14D"/>
          </a:solidFill>
          <a:ln/>
        </p:spPr>
      </p:sp>
      <p:sp>
        <p:nvSpPr>
          <p:cNvPr id="6" name="Shape 3"/>
          <p:cNvSpPr/>
          <p:nvPr/>
        </p:nvSpPr>
        <p:spPr>
          <a:xfrm>
            <a:off x="3709868" y="3070622"/>
            <a:ext cx="3541157" cy="2808565"/>
          </a:xfrm>
          <a:prstGeom prst="roundRect">
            <a:avLst>
              <a:gd name="adj" fmla="val 2605"/>
            </a:avLst>
          </a:prstGeom>
          <a:solidFill>
            <a:srgbClr val="27272B"/>
          </a:solidFill>
          <a:ln w="15240">
            <a:solidFill>
              <a:srgbClr val="5F5F63"/>
            </a:solidFill>
            <a:prstDash val="solid"/>
          </a:ln>
        </p:spPr>
      </p:sp>
      <p:sp>
        <p:nvSpPr>
          <p:cNvPr id="7" name="Shape 4"/>
          <p:cNvSpPr/>
          <p:nvPr/>
        </p:nvSpPr>
        <p:spPr>
          <a:xfrm>
            <a:off x="3694628" y="3070622"/>
            <a:ext cx="60960" cy="2808565"/>
          </a:xfrm>
          <a:prstGeom prst="roundRect">
            <a:avLst>
              <a:gd name="adj" fmla="val 315585"/>
            </a:avLst>
          </a:prstGeom>
          <a:solidFill>
            <a:srgbClr val="FFE14D"/>
          </a:solidFill>
          <a:ln/>
        </p:spPr>
      </p:sp>
      <p:sp>
        <p:nvSpPr>
          <p:cNvPr id="8" name="Text 5"/>
          <p:cNvSpPr/>
          <p:nvPr/>
        </p:nvSpPr>
        <p:spPr>
          <a:xfrm>
            <a:off x="3899059" y="3214092"/>
            <a:ext cx="1944172" cy="213717"/>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Ensuring Consistency</a:t>
            </a:r>
            <a:endParaRPr lang="en-US" sz="1300" dirty="0"/>
          </a:p>
        </p:txBody>
      </p:sp>
      <p:sp>
        <p:nvSpPr>
          <p:cNvPr id="9" name="Text 6"/>
          <p:cNvSpPr/>
          <p:nvPr/>
        </p:nvSpPr>
        <p:spPr>
          <a:xfrm>
            <a:off x="3899059" y="3504724"/>
            <a:ext cx="3208496"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Conduct regular quality control audits across all products and services</a:t>
            </a:r>
            <a:endParaRPr lang="en-US" sz="1000" dirty="0"/>
          </a:p>
        </p:txBody>
      </p:sp>
      <p:sp>
        <p:nvSpPr>
          <p:cNvPr id="10" name="Text 7"/>
          <p:cNvSpPr/>
          <p:nvPr/>
        </p:nvSpPr>
        <p:spPr>
          <a:xfrm>
            <a:off x="3899059" y="3959900"/>
            <a:ext cx="3208496"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Implement Standard Operating Procedures (SOPs) for all critical processes</a:t>
            </a:r>
            <a:endParaRPr lang="en-US" sz="1000" dirty="0"/>
          </a:p>
        </p:txBody>
      </p:sp>
      <p:sp>
        <p:nvSpPr>
          <p:cNvPr id="11" name="Text 8"/>
          <p:cNvSpPr/>
          <p:nvPr/>
        </p:nvSpPr>
        <p:spPr>
          <a:xfrm>
            <a:off x="3899059" y="4415076"/>
            <a:ext cx="3208496"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Train personnel thoroughly and hold them accountable to standards</a:t>
            </a:r>
            <a:endParaRPr lang="en-US" sz="1000" dirty="0"/>
          </a:p>
        </p:txBody>
      </p:sp>
      <p:sp>
        <p:nvSpPr>
          <p:cNvPr id="12" name="Text 9"/>
          <p:cNvSpPr/>
          <p:nvPr/>
        </p:nvSpPr>
        <p:spPr>
          <a:xfrm>
            <a:off x="3899059" y="4870252"/>
            <a:ext cx="3208496"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Maintain punctual delivery times without exception</a:t>
            </a:r>
            <a:endParaRPr lang="en-US" sz="1000" dirty="0"/>
          </a:p>
        </p:txBody>
      </p:sp>
      <p:sp>
        <p:nvSpPr>
          <p:cNvPr id="13" name="Text 10"/>
          <p:cNvSpPr/>
          <p:nvPr/>
        </p:nvSpPr>
        <p:spPr>
          <a:xfrm>
            <a:off x="3899059" y="5325428"/>
            <a:ext cx="3208496"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Communicate clearly and consistently with all stakeholders</a:t>
            </a:r>
            <a:endParaRPr lang="en-US" sz="1000" dirty="0"/>
          </a:p>
        </p:txBody>
      </p:sp>
      <p:sp>
        <p:nvSpPr>
          <p:cNvPr id="14" name="Shape 11"/>
          <p:cNvSpPr/>
          <p:nvPr/>
        </p:nvSpPr>
        <p:spPr>
          <a:xfrm>
            <a:off x="7379256" y="3070622"/>
            <a:ext cx="3541276" cy="2808565"/>
          </a:xfrm>
          <a:prstGeom prst="roundRect">
            <a:avLst>
              <a:gd name="adj" fmla="val 2605"/>
            </a:avLst>
          </a:prstGeom>
          <a:solidFill>
            <a:srgbClr val="27272B"/>
          </a:solidFill>
          <a:ln w="15240">
            <a:solidFill>
              <a:srgbClr val="5F5F63"/>
            </a:solidFill>
            <a:prstDash val="solid"/>
          </a:ln>
        </p:spPr>
      </p:sp>
      <p:sp>
        <p:nvSpPr>
          <p:cNvPr id="15" name="Shape 12"/>
          <p:cNvSpPr/>
          <p:nvPr/>
        </p:nvSpPr>
        <p:spPr>
          <a:xfrm>
            <a:off x="7364016" y="3070622"/>
            <a:ext cx="60960" cy="2808565"/>
          </a:xfrm>
          <a:prstGeom prst="roundRect">
            <a:avLst>
              <a:gd name="adj" fmla="val 315585"/>
            </a:avLst>
          </a:prstGeom>
          <a:solidFill>
            <a:srgbClr val="FFE14D"/>
          </a:solidFill>
          <a:ln/>
        </p:spPr>
      </p:sp>
      <p:sp>
        <p:nvSpPr>
          <p:cNvPr id="16" name="Text 13"/>
          <p:cNvSpPr/>
          <p:nvPr/>
        </p:nvSpPr>
        <p:spPr>
          <a:xfrm>
            <a:off x="7568446" y="3214092"/>
            <a:ext cx="2472333" cy="213717"/>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Key Performance Indicators</a:t>
            </a:r>
            <a:endParaRPr lang="en-US" sz="1300" dirty="0"/>
          </a:p>
        </p:txBody>
      </p:sp>
      <p:sp>
        <p:nvSpPr>
          <p:cNvPr id="17" name="Text 14"/>
          <p:cNvSpPr/>
          <p:nvPr/>
        </p:nvSpPr>
        <p:spPr>
          <a:xfrm>
            <a:off x="7568446" y="3504724"/>
            <a:ext cx="3208615"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Track sales reports over time to identify trends and patterns</a:t>
            </a:r>
            <a:endParaRPr lang="en-US" sz="1000" dirty="0"/>
          </a:p>
        </p:txBody>
      </p:sp>
      <p:sp>
        <p:nvSpPr>
          <p:cNvPr id="18" name="Text 15"/>
          <p:cNvSpPr/>
          <p:nvPr/>
        </p:nvSpPr>
        <p:spPr>
          <a:xfrm>
            <a:off x="7568446" y="3959900"/>
            <a:ext cx="3208615"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Monitor lead-to-customer conversion rates closely</a:t>
            </a:r>
            <a:endParaRPr lang="en-US" sz="1000" dirty="0"/>
          </a:p>
        </p:txBody>
      </p:sp>
      <p:sp>
        <p:nvSpPr>
          <p:cNvPr id="19" name="Text 16"/>
          <p:cNvSpPr/>
          <p:nvPr/>
        </p:nvSpPr>
        <p:spPr>
          <a:xfrm>
            <a:off x="7568446" y="4415076"/>
            <a:ext cx="3208615"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Gather regular customer satisfaction feedback through surveys</a:t>
            </a:r>
            <a:endParaRPr lang="en-US" sz="1000" dirty="0"/>
          </a:p>
        </p:txBody>
      </p:sp>
      <p:sp>
        <p:nvSpPr>
          <p:cNvPr id="20" name="Text 17"/>
          <p:cNvSpPr/>
          <p:nvPr/>
        </p:nvSpPr>
        <p:spPr>
          <a:xfrm>
            <a:off x="7568446" y="4870252"/>
            <a:ext cx="3208615"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Analyse customer repurchase rates and lifetime value</a:t>
            </a:r>
            <a:endParaRPr lang="en-US" sz="1000" dirty="0"/>
          </a:p>
        </p:txBody>
      </p:sp>
      <p:sp>
        <p:nvSpPr>
          <p:cNvPr id="21" name="Text 18"/>
          <p:cNvSpPr/>
          <p:nvPr/>
        </p:nvSpPr>
        <p:spPr>
          <a:xfrm>
            <a:off x="7568446" y="5325428"/>
            <a:ext cx="3208615" cy="41028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Assess market perception through reviews and social listening</a:t>
            </a:r>
            <a:endParaRPr lang="en-US" sz="1000" dirty="0"/>
          </a:p>
        </p:txBody>
      </p:sp>
      <p:sp>
        <p:nvSpPr>
          <p:cNvPr id="22" name="Shape 19"/>
          <p:cNvSpPr/>
          <p:nvPr/>
        </p:nvSpPr>
        <p:spPr>
          <a:xfrm>
            <a:off x="3709868" y="6087463"/>
            <a:ext cx="7210663" cy="23574"/>
          </a:xfrm>
          <a:prstGeom prst="rect">
            <a:avLst/>
          </a:prstGeom>
          <a:solidFill>
            <a:srgbClr val="D7D4CC">
              <a:alpha val="50000"/>
            </a:srgbClr>
          </a:solidFill>
          <a:ln/>
        </p:spPr>
      </p:sp>
      <p:sp>
        <p:nvSpPr>
          <p:cNvPr id="23" name="Text 20"/>
          <p:cNvSpPr/>
          <p:nvPr/>
        </p:nvSpPr>
        <p:spPr>
          <a:xfrm>
            <a:off x="3709868" y="6303288"/>
            <a:ext cx="1709976" cy="213717"/>
          </a:xfrm>
          <a:prstGeom prst="rect">
            <a:avLst/>
          </a:prstGeom>
          <a:noFill/>
          <a:ln/>
        </p:spPr>
        <p:txBody>
          <a:bodyPr wrap="none" lIns="0" tIns="0" rIns="0" bIns="0" rtlCol="0" anchor="t"/>
          <a:lstStyle/>
          <a:p>
            <a:pPr marL="0" indent="0" algn="l">
              <a:lnSpc>
                <a:spcPts val="1650"/>
              </a:lnSpc>
              <a:buNone/>
            </a:pPr>
            <a:r>
              <a:rPr lang="en-US" sz="1300" b="1" dirty="0">
                <a:solidFill>
                  <a:srgbClr val="FFE14D"/>
                </a:solidFill>
                <a:latin typeface="Comfortaa Bold" pitchFamily="34" charset="0"/>
                <a:ea typeface="Comfortaa Bold" pitchFamily="34" charset="-122"/>
                <a:cs typeface="Comfortaa Bold" pitchFamily="34" charset="-120"/>
              </a:rPr>
              <a:t>Final Thoughts</a:t>
            </a:r>
            <a:endParaRPr lang="en-US" sz="1300" dirty="0"/>
          </a:p>
        </p:txBody>
      </p:sp>
      <p:sp>
        <p:nvSpPr>
          <p:cNvPr id="24" name="Text 21"/>
          <p:cNvSpPr/>
          <p:nvPr/>
        </p:nvSpPr>
        <p:spPr>
          <a:xfrm>
            <a:off x="3709868" y="6709291"/>
            <a:ext cx="7210663" cy="615434"/>
          </a:xfrm>
          <a:prstGeom prst="rect">
            <a:avLst/>
          </a:prstGeom>
          <a:noFill/>
          <a:ln/>
        </p:spPr>
        <p:txBody>
          <a:bodyPr wrap="square" lIns="0" tIns="0" rIns="0" bIns="0" rtlCol="0" anchor="t"/>
          <a:lstStyle/>
          <a:p>
            <a:pPr marL="0" indent="0" algn="l">
              <a:lnSpc>
                <a:spcPts val="1600"/>
              </a:lnSpc>
              <a:buNone/>
            </a:pPr>
            <a:r>
              <a:rPr lang="en-US" sz="1000" dirty="0">
                <a:solidFill>
                  <a:srgbClr val="D7D4CC"/>
                </a:solidFill>
                <a:latin typeface="Raleway Medium" pitchFamily="34" charset="0"/>
                <a:ea typeface="Raleway Medium" pitchFamily="34" charset="-122"/>
                <a:cs typeface="Raleway Medium" pitchFamily="34" charset="-120"/>
              </a:rPr>
              <a:t>Whilst realising product sales matters tremendously, generating market goodwill guarantees your business's long-term survival. When customers trust your brand, recommend it enthusiastically, and return repeatedly, you've built a powerful engine for sustainable success.</a:t>
            </a:r>
            <a:endParaRPr lang="en-US" sz="1000" dirty="0"/>
          </a:p>
        </p:txBody>
      </p:sp>
      <p:sp>
        <p:nvSpPr>
          <p:cNvPr id="25" name="Text 22"/>
          <p:cNvSpPr/>
          <p:nvPr/>
        </p:nvSpPr>
        <p:spPr>
          <a:xfrm>
            <a:off x="3709868" y="7468910"/>
            <a:ext cx="7210663" cy="410289"/>
          </a:xfrm>
          <a:prstGeom prst="rect">
            <a:avLst/>
          </a:prstGeom>
          <a:noFill/>
          <a:ln/>
        </p:spPr>
        <p:txBody>
          <a:bodyPr wrap="square" lIns="0" tIns="0" rIns="0" bIns="0" rtlCol="0" anchor="t"/>
          <a:lstStyle/>
          <a:p>
            <a:pPr marL="0" indent="0" algn="l">
              <a:lnSpc>
                <a:spcPts val="1600"/>
              </a:lnSpc>
              <a:buNone/>
            </a:pPr>
            <a:r>
              <a:rPr lang="en-US" sz="1000" dirty="0">
                <a:solidFill>
                  <a:srgbClr val="D7D4CC"/>
                </a:solidFill>
                <a:latin typeface="Raleway Medium" pitchFamily="34" charset="0"/>
                <a:ea typeface="Raleway Medium" pitchFamily="34" charset="-122"/>
                <a:cs typeface="Raleway Medium" pitchFamily="34" charset="-120"/>
              </a:rPr>
              <a:t>Combine value-driven products, strong branding, intelligent marketing, excellent customer service, and continuous improvement—and you can always expect steady growth in both sales and goodwill.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1148</Words>
  <Application>Microsoft Office PowerPoint</Application>
  <PresentationFormat>Custom</PresentationFormat>
  <Paragraphs>127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Comfortaa Bold</vt:lpstr>
      <vt:lpstr>Comfortaa Light</vt:lpstr>
      <vt:lpstr>Raleway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Jyotirmay Mohanty</cp:lastModifiedBy>
  <cp:revision>2</cp:revision>
  <dcterms:created xsi:type="dcterms:W3CDTF">2026-01-13T13:39:14Z</dcterms:created>
  <dcterms:modified xsi:type="dcterms:W3CDTF">2026-01-13T14:25:25Z</dcterms:modified>
</cp:coreProperties>
</file>
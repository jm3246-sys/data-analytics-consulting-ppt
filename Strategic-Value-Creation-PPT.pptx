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Kanit Light" panose="020B0604020202020204" charset="-34"/>
      <p:regular r:id="rId6"/>
    </p:embeddedFont>
    <p:embeddedFont>
      <p:font typeface="Martel Sans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05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34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3057" y="505301"/>
            <a:ext cx="7181374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Value Creation Through Qualitative Synergies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643057" y="1057632"/>
            <a:ext cx="7857887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Mergers and acquisitions create value beyond financial metrics. While quantitative synergies capture cost savings and revenue enhancements, qualitative synergies unlock strategic advantages that drive long-term competitive positioning and organizational excellence.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3057" y="1764863"/>
            <a:ext cx="7857887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analysis examines four critical categories of qualitative synergies that transform M&amp;A transactions into strategic growth opportunities: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3057" y="2281118"/>
            <a:ext cx="7857887" cy="1180862"/>
          </a:xfrm>
          <a:prstGeom prst="roundRect">
            <a:avLst>
              <a:gd name="adj" fmla="val 42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0096" y="2408158"/>
            <a:ext cx="358259" cy="358259"/>
          </a:xfrm>
          <a:prstGeom prst="roundRect">
            <a:avLst>
              <a:gd name="adj" fmla="val 25520882"/>
            </a:avLst>
          </a:prstGeom>
          <a:solidFill>
            <a:srgbClr val="43706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" y="2506623"/>
            <a:ext cx="161211" cy="1612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0096" y="2885837"/>
            <a:ext cx="1620083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Innovation &amp; Technology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0096" y="3143964"/>
            <a:ext cx="760380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Enhanced R&amp;D capabilities and accelerated product development cycles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3057" y="3581400"/>
            <a:ext cx="7857887" cy="1180862"/>
          </a:xfrm>
          <a:prstGeom prst="roundRect">
            <a:avLst>
              <a:gd name="adj" fmla="val 42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0096" y="3708440"/>
            <a:ext cx="358259" cy="358259"/>
          </a:xfrm>
          <a:prstGeom prst="roundRect">
            <a:avLst>
              <a:gd name="adj" fmla="val 25520882"/>
            </a:avLst>
          </a:prstGeom>
          <a:solidFill>
            <a:srgbClr val="43706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561" y="3806904"/>
            <a:ext cx="161211" cy="1612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0096" y="4186118"/>
            <a:ext cx="1492925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Position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70096" y="4444246"/>
            <a:ext cx="760380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Expanded market reach and strengthened competitive advantages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43057" y="4881682"/>
            <a:ext cx="7857887" cy="1180862"/>
          </a:xfrm>
          <a:prstGeom prst="roundRect">
            <a:avLst>
              <a:gd name="adj" fmla="val 42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0096" y="5008721"/>
            <a:ext cx="358259" cy="358259"/>
          </a:xfrm>
          <a:prstGeom prst="roundRect">
            <a:avLst>
              <a:gd name="adj" fmla="val 25520882"/>
            </a:avLst>
          </a:prstGeom>
          <a:solidFill>
            <a:srgbClr val="43706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561" y="5107186"/>
            <a:ext cx="161211" cy="16121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0096" y="5486400"/>
            <a:ext cx="1492925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Talent &amp; Culture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70096" y="5744528"/>
            <a:ext cx="760380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 to specialized expertise and organizational capability building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43057" y="6181963"/>
            <a:ext cx="7857887" cy="1180862"/>
          </a:xfrm>
          <a:prstGeom prst="roundRect">
            <a:avLst>
              <a:gd name="adj" fmla="val 42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0096" y="6309003"/>
            <a:ext cx="358259" cy="358259"/>
          </a:xfrm>
          <a:prstGeom prst="roundRect">
            <a:avLst>
              <a:gd name="adj" fmla="val 25520882"/>
            </a:avLst>
          </a:prstGeom>
          <a:solidFill>
            <a:srgbClr val="437066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561" y="6407468"/>
            <a:ext cx="161211" cy="16121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0096" y="6786682"/>
            <a:ext cx="1492925" cy="186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Partnerships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770096" y="7044809"/>
            <a:ext cx="760380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Enhanced vendor relationships and customer loyalty integration</a:t>
            </a:r>
            <a:endParaRPr lang="en-US" sz="9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057" y="7497128"/>
            <a:ext cx="903208" cy="2309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5315"/>
            <a:ext cx="8501658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Innovation Leadership &amp; Market Dominance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2241" y="1620917"/>
            <a:ext cx="4448889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Innovation &amp; Technology Acceleration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2241" y="2134910"/>
            <a:ext cx="6314837" cy="114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Combining complementary R&amp;D capabilities creates a powerhouse of innovation, reducing time-to-market and expanding intellectual property portfolios. Access to proprietary technologies and cross-pollination of engineering talent drives breakthrough product development.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2241" y="3440192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Shared R&amp;D infrastructure cuts development costs by 30-40%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2241" y="3788807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Combined patent portfolios strengthen competitive moats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2241" y="4137422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Faster innovation cycles through knowledge transfer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2241" y="4486037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Enhanced digital transformation capabilities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40942" y="1620917"/>
            <a:ext cx="390620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Position &amp; Brand Strength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40942" y="2134910"/>
            <a:ext cx="6314837" cy="114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Strategic combinations amplify market presence and create dominant category positions. Geographic expansion and complementary customer bases unlock new revenue streams while strengthening pricing power and brand equity across segments.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40942" y="3440192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Expanded geographic footprint with local market expertise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0942" y="3788807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Cross-selling opportunities to combined customer 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0942" y="4137422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Enhanced brand portfolio spanning multiple price 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0942" y="4486037"/>
            <a:ext cx="63148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negotiating leverage with key stakeholders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41" y="5035748"/>
            <a:ext cx="4355306" cy="715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953" y="5929670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R&amp;D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60953" y="6316266"/>
            <a:ext cx="3997881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Combined research capabilities accelerate breakthrough innovations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547" y="5035748"/>
            <a:ext cx="4355306" cy="7152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16260" y="5929670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Faster Time-to-Market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5316260" y="6316266"/>
            <a:ext cx="3997881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Streamlined development processes shorten product launch cycles</a:t>
            </a:r>
            <a:endParaRPr lang="en-US" sz="1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853" y="5035748"/>
            <a:ext cx="4355306" cy="7152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71566" y="5929670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Leadership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9671566" y="6316266"/>
            <a:ext cx="3997881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Dominant competitive position drives sustainable growth</a:t>
            </a:r>
            <a:endParaRPr lang="en-US" sz="1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241" y="7268289"/>
            <a:ext cx="1352193" cy="3458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4262"/>
            <a:ext cx="91481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Building Sustainable Competitive Advantages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94140"/>
            <a:ext cx="6430685" cy="4023360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717000"/>
            <a:ext cx="6384965" cy="544354"/>
          </a:xfrm>
          <a:prstGeom prst="roundRect">
            <a:avLst>
              <a:gd name="adj" fmla="val 8961"/>
            </a:avLst>
          </a:prstGeom>
          <a:solidFill>
            <a:srgbClr val="DFEC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984" y="1849160"/>
            <a:ext cx="272177" cy="272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8101" y="2442805"/>
            <a:ext cx="42794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Talent &amp; Organizational Capabilities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98101" y="2891790"/>
            <a:ext cx="6022062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Merging organizations gain access to specialized skill sets and leadership talent that would take years to develop organically. Cultural integration creates a stronger, more diverse workforce with enhanced problem-solving capabilities.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8101" y="4161711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 to specialized expertise in niche domains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8101" y="4515445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Retention of key technical and leadership talent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8101" y="4869180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Enhanced employer brand attracting top-tier candidates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98101" y="5222915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Stronger organizational culture through best practice sharing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5926" y="1694140"/>
            <a:ext cx="6430685" cy="4023360"/>
          </a:xfrm>
          <a:prstGeom prst="roundRect">
            <a:avLst>
              <a:gd name="adj" fmla="val 189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28786" y="1717000"/>
            <a:ext cx="6384965" cy="544354"/>
          </a:xfrm>
          <a:prstGeom prst="roundRect">
            <a:avLst>
              <a:gd name="adj" fmla="val 8961"/>
            </a:avLst>
          </a:prstGeom>
          <a:solidFill>
            <a:srgbClr val="DFECE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85120" y="1849160"/>
            <a:ext cx="272177" cy="27217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0237" y="2442805"/>
            <a:ext cx="432601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Strategic Relationships &amp; Ecosystem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610237" y="2891790"/>
            <a:ext cx="6022062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Combined entities inherit valuable partner networks and customer relationships that provide strategic advantages. Enhanced negotiating power with suppliers and deeper integration with key customers create sustainable competitive moats.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610237" y="4161711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Strengthened supplier relationships and preferential terms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610237" y="4515445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Expanded distribution channels and partner networks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610237" y="4869180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Deeper customer relationships with broader solution offerings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610237" y="5222915"/>
            <a:ext cx="6022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Enhanced reputation and industry credibility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65967" y="6125647"/>
            <a:ext cx="1277064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"The true value of strategic M&amp;A lies not just in cost synergies, but in the intangible assets that create lasting competitive differentiation and drive sustainable growth."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93790" y="5921573"/>
            <a:ext cx="22860" cy="988695"/>
          </a:xfrm>
          <a:prstGeom prst="rect">
            <a:avLst/>
          </a:prstGeom>
          <a:solidFill>
            <a:srgbClr val="43706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7114342"/>
            <a:ext cx="1372195" cy="350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Custom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Jyotirmay Mohanty</cp:lastModifiedBy>
  <cp:revision>3</cp:revision>
  <dcterms:created xsi:type="dcterms:W3CDTF">2025-12-02T05:33:42Z</dcterms:created>
  <dcterms:modified xsi:type="dcterms:W3CDTF">2025-12-04T06:51:51Z</dcterms:modified>
</cp:coreProperties>
</file>
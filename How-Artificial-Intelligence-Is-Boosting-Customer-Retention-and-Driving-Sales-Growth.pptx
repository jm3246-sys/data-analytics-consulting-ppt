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Comfortaa"/>
      <p:regular r:id="rId17"/>
    </p:embeddedFont>
    <p:embeddedFont>
      <p:font typeface="Comfortaa"/>
      <p:regular r:id="rId18"/>
    </p:embeddedFont>
    <p:embeddedFont>
      <p:font typeface="Raleway Medium"/>
      <p:regular r:id="rId19"/>
    </p:embeddedFont>
    <p:embeddedFont>
      <p:font typeface="Raleway Medium"/>
      <p:regular r:id="rId20"/>
    </p:embeddedFont>
    <p:embeddedFont>
      <p:font typeface="Raleway Medium"/>
      <p:regular r:id="rId21"/>
    </p:embeddedFont>
    <p:embeddedFont>
      <p:font typeface="Raleway Medium"/>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E14D"/>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7272B"/>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E14D"/>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FFE14D"/>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E14D"/>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section-2" TargetMode="External"/><Relationship Id="rId5" Type="http://schemas.openxmlformats.org/officeDocument/2006/relationships/hyperlink" Target="#section-10" TargetMode="External"/><Relationship Id="rId1" Type="http://schemas.openxmlformats.org/officeDocument/2006/relationships/image" Target="../media/image-1-1.png"/><Relationship Id="rId2" Type="http://schemas.openxmlformats.org/officeDocument/2006/relationships/image" Target="../media/image-1-2.png"/><Relationship Id="rId4" Type="http://schemas.openxmlformats.org/officeDocument/2006/relationships/image" Target="../media/image-1-3.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slideLayout" Target="../slideLayouts/slideLayout9.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7272B">
              <a:alpha val="80000"/>
            </a:srgbClr>
          </a:solidFill>
          <a:ln/>
        </p:spPr>
      </p:sp>
      <p:sp>
        <p:nvSpPr>
          <p:cNvPr id="4" name="Text 1"/>
          <p:cNvSpPr/>
          <p:nvPr/>
        </p:nvSpPr>
        <p:spPr>
          <a:xfrm>
            <a:off x="864037" y="1830110"/>
            <a:ext cx="12902327" cy="2057400"/>
          </a:xfrm>
          <a:prstGeom prst="rect">
            <a:avLst/>
          </a:prstGeom>
          <a:noFill/>
          <a:ln/>
        </p:spPr>
        <p:txBody>
          <a:bodyPr wrap="square" lIns="0" tIns="0" rIns="0" bIns="0" rtlCol="0" anchor="t"/>
          <a:lstStyle/>
          <a:p>
            <a:pPr algn="l" indent="0" marL="0">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How Artificial Intelligence Is Boosting Customer Retention and Driving Sales Growth</a:t>
            </a:r>
            <a:endParaRPr lang="en-US" sz="4300" dirty="0"/>
          </a:p>
        </p:txBody>
      </p:sp>
      <p:sp>
        <p:nvSpPr>
          <p:cNvPr id="5" name="Text 2"/>
          <p:cNvSpPr/>
          <p:nvPr/>
        </p:nvSpPr>
        <p:spPr>
          <a:xfrm>
            <a:off x="864037" y="4257794"/>
            <a:ext cx="12902327" cy="1185148"/>
          </a:xfrm>
          <a:prstGeom prst="rect">
            <a:avLst/>
          </a:prstGeom>
          <a:noFill/>
          <a:ln/>
        </p:spPr>
        <p:txBody>
          <a:bodyPr wrap="square" lIns="0" tIns="0" rIns="0" bIns="0" rtlCol="0" anchor="t"/>
          <a:lstStyle/>
          <a:p>
            <a:pPr algn="l" indent="0" marL="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In today's cutthroat digital market, retaining current clients and raising their lifetime value is what really propels long-term company growth. Artificial Intelligence is revolutionising customer engagement, experience personalisation, and sales strategy optimisation for forward-thinking businesses.</a:t>
            </a:r>
            <a:endParaRPr lang="en-US" sz="1900" dirty="0"/>
          </a:p>
        </p:txBody>
      </p:sp>
      <p:pic>
        <p:nvPicPr>
          <p:cNvPr id="6" name="Image 1" descr="preencoded.png">
            <a:hlinkClick r:id="rId3" tooltip=""/>
          </p:cNvPr>
          <p:cNvPicPr>
            <a:picLocks noChangeAspect="1"/>
          </p:cNvPicPr>
          <p:nvPr/>
        </p:nvPicPr>
        <p:blipFill>
          <a:blip r:embed="rId2"/>
          <a:stretch>
            <a:fillRect/>
          </a:stretch>
        </p:blipFill>
        <p:spPr>
          <a:xfrm>
            <a:off x="864037" y="5720596"/>
            <a:ext cx="2809280" cy="678894"/>
          </a:xfrm>
          <a:prstGeom prst="rect">
            <a:avLst/>
          </a:prstGeom>
        </p:spPr>
      </p:pic>
      <p:pic>
        <p:nvPicPr>
          <p:cNvPr id="7" name="Image 2" descr="preencoded.png">
            <a:hlinkClick r:id="rId5" tooltip=""/>
          </p:cNvPr>
          <p:cNvPicPr>
            <a:picLocks noChangeAspect="1"/>
          </p:cNvPicPr>
          <p:nvPr/>
        </p:nvPicPr>
        <p:blipFill>
          <a:blip r:embed="rId4"/>
          <a:stretch>
            <a:fillRect/>
          </a:stretch>
        </p:blipFill>
        <p:spPr>
          <a:xfrm>
            <a:off x="3796665" y="5720596"/>
            <a:ext cx="2586395" cy="67889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Shape 0"/>
          <p:cNvSpPr/>
          <p:nvPr/>
        </p:nvSpPr>
        <p:spPr>
          <a:xfrm>
            <a:off x="864037" y="788075"/>
            <a:ext cx="2732484" cy="464106"/>
          </a:xfrm>
          <a:prstGeom prst="roundRect">
            <a:avLst>
              <a:gd name="adj" fmla="val 63836"/>
            </a:avLst>
          </a:prstGeom>
          <a:solidFill>
            <a:srgbClr val="4D4000"/>
          </a:solidFill>
          <a:ln/>
        </p:spPr>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12150" y="921425"/>
            <a:ext cx="197406" cy="197406"/>
          </a:xfrm>
          <a:prstGeom prst="rect">
            <a:avLst/>
          </a:prstGeom>
        </p:spPr>
      </p:pic>
      <p:sp>
        <p:nvSpPr>
          <p:cNvPr id="5" name="Text 1"/>
          <p:cNvSpPr/>
          <p:nvPr/>
        </p:nvSpPr>
        <p:spPr>
          <a:xfrm>
            <a:off x="1308259" y="862132"/>
            <a:ext cx="2140148" cy="315992"/>
          </a:xfrm>
          <a:prstGeom prst="rect">
            <a:avLst/>
          </a:prstGeom>
          <a:noFill/>
          <a:ln/>
        </p:spPr>
        <p:txBody>
          <a:bodyPr wrap="none" lIns="0" tIns="0" rIns="0" bIns="0" rtlCol="0" anchor="t"/>
          <a:lstStyle/>
          <a:p>
            <a:pPr algn="l" indent="0" marL="0">
              <a:lnSpc>
                <a:spcPts val="2450"/>
              </a:lnSpc>
              <a:buNone/>
            </a:pPr>
            <a:r>
              <a:rPr lang="en-US" sz="1550" dirty="0">
                <a:solidFill>
                  <a:srgbClr val="D7D4CC"/>
                </a:solidFill>
                <a:latin typeface="Raleway Medium" pitchFamily="34" charset="0"/>
                <a:ea typeface="Raleway Medium" pitchFamily="34" charset="-122"/>
                <a:cs typeface="Raleway Medium" pitchFamily="34" charset="-120"/>
              </a:rPr>
              <a:t>STRATEGIC OVERVIEW</a:t>
            </a:r>
            <a:endParaRPr lang="en-US" sz="1550" dirty="0"/>
          </a:p>
        </p:txBody>
      </p:sp>
      <p:sp>
        <p:nvSpPr>
          <p:cNvPr id="6" name="Text 2"/>
          <p:cNvSpPr/>
          <p:nvPr/>
        </p:nvSpPr>
        <p:spPr>
          <a:xfrm>
            <a:off x="864037" y="1350883"/>
            <a:ext cx="7415927" cy="1097042"/>
          </a:xfrm>
          <a:prstGeom prst="rect">
            <a:avLst/>
          </a:prstGeom>
          <a:noFill/>
          <a:ln/>
        </p:spPr>
        <p:txBody>
          <a:bodyPr wrap="square" lIns="0" tIns="0" rIns="0" bIns="0" rtlCol="0" anchor="t"/>
          <a:lstStyle/>
          <a:p>
            <a:pPr algn="l" indent="0" marL="0">
              <a:lnSpc>
                <a:spcPts val="4300"/>
              </a:lnSpc>
              <a:buNone/>
            </a:pPr>
            <a:r>
              <a:rPr lang="en-US" sz="3450" b="1" dirty="0">
                <a:solidFill>
                  <a:srgbClr val="FFE14D"/>
                </a:solidFill>
                <a:latin typeface="Comfortaa Bold" pitchFamily="34" charset="0"/>
                <a:ea typeface="Comfortaa Bold" pitchFamily="34" charset="-122"/>
                <a:cs typeface="Comfortaa Bold" pitchFamily="34" charset="-120"/>
              </a:rPr>
              <a:t>Why AI Will Revolutionise Sales and Customer Retention</a:t>
            </a:r>
            <a:endParaRPr lang="en-US" sz="3450" dirty="0"/>
          </a:p>
        </p:txBody>
      </p:sp>
      <p:sp>
        <p:nvSpPr>
          <p:cNvPr id="7" name="Text 3"/>
          <p:cNvSpPr/>
          <p:nvPr/>
        </p:nvSpPr>
        <p:spPr>
          <a:xfrm>
            <a:off x="864037" y="2818209"/>
            <a:ext cx="7415927" cy="2370296"/>
          </a:xfrm>
          <a:prstGeom prst="rect">
            <a:avLst/>
          </a:prstGeom>
          <a:noFill/>
          <a:ln/>
        </p:spPr>
        <p:txBody>
          <a:bodyPr wrap="square" lIns="0" tIns="0" rIns="0" bIns="0" rtlCol="0" anchor="t"/>
          <a:lstStyle/>
          <a:p>
            <a:pPr algn="l" indent="0" marL="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AI helps brands create enduring relationships and boost revenue at scale through personalised recommendations and predictive analytics. Businesses can transition from reactive to predictive and customised engagement, understanding customer behaviour in real-time whilst identifying needs before problems occur.</a:t>
            </a:r>
            <a:endParaRPr lang="en-US" sz="1900" dirty="0"/>
          </a:p>
        </p:txBody>
      </p:sp>
      <p:sp>
        <p:nvSpPr>
          <p:cNvPr id="8" name="Text 4"/>
          <p:cNvSpPr/>
          <p:nvPr/>
        </p:nvSpPr>
        <p:spPr>
          <a:xfrm>
            <a:off x="864037" y="5466159"/>
            <a:ext cx="7415927" cy="1975247"/>
          </a:xfrm>
          <a:prstGeom prst="rect">
            <a:avLst/>
          </a:prstGeom>
          <a:noFill/>
          <a:ln/>
        </p:spPr>
        <p:txBody>
          <a:bodyPr wrap="square" lIns="0" tIns="0" rIns="0" bIns="0" rtlCol="0" anchor="t"/>
          <a:lstStyle/>
          <a:p>
            <a:pPr algn="l" indent="0" marL="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The technology provides individualised experiences on a large scale whilst efficiently automating marketing and sales processes. The results speak for themselves: higher retention rates, greater customer loyalty, and dramatically improved sales conversions across all channels.</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15697" y="898922"/>
            <a:ext cx="12418338" cy="517922"/>
          </a:xfrm>
          <a:prstGeom prst="rect">
            <a:avLst/>
          </a:prstGeom>
          <a:noFill/>
          <a:ln/>
        </p:spPr>
        <p:txBody>
          <a:bodyPr wrap="none" lIns="0" tIns="0" rIns="0" bIns="0" rtlCol="0" anchor="t"/>
          <a:lstStyle/>
          <a:p>
            <a:pPr algn="l" indent="0" marL="0">
              <a:lnSpc>
                <a:spcPts val="4050"/>
              </a:lnSpc>
              <a:buNone/>
            </a:pPr>
            <a:r>
              <a:rPr lang="en-US" sz="3250" b="1" dirty="0">
                <a:solidFill>
                  <a:srgbClr val="FFE14D"/>
                </a:solidFill>
                <a:latin typeface="Comfortaa Bold" pitchFamily="34" charset="0"/>
                <a:ea typeface="Comfortaa Bold" pitchFamily="34" charset="-122"/>
                <a:cs typeface="Comfortaa Bold" pitchFamily="34" charset="-120"/>
              </a:rPr>
              <a:t>Core AI Capabilities Transforming Customer Engagement</a:t>
            </a:r>
            <a:endParaRPr lang="en-US" sz="3250" dirty="0"/>
          </a:p>
        </p:txBody>
      </p:sp>
      <p:sp>
        <p:nvSpPr>
          <p:cNvPr id="3" name="Shape 1"/>
          <p:cNvSpPr/>
          <p:nvPr/>
        </p:nvSpPr>
        <p:spPr>
          <a:xfrm>
            <a:off x="815697" y="1882973"/>
            <a:ext cx="6382941" cy="2607350"/>
          </a:xfrm>
          <a:prstGeom prst="roundRect">
            <a:avLst>
              <a:gd name="adj" fmla="val 13409"/>
            </a:avLst>
          </a:prstGeom>
          <a:solidFill>
            <a:srgbClr val="46464A"/>
          </a:solidFill>
          <a:ln/>
        </p:spPr>
      </p:sp>
      <p:sp>
        <p:nvSpPr>
          <p:cNvPr id="4" name="Shape 2"/>
          <p:cNvSpPr/>
          <p:nvPr/>
        </p:nvSpPr>
        <p:spPr>
          <a:xfrm>
            <a:off x="1048703" y="2115979"/>
            <a:ext cx="699135" cy="699135"/>
          </a:xfrm>
          <a:prstGeom prst="roundRect">
            <a:avLst>
              <a:gd name="adj" fmla="val 13077711"/>
            </a:avLst>
          </a:prstGeom>
          <a:solidFill>
            <a:srgbClr val="FFE14D"/>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40988" y="2308146"/>
            <a:ext cx="314563" cy="314563"/>
          </a:xfrm>
          <a:prstGeom prst="rect">
            <a:avLst/>
          </a:prstGeom>
        </p:spPr>
      </p:pic>
      <p:sp>
        <p:nvSpPr>
          <p:cNvPr id="6" name="Text 3"/>
          <p:cNvSpPr/>
          <p:nvPr/>
        </p:nvSpPr>
        <p:spPr>
          <a:xfrm>
            <a:off x="1048703" y="3048119"/>
            <a:ext cx="3944541" cy="323612"/>
          </a:xfrm>
          <a:prstGeom prst="rect">
            <a:avLst/>
          </a:prstGeom>
          <a:noFill/>
          <a:ln/>
        </p:spPr>
        <p:txBody>
          <a:bodyPr wrap="none" lIns="0" tIns="0" rIns="0" bIns="0" rtlCol="0" anchor="t"/>
          <a:lstStyle/>
          <a:p>
            <a:pPr algn="l" indent="0" marL="0">
              <a:lnSpc>
                <a:spcPts val="2500"/>
              </a:lnSpc>
              <a:buNone/>
            </a:pPr>
            <a:r>
              <a:rPr lang="en-US" sz="2000" b="1" dirty="0">
                <a:solidFill>
                  <a:srgbClr val="D7D4CC"/>
                </a:solidFill>
                <a:latin typeface="Comfortaa Bold" pitchFamily="34" charset="0"/>
                <a:ea typeface="Comfortaa Bold" pitchFamily="34" charset="-122"/>
                <a:cs typeface="Comfortaa Bold" pitchFamily="34" charset="-120"/>
              </a:rPr>
              <a:t>Real-Time Behaviour Analysis</a:t>
            </a:r>
            <a:endParaRPr lang="en-US" sz="2000" dirty="0"/>
          </a:p>
        </p:txBody>
      </p:sp>
      <p:sp>
        <p:nvSpPr>
          <p:cNvPr id="7" name="Text 4"/>
          <p:cNvSpPr/>
          <p:nvPr/>
        </p:nvSpPr>
        <p:spPr>
          <a:xfrm>
            <a:off x="1048703" y="3511510"/>
            <a:ext cx="5916930" cy="745808"/>
          </a:xfrm>
          <a:prstGeom prst="rect">
            <a:avLst/>
          </a:prstGeom>
          <a:noFill/>
          <a:ln/>
        </p:spPr>
        <p:txBody>
          <a:bodyPr wrap="square" lIns="0" tIns="0" rIns="0" bIns="0" rtlCol="0" anchor="t"/>
          <a:lstStyle/>
          <a:p>
            <a:pPr algn="l" indent="0" marL="0">
              <a:lnSpc>
                <a:spcPts val="2900"/>
              </a:lnSpc>
              <a:buNone/>
            </a:pPr>
            <a:r>
              <a:rPr lang="en-US" sz="1800" dirty="0">
                <a:solidFill>
                  <a:srgbClr val="D7D4CC"/>
                </a:solidFill>
                <a:latin typeface="Raleway Medium" pitchFamily="34" charset="0"/>
                <a:ea typeface="Raleway Medium" pitchFamily="34" charset="-122"/>
                <a:cs typeface="Raleway Medium" pitchFamily="34" charset="-120"/>
              </a:rPr>
              <a:t>Understand customer actions and preferences as they happen across all touchpoints</a:t>
            </a:r>
            <a:endParaRPr lang="en-US" sz="1800" dirty="0"/>
          </a:p>
        </p:txBody>
      </p:sp>
      <p:sp>
        <p:nvSpPr>
          <p:cNvPr id="8" name="Shape 5"/>
          <p:cNvSpPr/>
          <p:nvPr/>
        </p:nvSpPr>
        <p:spPr>
          <a:xfrm>
            <a:off x="7431643" y="1882973"/>
            <a:ext cx="6383060" cy="2607350"/>
          </a:xfrm>
          <a:prstGeom prst="roundRect">
            <a:avLst>
              <a:gd name="adj" fmla="val 13409"/>
            </a:avLst>
          </a:prstGeom>
          <a:solidFill>
            <a:srgbClr val="46464A"/>
          </a:solidFill>
          <a:ln/>
        </p:spPr>
      </p:sp>
      <p:sp>
        <p:nvSpPr>
          <p:cNvPr id="9" name="Shape 6"/>
          <p:cNvSpPr/>
          <p:nvPr/>
        </p:nvSpPr>
        <p:spPr>
          <a:xfrm>
            <a:off x="7664648" y="2115979"/>
            <a:ext cx="699135" cy="699135"/>
          </a:xfrm>
          <a:prstGeom prst="roundRect">
            <a:avLst>
              <a:gd name="adj" fmla="val 13077711"/>
            </a:avLst>
          </a:prstGeom>
          <a:solidFill>
            <a:srgbClr val="FFE14D"/>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56934" y="2308146"/>
            <a:ext cx="314563" cy="314563"/>
          </a:xfrm>
          <a:prstGeom prst="rect">
            <a:avLst/>
          </a:prstGeom>
        </p:spPr>
      </p:pic>
      <p:sp>
        <p:nvSpPr>
          <p:cNvPr id="11" name="Text 7"/>
          <p:cNvSpPr/>
          <p:nvPr/>
        </p:nvSpPr>
        <p:spPr>
          <a:xfrm>
            <a:off x="7664648" y="3048119"/>
            <a:ext cx="2984778" cy="323612"/>
          </a:xfrm>
          <a:prstGeom prst="rect">
            <a:avLst/>
          </a:prstGeom>
          <a:noFill/>
          <a:ln/>
        </p:spPr>
        <p:txBody>
          <a:bodyPr wrap="none" lIns="0" tIns="0" rIns="0" bIns="0" rtlCol="0" anchor="t"/>
          <a:lstStyle/>
          <a:p>
            <a:pPr algn="l" indent="0" marL="0">
              <a:lnSpc>
                <a:spcPts val="2500"/>
              </a:lnSpc>
              <a:buNone/>
            </a:pPr>
            <a:r>
              <a:rPr lang="en-US" sz="2000" b="1" dirty="0">
                <a:solidFill>
                  <a:srgbClr val="D7D4CC"/>
                </a:solidFill>
                <a:latin typeface="Comfortaa Bold" pitchFamily="34" charset="0"/>
                <a:ea typeface="Comfortaa Bold" pitchFamily="34" charset="-122"/>
                <a:cs typeface="Comfortaa Bold" pitchFamily="34" charset="-120"/>
              </a:rPr>
              <a:t>Predictive Intelligence</a:t>
            </a:r>
            <a:endParaRPr lang="en-US" sz="2000" dirty="0"/>
          </a:p>
        </p:txBody>
      </p:sp>
      <p:sp>
        <p:nvSpPr>
          <p:cNvPr id="12" name="Text 8"/>
          <p:cNvSpPr/>
          <p:nvPr/>
        </p:nvSpPr>
        <p:spPr>
          <a:xfrm>
            <a:off x="7664648" y="3511510"/>
            <a:ext cx="5917049" cy="745808"/>
          </a:xfrm>
          <a:prstGeom prst="rect">
            <a:avLst/>
          </a:prstGeom>
          <a:noFill/>
          <a:ln/>
        </p:spPr>
        <p:txBody>
          <a:bodyPr wrap="square" lIns="0" tIns="0" rIns="0" bIns="0" rtlCol="0" anchor="t"/>
          <a:lstStyle/>
          <a:p>
            <a:pPr algn="l" indent="0" marL="0">
              <a:lnSpc>
                <a:spcPts val="2900"/>
              </a:lnSpc>
              <a:buNone/>
            </a:pPr>
            <a:r>
              <a:rPr lang="en-US" sz="1800" dirty="0">
                <a:solidFill>
                  <a:srgbClr val="D7D4CC"/>
                </a:solidFill>
                <a:latin typeface="Raleway Medium" pitchFamily="34" charset="0"/>
                <a:ea typeface="Raleway Medium" pitchFamily="34" charset="-122"/>
                <a:cs typeface="Raleway Medium" pitchFamily="34" charset="-120"/>
              </a:rPr>
              <a:t>Identify client needs and churn risks before issues arise through advanced forecasting</a:t>
            </a:r>
            <a:endParaRPr lang="en-US" sz="1800" dirty="0"/>
          </a:p>
        </p:txBody>
      </p:sp>
      <p:sp>
        <p:nvSpPr>
          <p:cNvPr id="13" name="Shape 9"/>
          <p:cNvSpPr/>
          <p:nvPr/>
        </p:nvSpPr>
        <p:spPr>
          <a:xfrm>
            <a:off x="815697" y="4723328"/>
            <a:ext cx="6382941" cy="2607350"/>
          </a:xfrm>
          <a:prstGeom prst="roundRect">
            <a:avLst>
              <a:gd name="adj" fmla="val 13409"/>
            </a:avLst>
          </a:prstGeom>
          <a:solidFill>
            <a:srgbClr val="46464A"/>
          </a:solidFill>
          <a:ln/>
        </p:spPr>
      </p:sp>
      <p:sp>
        <p:nvSpPr>
          <p:cNvPr id="14" name="Shape 10"/>
          <p:cNvSpPr/>
          <p:nvPr/>
        </p:nvSpPr>
        <p:spPr>
          <a:xfrm>
            <a:off x="1048703" y="4956334"/>
            <a:ext cx="699135" cy="699135"/>
          </a:xfrm>
          <a:prstGeom prst="roundRect">
            <a:avLst>
              <a:gd name="adj" fmla="val 13077711"/>
            </a:avLst>
          </a:prstGeom>
          <a:solidFill>
            <a:srgbClr val="FFE14D"/>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0988" y="5148501"/>
            <a:ext cx="314563" cy="314563"/>
          </a:xfrm>
          <a:prstGeom prst="rect">
            <a:avLst/>
          </a:prstGeom>
        </p:spPr>
      </p:pic>
      <p:sp>
        <p:nvSpPr>
          <p:cNvPr id="16" name="Text 11"/>
          <p:cNvSpPr/>
          <p:nvPr/>
        </p:nvSpPr>
        <p:spPr>
          <a:xfrm>
            <a:off x="1048703" y="5888474"/>
            <a:ext cx="2928342" cy="323612"/>
          </a:xfrm>
          <a:prstGeom prst="rect">
            <a:avLst/>
          </a:prstGeom>
          <a:noFill/>
          <a:ln/>
        </p:spPr>
        <p:txBody>
          <a:bodyPr wrap="none" lIns="0" tIns="0" rIns="0" bIns="0" rtlCol="0" anchor="t"/>
          <a:lstStyle/>
          <a:p>
            <a:pPr algn="l" indent="0" marL="0">
              <a:lnSpc>
                <a:spcPts val="2500"/>
              </a:lnSpc>
              <a:buNone/>
            </a:pPr>
            <a:r>
              <a:rPr lang="en-US" sz="2000" b="1" dirty="0">
                <a:solidFill>
                  <a:srgbClr val="D7D4CC"/>
                </a:solidFill>
                <a:latin typeface="Comfortaa Bold" pitchFamily="34" charset="0"/>
                <a:ea typeface="Comfortaa Bold" pitchFamily="34" charset="-122"/>
                <a:cs typeface="Comfortaa Bold" pitchFamily="34" charset="-120"/>
              </a:rPr>
              <a:t>Scale Personalisation</a:t>
            </a:r>
            <a:endParaRPr lang="en-US" sz="2000" dirty="0"/>
          </a:p>
        </p:txBody>
      </p:sp>
      <p:sp>
        <p:nvSpPr>
          <p:cNvPr id="17" name="Text 12"/>
          <p:cNvSpPr/>
          <p:nvPr/>
        </p:nvSpPr>
        <p:spPr>
          <a:xfrm>
            <a:off x="1048703" y="6351865"/>
            <a:ext cx="5916930" cy="745808"/>
          </a:xfrm>
          <a:prstGeom prst="rect">
            <a:avLst/>
          </a:prstGeom>
          <a:noFill/>
          <a:ln/>
        </p:spPr>
        <p:txBody>
          <a:bodyPr wrap="square" lIns="0" tIns="0" rIns="0" bIns="0" rtlCol="0" anchor="t"/>
          <a:lstStyle/>
          <a:p>
            <a:pPr algn="l" indent="0" marL="0">
              <a:lnSpc>
                <a:spcPts val="2900"/>
              </a:lnSpc>
              <a:buNone/>
            </a:pPr>
            <a:r>
              <a:rPr lang="en-US" sz="1800" dirty="0">
                <a:solidFill>
                  <a:srgbClr val="D7D4CC"/>
                </a:solidFill>
                <a:latin typeface="Raleway Medium" pitchFamily="34" charset="0"/>
                <a:ea typeface="Raleway Medium" pitchFamily="34" charset="-122"/>
                <a:cs typeface="Raleway Medium" pitchFamily="34" charset="-120"/>
              </a:rPr>
              <a:t>Deliver individualised experiences to thousands of customers simultaneously</a:t>
            </a:r>
            <a:endParaRPr lang="en-US" sz="1800" dirty="0"/>
          </a:p>
        </p:txBody>
      </p:sp>
      <p:sp>
        <p:nvSpPr>
          <p:cNvPr id="18" name="Shape 13"/>
          <p:cNvSpPr/>
          <p:nvPr/>
        </p:nvSpPr>
        <p:spPr>
          <a:xfrm>
            <a:off x="7431643" y="4723328"/>
            <a:ext cx="6383060" cy="2607350"/>
          </a:xfrm>
          <a:prstGeom prst="roundRect">
            <a:avLst>
              <a:gd name="adj" fmla="val 13409"/>
            </a:avLst>
          </a:prstGeom>
          <a:solidFill>
            <a:srgbClr val="46464A"/>
          </a:solidFill>
          <a:ln/>
        </p:spPr>
      </p:sp>
      <p:sp>
        <p:nvSpPr>
          <p:cNvPr id="19" name="Shape 14"/>
          <p:cNvSpPr/>
          <p:nvPr/>
        </p:nvSpPr>
        <p:spPr>
          <a:xfrm>
            <a:off x="7664648" y="4956334"/>
            <a:ext cx="699135" cy="699135"/>
          </a:xfrm>
          <a:prstGeom prst="roundRect">
            <a:avLst>
              <a:gd name="adj" fmla="val 13077711"/>
            </a:avLst>
          </a:prstGeom>
          <a:solidFill>
            <a:srgbClr val="FFE14D"/>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56934" y="5148501"/>
            <a:ext cx="314563" cy="314563"/>
          </a:xfrm>
          <a:prstGeom prst="rect">
            <a:avLst/>
          </a:prstGeom>
        </p:spPr>
      </p:pic>
      <p:sp>
        <p:nvSpPr>
          <p:cNvPr id="21" name="Text 15"/>
          <p:cNvSpPr/>
          <p:nvPr/>
        </p:nvSpPr>
        <p:spPr>
          <a:xfrm>
            <a:off x="7664648" y="5888474"/>
            <a:ext cx="2712482" cy="323612"/>
          </a:xfrm>
          <a:prstGeom prst="rect">
            <a:avLst/>
          </a:prstGeom>
          <a:noFill/>
          <a:ln/>
        </p:spPr>
        <p:txBody>
          <a:bodyPr wrap="none" lIns="0" tIns="0" rIns="0" bIns="0" rtlCol="0" anchor="t"/>
          <a:lstStyle/>
          <a:p>
            <a:pPr algn="l" indent="0" marL="0">
              <a:lnSpc>
                <a:spcPts val="2500"/>
              </a:lnSpc>
              <a:buNone/>
            </a:pPr>
            <a:r>
              <a:rPr lang="en-US" sz="2000" b="1" dirty="0">
                <a:solidFill>
                  <a:srgbClr val="D7D4CC"/>
                </a:solidFill>
                <a:latin typeface="Comfortaa Bold" pitchFamily="34" charset="0"/>
                <a:ea typeface="Comfortaa Bold" pitchFamily="34" charset="-122"/>
                <a:cs typeface="Comfortaa Bold" pitchFamily="34" charset="-120"/>
              </a:rPr>
              <a:t>Process Automation</a:t>
            </a:r>
            <a:endParaRPr lang="en-US" sz="2000" dirty="0"/>
          </a:p>
        </p:txBody>
      </p:sp>
      <p:sp>
        <p:nvSpPr>
          <p:cNvPr id="22" name="Text 16"/>
          <p:cNvSpPr/>
          <p:nvPr/>
        </p:nvSpPr>
        <p:spPr>
          <a:xfrm>
            <a:off x="7664648" y="6351865"/>
            <a:ext cx="5917049" cy="745808"/>
          </a:xfrm>
          <a:prstGeom prst="rect">
            <a:avLst/>
          </a:prstGeom>
          <a:noFill/>
          <a:ln/>
        </p:spPr>
        <p:txBody>
          <a:bodyPr wrap="square" lIns="0" tIns="0" rIns="0" bIns="0" rtlCol="0" anchor="t"/>
          <a:lstStyle/>
          <a:p>
            <a:pPr algn="l" indent="0" marL="0">
              <a:lnSpc>
                <a:spcPts val="2900"/>
              </a:lnSpc>
              <a:buNone/>
            </a:pPr>
            <a:r>
              <a:rPr lang="en-US" sz="1800" dirty="0">
                <a:solidFill>
                  <a:srgbClr val="D7D4CC"/>
                </a:solidFill>
                <a:latin typeface="Raleway Medium" pitchFamily="34" charset="0"/>
                <a:ea typeface="Raleway Medium" pitchFamily="34" charset="-122"/>
                <a:cs typeface="Raleway Medium" pitchFamily="34" charset="-120"/>
              </a:rPr>
              <a:t>Streamline marketing and sales workflows for maximum efficiency and impact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7272B">
              <a:alpha val="80000"/>
            </a:srgbClr>
          </a:solidFill>
          <a:ln/>
        </p:spPr>
      </p:sp>
      <p:sp>
        <p:nvSpPr>
          <p:cNvPr id="4" name="Shape 1"/>
          <p:cNvSpPr/>
          <p:nvPr/>
        </p:nvSpPr>
        <p:spPr>
          <a:xfrm>
            <a:off x="995243" y="1048583"/>
            <a:ext cx="1663779" cy="437793"/>
          </a:xfrm>
          <a:prstGeom prst="roundRect">
            <a:avLst>
              <a:gd name="adj" fmla="val 61624"/>
            </a:avLst>
          </a:prstGeom>
          <a:noFill/>
          <a:ln w="7620">
            <a:solidFill>
              <a:srgbClr val="FFE14D"/>
            </a:solidFill>
            <a:prstDash val="solid"/>
          </a:ln>
        </p:spPr>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642" y="1177528"/>
            <a:ext cx="179784" cy="179784"/>
          </a:xfrm>
          <a:prstGeom prst="rect">
            <a:avLst/>
          </a:prstGeom>
        </p:spPr>
      </p:pic>
      <p:sp>
        <p:nvSpPr>
          <p:cNvPr id="6" name="Text 2"/>
          <p:cNvSpPr/>
          <p:nvPr/>
        </p:nvSpPr>
        <p:spPr>
          <a:xfrm>
            <a:off x="1407319" y="1123593"/>
            <a:ext cx="1109305" cy="287774"/>
          </a:xfrm>
          <a:prstGeom prst="rect">
            <a:avLst/>
          </a:prstGeom>
          <a:noFill/>
          <a:ln/>
        </p:spPr>
        <p:txBody>
          <a:bodyPr wrap="none" lIns="0" tIns="0" rIns="0" bIns="0" rtlCol="0" anchor="t"/>
          <a:lstStyle/>
          <a:p>
            <a:pPr algn="l" indent="0" marL="0">
              <a:lnSpc>
                <a:spcPts val="2250"/>
              </a:lnSpc>
              <a:buNone/>
            </a:pPr>
            <a:r>
              <a:rPr lang="en-US" sz="1400" dirty="0">
                <a:solidFill>
                  <a:srgbClr val="FFE14D"/>
                </a:solidFill>
                <a:latin typeface="Raleway Medium" pitchFamily="34" charset="0"/>
                <a:ea typeface="Raleway Medium" pitchFamily="34" charset="-122"/>
                <a:cs typeface="Raleway Medium" pitchFamily="34" charset="-120"/>
              </a:rPr>
              <a:t>USE CASE #1</a:t>
            </a:r>
            <a:endParaRPr lang="en-US" sz="1400" dirty="0"/>
          </a:p>
        </p:txBody>
      </p:sp>
      <p:sp>
        <p:nvSpPr>
          <p:cNvPr id="7" name="Text 3"/>
          <p:cNvSpPr/>
          <p:nvPr/>
        </p:nvSpPr>
        <p:spPr>
          <a:xfrm>
            <a:off x="995243" y="1576268"/>
            <a:ext cx="11763851" cy="499586"/>
          </a:xfrm>
          <a:prstGeom prst="rect">
            <a:avLst/>
          </a:prstGeom>
          <a:noFill/>
          <a:ln/>
        </p:spPr>
        <p:txBody>
          <a:bodyPr wrap="none" lIns="0" tIns="0" rIns="0" bIns="0" rtlCol="0" anchor="t"/>
          <a:lstStyle/>
          <a:p>
            <a:pPr algn="l" indent="0" marL="0">
              <a:lnSpc>
                <a:spcPts val="3900"/>
              </a:lnSpc>
              <a:buNone/>
            </a:pPr>
            <a:r>
              <a:rPr lang="en-US" sz="3100" b="1" dirty="0">
                <a:solidFill>
                  <a:srgbClr val="FFE14D"/>
                </a:solidFill>
                <a:latin typeface="Comfortaa Bold" pitchFamily="34" charset="0"/>
                <a:ea typeface="Comfortaa Bold" pitchFamily="34" charset="-122"/>
                <a:cs typeface="Comfortaa Bold" pitchFamily="34" charset="-120"/>
              </a:rPr>
              <a:t>Customer Behaviour Analysis and Engagement Tracking</a:t>
            </a:r>
            <a:endParaRPr lang="en-US" sz="3100" dirty="0"/>
          </a:p>
        </p:txBody>
      </p:sp>
      <p:sp>
        <p:nvSpPr>
          <p:cNvPr id="8" name="Text 4"/>
          <p:cNvSpPr/>
          <p:nvPr/>
        </p:nvSpPr>
        <p:spPr>
          <a:xfrm>
            <a:off x="995243" y="2413040"/>
            <a:ext cx="12639913" cy="1078706"/>
          </a:xfrm>
          <a:prstGeom prst="rect">
            <a:avLst/>
          </a:prstGeom>
          <a:noFill/>
          <a:ln/>
        </p:spPr>
        <p:txBody>
          <a:bodyPr wrap="square" lIns="0" tIns="0" rIns="0" bIns="0" rtlCol="0" anchor="t"/>
          <a:lstStyle/>
          <a:p>
            <a:pPr algn="l" indent="0" marL="0">
              <a:lnSpc>
                <a:spcPts val="2800"/>
              </a:lnSpc>
              <a:buNone/>
            </a:pPr>
            <a:r>
              <a:rPr lang="en-US" sz="1750" dirty="0">
                <a:solidFill>
                  <a:srgbClr val="D7D4CC"/>
                </a:solidFill>
                <a:latin typeface="Raleway Medium" pitchFamily="34" charset="0"/>
                <a:ea typeface="Raleway Medium" pitchFamily="34" charset="-122"/>
                <a:cs typeface="Raleway Medium" pitchFamily="34" charset="-120"/>
              </a:rPr>
              <a:t>AI examines consumer information from emails, apps, websites, and purchases to determine preferences and purchasing habits. The technology recognises drops in engagement and enables early detection of churn risks before customers disengage completely.</a:t>
            </a:r>
            <a:endParaRPr lang="en-US" sz="1750" dirty="0"/>
          </a:p>
        </p:txBody>
      </p:sp>
      <p:sp>
        <p:nvSpPr>
          <p:cNvPr id="9" name="Text 5"/>
          <p:cNvSpPr/>
          <p:nvPr/>
        </p:nvSpPr>
        <p:spPr>
          <a:xfrm>
            <a:off x="995243" y="3969425"/>
            <a:ext cx="2497931" cy="312182"/>
          </a:xfrm>
          <a:prstGeom prst="rect">
            <a:avLst/>
          </a:prstGeom>
          <a:noFill/>
          <a:ln/>
        </p:spPr>
        <p:txBody>
          <a:bodyPr wrap="none" lIns="0" tIns="0" rIns="0" bIns="0" rtlCol="0" anchor="t"/>
          <a:lstStyle/>
          <a:p>
            <a:pPr algn="l" indent="0" marL="0">
              <a:lnSpc>
                <a:spcPts val="2450"/>
              </a:lnSpc>
              <a:buNone/>
            </a:pPr>
            <a:r>
              <a:rPr lang="en-US" sz="1950" b="1" dirty="0">
                <a:solidFill>
                  <a:srgbClr val="FFE14D"/>
                </a:solidFill>
                <a:latin typeface="Comfortaa Bold" pitchFamily="34" charset="0"/>
                <a:ea typeface="Comfortaa Bold" pitchFamily="34" charset="-122"/>
                <a:cs typeface="Comfortaa Bold" pitchFamily="34" charset="-120"/>
              </a:rPr>
              <a:t>Key Benefits</a:t>
            </a:r>
            <a:endParaRPr lang="en-US" sz="1950" dirty="0"/>
          </a:p>
        </p:txBody>
      </p:sp>
      <p:sp>
        <p:nvSpPr>
          <p:cNvPr id="10" name="Text 6"/>
          <p:cNvSpPr/>
          <p:nvPr/>
        </p:nvSpPr>
        <p:spPr>
          <a:xfrm>
            <a:off x="995243" y="4506397"/>
            <a:ext cx="6045756" cy="359569"/>
          </a:xfrm>
          <a:prstGeom prst="rect">
            <a:avLst/>
          </a:prstGeom>
          <a:noFill/>
          <a:ln/>
        </p:spPr>
        <p:txBody>
          <a:bodyPr wrap="none" lIns="0" tIns="0" rIns="0" bIns="0" rtlCol="0" anchor="t"/>
          <a:lstStyle/>
          <a:p>
            <a:pPr algn="l" marL="342900" indent="-342900">
              <a:lnSpc>
                <a:spcPts val="2800"/>
              </a:lnSpc>
              <a:buSzPct val="100000"/>
              <a:buChar char="•"/>
            </a:pPr>
            <a:r>
              <a:rPr lang="en-US" sz="1750" dirty="0">
                <a:solidFill>
                  <a:srgbClr val="D7D4CC"/>
                </a:solidFill>
                <a:latin typeface="Raleway Medium" pitchFamily="34" charset="0"/>
                <a:ea typeface="Raleway Medium" pitchFamily="34" charset="-122"/>
                <a:cs typeface="Raleway Medium" pitchFamily="34" charset="-120"/>
              </a:rPr>
              <a:t>Pattern recognition across multiple channels</a:t>
            </a:r>
            <a:endParaRPr lang="en-US" sz="1750" dirty="0"/>
          </a:p>
        </p:txBody>
      </p:sp>
      <p:sp>
        <p:nvSpPr>
          <p:cNvPr id="11" name="Text 7"/>
          <p:cNvSpPr/>
          <p:nvPr/>
        </p:nvSpPr>
        <p:spPr>
          <a:xfrm>
            <a:off x="995243" y="4944547"/>
            <a:ext cx="6045756" cy="359569"/>
          </a:xfrm>
          <a:prstGeom prst="rect">
            <a:avLst/>
          </a:prstGeom>
          <a:noFill/>
          <a:ln/>
        </p:spPr>
        <p:txBody>
          <a:bodyPr wrap="none" lIns="0" tIns="0" rIns="0" bIns="0" rtlCol="0" anchor="t"/>
          <a:lstStyle/>
          <a:p>
            <a:pPr algn="l" marL="342900" indent="-342900">
              <a:lnSpc>
                <a:spcPts val="2800"/>
              </a:lnSpc>
              <a:buSzPct val="100000"/>
              <a:buChar char="•"/>
            </a:pPr>
            <a:r>
              <a:rPr lang="en-US" sz="1750" dirty="0">
                <a:solidFill>
                  <a:srgbClr val="D7D4CC"/>
                </a:solidFill>
                <a:latin typeface="Raleway Medium" pitchFamily="34" charset="0"/>
                <a:ea typeface="Raleway Medium" pitchFamily="34" charset="-122"/>
                <a:cs typeface="Raleway Medium" pitchFamily="34" charset="-120"/>
              </a:rPr>
              <a:t>Automated engagement scoring</a:t>
            </a:r>
            <a:endParaRPr lang="en-US" sz="1750" dirty="0"/>
          </a:p>
        </p:txBody>
      </p:sp>
      <p:sp>
        <p:nvSpPr>
          <p:cNvPr id="12" name="Text 8"/>
          <p:cNvSpPr/>
          <p:nvPr/>
        </p:nvSpPr>
        <p:spPr>
          <a:xfrm>
            <a:off x="995243" y="5382697"/>
            <a:ext cx="6045756" cy="359569"/>
          </a:xfrm>
          <a:prstGeom prst="rect">
            <a:avLst/>
          </a:prstGeom>
          <a:noFill/>
          <a:ln/>
        </p:spPr>
        <p:txBody>
          <a:bodyPr wrap="none" lIns="0" tIns="0" rIns="0" bIns="0" rtlCol="0" anchor="t"/>
          <a:lstStyle/>
          <a:p>
            <a:pPr algn="l" marL="342900" indent="-342900">
              <a:lnSpc>
                <a:spcPts val="2800"/>
              </a:lnSpc>
              <a:buSzPct val="100000"/>
              <a:buChar char="•"/>
            </a:pPr>
            <a:r>
              <a:rPr lang="en-US" sz="1750" dirty="0">
                <a:solidFill>
                  <a:srgbClr val="D7D4CC"/>
                </a:solidFill>
                <a:latin typeface="Raleway Medium" pitchFamily="34" charset="0"/>
                <a:ea typeface="Raleway Medium" pitchFamily="34" charset="-122"/>
                <a:cs typeface="Raleway Medium" pitchFamily="34" charset="-120"/>
              </a:rPr>
              <a:t>Proactive intervention triggers</a:t>
            </a:r>
            <a:endParaRPr lang="en-US" sz="1750" dirty="0"/>
          </a:p>
        </p:txBody>
      </p:sp>
      <p:sp>
        <p:nvSpPr>
          <p:cNvPr id="13" name="Text 9"/>
          <p:cNvSpPr/>
          <p:nvPr/>
        </p:nvSpPr>
        <p:spPr>
          <a:xfrm>
            <a:off x="995243" y="5820847"/>
            <a:ext cx="6045756" cy="359569"/>
          </a:xfrm>
          <a:prstGeom prst="rect">
            <a:avLst/>
          </a:prstGeom>
          <a:noFill/>
          <a:ln/>
        </p:spPr>
        <p:txBody>
          <a:bodyPr wrap="none" lIns="0" tIns="0" rIns="0" bIns="0" rtlCol="0" anchor="t"/>
          <a:lstStyle/>
          <a:p>
            <a:pPr algn="l" marL="342900" indent="-342900">
              <a:lnSpc>
                <a:spcPts val="2800"/>
              </a:lnSpc>
              <a:buSzPct val="100000"/>
              <a:buChar char="•"/>
            </a:pPr>
            <a:r>
              <a:rPr lang="en-US" sz="1750" dirty="0">
                <a:solidFill>
                  <a:srgbClr val="D7D4CC"/>
                </a:solidFill>
                <a:latin typeface="Raleway Medium" pitchFamily="34" charset="0"/>
                <a:ea typeface="Raleway Medium" pitchFamily="34" charset="-122"/>
                <a:cs typeface="Raleway Medium" pitchFamily="34" charset="-120"/>
              </a:rPr>
              <a:t>Continuous learning and adaptation</a:t>
            </a:r>
            <a:endParaRPr lang="en-US" sz="1750" dirty="0"/>
          </a:p>
        </p:txBody>
      </p:sp>
      <p:sp>
        <p:nvSpPr>
          <p:cNvPr id="14" name="Shape 10"/>
          <p:cNvSpPr/>
          <p:nvPr/>
        </p:nvSpPr>
        <p:spPr>
          <a:xfrm>
            <a:off x="7597021" y="3997523"/>
            <a:ext cx="6045756" cy="2930485"/>
          </a:xfrm>
          <a:prstGeom prst="roundRect">
            <a:avLst>
              <a:gd name="adj" fmla="val 11508"/>
            </a:avLst>
          </a:prstGeom>
          <a:solidFill>
            <a:srgbClr val="4D4000"/>
          </a:solidFill>
          <a:ln/>
        </p:spPr>
      </p:sp>
      <p:pic>
        <p:nvPicPr>
          <p:cNvPr id="15" name="Image 2" descr="preencoded.png">    </p:cNvPr>
          <p:cNvPicPr>
            <a:picLocks noChangeAspect="1"/>
          </p:cNvPicPr>
          <p:nvPr/>
        </p:nvPicPr>
        <p:blipFill>
          <a:blip r:embed="rId4"/>
          <a:stretch>
            <a:fillRect/>
          </a:stretch>
        </p:blipFill>
        <p:spPr>
          <a:xfrm>
            <a:off x="7821811" y="4288512"/>
            <a:ext cx="312182" cy="249793"/>
          </a:xfrm>
          <a:prstGeom prst="rect">
            <a:avLst/>
          </a:prstGeom>
        </p:spPr>
      </p:pic>
      <p:sp>
        <p:nvSpPr>
          <p:cNvPr id="16" name="Text 11"/>
          <p:cNvSpPr/>
          <p:nvPr/>
        </p:nvSpPr>
        <p:spPr>
          <a:xfrm>
            <a:off x="8358783" y="4278511"/>
            <a:ext cx="2497931" cy="312182"/>
          </a:xfrm>
          <a:prstGeom prst="rect">
            <a:avLst/>
          </a:prstGeom>
          <a:noFill/>
          <a:ln/>
        </p:spPr>
        <p:txBody>
          <a:bodyPr wrap="none" lIns="0" tIns="0" rIns="0" bIns="0" rtlCol="0" anchor="t"/>
          <a:lstStyle/>
          <a:p>
            <a:pPr algn="l" indent="0" marL="0">
              <a:lnSpc>
                <a:spcPts val="2450"/>
              </a:lnSpc>
              <a:buNone/>
            </a:pPr>
            <a:r>
              <a:rPr lang="en-US" sz="1950" b="1" dirty="0">
                <a:solidFill>
                  <a:srgbClr val="FFFFFF"/>
                </a:solidFill>
                <a:latin typeface="Comfortaa Bold" pitchFamily="34" charset="0"/>
                <a:ea typeface="Comfortaa Bold" pitchFamily="34" charset="-122"/>
                <a:cs typeface="Comfortaa Bold" pitchFamily="34" charset="-120"/>
              </a:rPr>
              <a:t>Netflix Case Study</a:t>
            </a:r>
            <a:endParaRPr lang="en-US" sz="1950" dirty="0"/>
          </a:p>
        </p:txBody>
      </p:sp>
      <p:sp>
        <p:nvSpPr>
          <p:cNvPr id="17" name="Text 12"/>
          <p:cNvSpPr/>
          <p:nvPr/>
        </p:nvSpPr>
        <p:spPr>
          <a:xfrm>
            <a:off x="8358783" y="4815483"/>
            <a:ext cx="5059204" cy="1797844"/>
          </a:xfrm>
          <a:prstGeom prst="rect">
            <a:avLst/>
          </a:prstGeom>
          <a:noFill/>
          <a:ln/>
        </p:spPr>
        <p:txBody>
          <a:bodyPr wrap="square" lIns="0" tIns="0" rIns="0" bIns="0" rtlCol="0" anchor="t"/>
          <a:lstStyle/>
          <a:p>
            <a:pPr algn="l" indent="0" marL="0">
              <a:lnSpc>
                <a:spcPts val="2800"/>
              </a:lnSpc>
              <a:buNone/>
            </a:pPr>
            <a:r>
              <a:rPr lang="en-US" sz="1750" dirty="0">
                <a:solidFill>
                  <a:srgbClr val="FFFFFF"/>
                </a:solidFill>
                <a:latin typeface="Raleway Medium" pitchFamily="34" charset="0"/>
                <a:ea typeface="Raleway Medium" pitchFamily="34" charset="-122"/>
                <a:cs typeface="Raleway Medium" pitchFamily="34" charset="-120"/>
              </a:rPr>
              <a:t>Netflix tracks viewing patterns and engagement with AI-driven behaviour analysis, predicting what users want to watch next. This approach significantly reduces customer attrition and boosts retention rates.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725692" y="546735"/>
            <a:ext cx="9533453" cy="441841"/>
          </a:xfrm>
          <a:prstGeom prst="rect">
            <a:avLst/>
          </a:prstGeom>
          <a:noFill/>
          <a:ln/>
        </p:spPr>
        <p:txBody>
          <a:bodyPr wrap="none" lIns="0" tIns="0" rIns="0" bIns="0" rtlCol="0" anchor="t"/>
          <a:lstStyle/>
          <a:p>
            <a:pPr algn="l" indent="0" marL="0">
              <a:lnSpc>
                <a:spcPts val="3450"/>
              </a:lnSpc>
              <a:buNone/>
            </a:pPr>
            <a:r>
              <a:rPr lang="en-US" sz="2750" b="1" dirty="0">
                <a:solidFill>
                  <a:srgbClr val="FFE14D"/>
                </a:solidFill>
                <a:latin typeface="Comfortaa Bold" pitchFamily="34" charset="0"/>
                <a:ea typeface="Comfortaa Bold" pitchFamily="34" charset="-122"/>
                <a:cs typeface="Comfortaa Bold" pitchFamily="34" charset="-120"/>
              </a:rPr>
              <a:t>Hyper-Personalised Customer Experiences at Scale</a:t>
            </a:r>
            <a:endParaRPr lang="en-US" sz="2750" dirty="0"/>
          </a:p>
        </p:txBody>
      </p:sp>
      <p:sp>
        <p:nvSpPr>
          <p:cNvPr id="3" name="Text 1"/>
          <p:cNvSpPr/>
          <p:nvPr/>
        </p:nvSpPr>
        <p:spPr>
          <a:xfrm>
            <a:off x="1725692" y="1386245"/>
            <a:ext cx="11178897" cy="954405"/>
          </a:xfrm>
          <a:prstGeom prst="rect">
            <a:avLst/>
          </a:prstGeom>
          <a:noFill/>
          <a:ln/>
        </p:spPr>
        <p:txBody>
          <a:bodyPr wrap="square" lIns="0" tIns="0" rIns="0" bIns="0" rtlCol="0" anchor="t"/>
          <a:lstStyle/>
          <a:p>
            <a:pPr algn="l" indent="0" marL="0">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AI makes sophisticated personalisation possible through intelligent recommendations for pertinent goods and content, whilst tailoring website journeys and email campaigns. The system creates customised offers according to individual user behaviour, preferences, and purchase history.</a:t>
            </a:r>
            <a:endParaRPr lang="en-US" sz="1550" dirty="0"/>
          </a:p>
        </p:txBody>
      </p:sp>
      <p:pic>
        <p:nvPicPr>
          <p:cNvPr id="4" name="Image 0" descr="preencoded.png">    </p:cNvPr>
          <p:cNvPicPr>
            <a:picLocks noChangeAspect="1"/>
          </p:cNvPicPr>
          <p:nvPr/>
        </p:nvPicPr>
        <p:blipFill>
          <a:blip r:embed="rId1"/>
          <a:stretch>
            <a:fillRect/>
          </a:stretch>
        </p:blipFill>
        <p:spPr>
          <a:xfrm>
            <a:off x="1725692" y="2564249"/>
            <a:ext cx="5589389" cy="795338"/>
          </a:xfrm>
          <a:prstGeom prst="rect">
            <a:avLst/>
          </a:prstGeom>
        </p:spPr>
      </p:pic>
      <p:sp>
        <p:nvSpPr>
          <p:cNvPr id="5" name="Text 2"/>
          <p:cNvSpPr/>
          <p:nvPr/>
        </p:nvSpPr>
        <p:spPr>
          <a:xfrm>
            <a:off x="1924526" y="3558421"/>
            <a:ext cx="2209205" cy="276225"/>
          </a:xfrm>
          <a:prstGeom prst="rect">
            <a:avLst/>
          </a:prstGeom>
          <a:noFill/>
          <a:ln/>
        </p:spPr>
        <p:txBody>
          <a:bodyPr wrap="none" lIns="0" tIns="0" rIns="0" bIns="0" rtlCol="0" anchor="t"/>
          <a:lstStyle/>
          <a:p>
            <a:pPr algn="l" indent="0" marL="0">
              <a:lnSpc>
                <a:spcPts val="2150"/>
              </a:lnSpc>
              <a:buNone/>
            </a:pPr>
            <a:r>
              <a:rPr lang="en-US" sz="1700" b="1" dirty="0">
                <a:solidFill>
                  <a:srgbClr val="D7D4CC"/>
                </a:solidFill>
                <a:latin typeface="Comfortaa Bold" pitchFamily="34" charset="0"/>
                <a:ea typeface="Comfortaa Bold" pitchFamily="34" charset="-122"/>
                <a:cs typeface="Comfortaa Bold" pitchFamily="34" charset="-120"/>
              </a:rPr>
              <a:t>Data Collection</a:t>
            </a:r>
            <a:endParaRPr lang="en-US" sz="1700" dirty="0"/>
          </a:p>
        </p:txBody>
      </p:sp>
      <p:sp>
        <p:nvSpPr>
          <p:cNvPr id="6" name="Text 3"/>
          <p:cNvSpPr/>
          <p:nvPr/>
        </p:nvSpPr>
        <p:spPr>
          <a:xfrm>
            <a:off x="1924526" y="3953947"/>
            <a:ext cx="5191720" cy="318135"/>
          </a:xfrm>
          <a:prstGeom prst="rect">
            <a:avLst/>
          </a:prstGeom>
          <a:noFill/>
          <a:ln/>
        </p:spPr>
        <p:txBody>
          <a:bodyPr wrap="none" lIns="0" tIns="0" rIns="0" bIns="0" rtlCol="0" anchor="t"/>
          <a:lstStyle/>
          <a:p>
            <a:pPr algn="l" indent="0" marL="0">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Gathering insights from all customer touchpoints</a:t>
            </a:r>
            <a:endParaRPr lang="en-US" sz="1550" dirty="0"/>
          </a:p>
        </p:txBody>
      </p:sp>
      <p:pic>
        <p:nvPicPr>
          <p:cNvPr id="7" name="Image 1" descr="preencoded.png">    </p:cNvPr>
          <p:cNvPicPr>
            <a:picLocks noChangeAspect="1"/>
          </p:cNvPicPr>
          <p:nvPr/>
        </p:nvPicPr>
        <p:blipFill>
          <a:blip r:embed="rId2"/>
          <a:stretch>
            <a:fillRect/>
          </a:stretch>
        </p:blipFill>
        <p:spPr>
          <a:xfrm>
            <a:off x="7315081" y="2564249"/>
            <a:ext cx="5589508" cy="795338"/>
          </a:xfrm>
          <a:prstGeom prst="rect">
            <a:avLst/>
          </a:prstGeom>
        </p:spPr>
      </p:pic>
      <p:sp>
        <p:nvSpPr>
          <p:cNvPr id="8" name="Text 4"/>
          <p:cNvSpPr/>
          <p:nvPr/>
        </p:nvSpPr>
        <p:spPr>
          <a:xfrm>
            <a:off x="7513915" y="3558421"/>
            <a:ext cx="2209205" cy="276225"/>
          </a:xfrm>
          <a:prstGeom prst="rect">
            <a:avLst/>
          </a:prstGeom>
          <a:noFill/>
          <a:ln/>
        </p:spPr>
        <p:txBody>
          <a:bodyPr wrap="none" lIns="0" tIns="0" rIns="0" bIns="0" rtlCol="0" anchor="t"/>
          <a:lstStyle/>
          <a:p>
            <a:pPr algn="l" indent="0" marL="0">
              <a:lnSpc>
                <a:spcPts val="2150"/>
              </a:lnSpc>
              <a:buNone/>
            </a:pPr>
            <a:r>
              <a:rPr lang="en-US" sz="1700" b="1" dirty="0">
                <a:solidFill>
                  <a:srgbClr val="D7D4CC"/>
                </a:solidFill>
                <a:latin typeface="Comfortaa Bold" pitchFamily="34" charset="0"/>
                <a:ea typeface="Comfortaa Bold" pitchFamily="34" charset="-122"/>
                <a:cs typeface="Comfortaa Bold" pitchFamily="34" charset="-120"/>
              </a:rPr>
              <a:t>AI Analysis</a:t>
            </a:r>
            <a:endParaRPr lang="en-US" sz="1700" dirty="0"/>
          </a:p>
        </p:txBody>
      </p:sp>
      <p:sp>
        <p:nvSpPr>
          <p:cNvPr id="9" name="Text 5"/>
          <p:cNvSpPr/>
          <p:nvPr/>
        </p:nvSpPr>
        <p:spPr>
          <a:xfrm>
            <a:off x="7513915" y="3953947"/>
            <a:ext cx="5191839" cy="318135"/>
          </a:xfrm>
          <a:prstGeom prst="rect">
            <a:avLst/>
          </a:prstGeom>
          <a:noFill/>
          <a:ln/>
        </p:spPr>
        <p:txBody>
          <a:bodyPr wrap="none" lIns="0" tIns="0" rIns="0" bIns="0" rtlCol="0" anchor="t"/>
          <a:lstStyle/>
          <a:p>
            <a:pPr algn="l" indent="0" marL="0">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Processing patterns and preferences</a:t>
            </a:r>
            <a:endParaRPr lang="en-US" sz="1550" dirty="0"/>
          </a:p>
        </p:txBody>
      </p:sp>
      <p:pic>
        <p:nvPicPr>
          <p:cNvPr id="10" name="Image 2" descr="preencoded.png">    </p:cNvPr>
          <p:cNvPicPr>
            <a:picLocks noChangeAspect="1"/>
          </p:cNvPicPr>
          <p:nvPr/>
        </p:nvPicPr>
        <p:blipFill>
          <a:blip r:embed="rId3"/>
          <a:stretch>
            <a:fillRect/>
          </a:stretch>
        </p:blipFill>
        <p:spPr>
          <a:xfrm>
            <a:off x="1725692" y="4470916"/>
            <a:ext cx="5589389" cy="795338"/>
          </a:xfrm>
          <a:prstGeom prst="rect">
            <a:avLst/>
          </a:prstGeom>
        </p:spPr>
      </p:pic>
      <p:sp>
        <p:nvSpPr>
          <p:cNvPr id="11" name="Text 6"/>
          <p:cNvSpPr/>
          <p:nvPr/>
        </p:nvSpPr>
        <p:spPr>
          <a:xfrm>
            <a:off x="1924526" y="5465088"/>
            <a:ext cx="2209205" cy="276225"/>
          </a:xfrm>
          <a:prstGeom prst="rect">
            <a:avLst/>
          </a:prstGeom>
          <a:noFill/>
          <a:ln/>
        </p:spPr>
        <p:txBody>
          <a:bodyPr wrap="none" lIns="0" tIns="0" rIns="0" bIns="0" rtlCol="0" anchor="t"/>
          <a:lstStyle/>
          <a:p>
            <a:pPr algn="l" indent="0" marL="0">
              <a:lnSpc>
                <a:spcPts val="2150"/>
              </a:lnSpc>
              <a:buNone/>
            </a:pPr>
            <a:r>
              <a:rPr lang="en-US" sz="1700" b="1" dirty="0">
                <a:solidFill>
                  <a:srgbClr val="D7D4CC"/>
                </a:solidFill>
                <a:latin typeface="Comfortaa Bold" pitchFamily="34" charset="0"/>
                <a:ea typeface="Comfortaa Bold" pitchFamily="34" charset="-122"/>
                <a:cs typeface="Comfortaa Bold" pitchFamily="34" charset="-120"/>
              </a:rPr>
              <a:t>Personalisation</a:t>
            </a:r>
            <a:endParaRPr lang="en-US" sz="1700" dirty="0"/>
          </a:p>
        </p:txBody>
      </p:sp>
      <p:sp>
        <p:nvSpPr>
          <p:cNvPr id="12" name="Text 7"/>
          <p:cNvSpPr/>
          <p:nvPr/>
        </p:nvSpPr>
        <p:spPr>
          <a:xfrm>
            <a:off x="1924526" y="5860613"/>
            <a:ext cx="5191720" cy="318135"/>
          </a:xfrm>
          <a:prstGeom prst="rect">
            <a:avLst/>
          </a:prstGeom>
          <a:noFill/>
          <a:ln/>
        </p:spPr>
        <p:txBody>
          <a:bodyPr wrap="none" lIns="0" tIns="0" rIns="0" bIns="0" rtlCol="0" anchor="t"/>
          <a:lstStyle/>
          <a:p>
            <a:pPr algn="l" indent="0" marL="0">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Delivering tailored experiences</a:t>
            </a:r>
            <a:endParaRPr lang="en-US" sz="1550" dirty="0"/>
          </a:p>
        </p:txBody>
      </p:sp>
      <p:pic>
        <p:nvPicPr>
          <p:cNvPr id="13" name="Image 3" descr="preencoded.png">    </p:cNvPr>
          <p:cNvPicPr>
            <a:picLocks noChangeAspect="1"/>
          </p:cNvPicPr>
          <p:nvPr/>
        </p:nvPicPr>
        <p:blipFill>
          <a:blip r:embed="rId4"/>
          <a:stretch>
            <a:fillRect/>
          </a:stretch>
        </p:blipFill>
        <p:spPr>
          <a:xfrm>
            <a:off x="7315081" y="4470916"/>
            <a:ext cx="5589508" cy="795338"/>
          </a:xfrm>
          <a:prstGeom prst="rect">
            <a:avLst/>
          </a:prstGeom>
        </p:spPr>
      </p:pic>
      <p:sp>
        <p:nvSpPr>
          <p:cNvPr id="14" name="Text 8"/>
          <p:cNvSpPr/>
          <p:nvPr/>
        </p:nvSpPr>
        <p:spPr>
          <a:xfrm>
            <a:off x="7513915" y="5465088"/>
            <a:ext cx="2209205" cy="276225"/>
          </a:xfrm>
          <a:prstGeom prst="rect">
            <a:avLst/>
          </a:prstGeom>
          <a:noFill/>
          <a:ln/>
        </p:spPr>
        <p:txBody>
          <a:bodyPr wrap="none" lIns="0" tIns="0" rIns="0" bIns="0" rtlCol="0" anchor="t"/>
          <a:lstStyle/>
          <a:p>
            <a:pPr algn="l" indent="0" marL="0">
              <a:lnSpc>
                <a:spcPts val="2150"/>
              </a:lnSpc>
              <a:buNone/>
            </a:pPr>
            <a:r>
              <a:rPr lang="en-US" sz="1700" b="1" dirty="0">
                <a:solidFill>
                  <a:srgbClr val="D7D4CC"/>
                </a:solidFill>
                <a:latin typeface="Comfortaa Bold" pitchFamily="34" charset="0"/>
                <a:ea typeface="Comfortaa Bold" pitchFamily="34" charset="-122"/>
                <a:cs typeface="Comfortaa Bold" pitchFamily="34" charset="-120"/>
              </a:rPr>
              <a:t>Conversion</a:t>
            </a:r>
            <a:endParaRPr lang="en-US" sz="1700" dirty="0"/>
          </a:p>
        </p:txBody>
      </p:sp>
      <p:sp>
        <p:nvSpPr>
          <p:cNvPr id="15" name="Text 9"/>
          <p:cNvSpPr/>
          <p:nvPr/>
        </p:nvSpPr>
        <p:spPr>
          <a:xfrm>
            <a:off x="7513915" y="5860613"/>
            <a:ext cx="5191839" cy="318135"/>
          </a:xfrm>
          <a:prstGeom prst="rect">
            <a:avLst/>
          </a:prstGeom>
          <a:noFill/>
          <a:ln/>
        </p:spPr>
        <p:txBody>
          <a:bodyPr wrap="none" lIns="0" tIns="0" rIns="0" bIns="0" rtlCol="0" anchor="t"/>
          <a:lstStyle/>
          <a:p>
            <a:pPr algn="l" indent="0" marL="0">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Driving engagement and sales</a:t>
            </a:r>
            <a:endParaRPr lang="en-US" sz="1550" dirty="0"/>
          </a:p>
        </p:txBody>
      </p:sp>
      <p:sp>
        <p:nvSpPr>
          <p:cNvPr id="16" name="Text 10"/>
          <p:cNvSpPr/>
          <p:nvPr/>
        </p:nvSpPr>
        <p:spPr>
          <a:xfrm>
            <a:off x="2023943" y="6824782"/>
            <a:ext cx="10880646" cy="636270"/>
          </a:xfrm>
          <a:prstGeom prst="rect">
            <a:avLst/>
          </a:prstGeom>
          <a:noFill/>
          <a:ln/>
        </p:spPr>
        <p:txBody>
          <a:bodyPr wrap="square" lIns="0" tIns="0" rIns="0" bIns="0" rtlCol="0" anchor="t"/>
          <a:lstStyle/>
          <a:p>
            <a:pPr algn="l" indent="0" marL="0">
              <a:lnSpc>
                <a:spcPts val="2500"/>
              </a:lnSpc>
              <a:buNone/>
            </a:pPr>
            <a:r>
              <a:rPr lang="en-US" sz="1550" b="1" dirty="0">
                <a:solidFill>
                  <a:srgbClr val="D7D4CC"/>
                </a:solidFill>
                <a:latin typeface="Raleway Medium" pitchFamily="34" charset="0"/>
                <a:ea typeface="Raleway Medium" pitchFamily="34" charset="-122"/>
                <a:cs typeface="Raleway Medium" pitchFamily="34" charset="-120"/>
              </a:rPr>
              <a:t>Amazon generates almost 35% of its total revenue</a:t>
            </a:r>
            <a:pPr algn="l" indent="0" marL="0">
              <a:lnSpc>
                <a:spcPts val="2500"/>
              </a:lnSpc>
              <a:buNone/>
            </a:pPr>
            <a:r>
              <a:rPr lang="en-US" sz="1550" dirty="0">
                <a:solidFill>
                  <a:srgbClr val="D7D4CC"/>
                </a:solidFill>
                <a:latin typeface="Raleway Medium" pitchFamily="34" charset="0"/>
                <a:ea typeface="Raleway Medium" pitchFamily="34" charset="-122"/>
                <a:cs typeface="Raleway Medium" pitchFamily="34" charset="-120"/>
              </a:rPr>
              <a:t> by displaying tailored product recommendations based on browsing and purchase history through its AI-powered recommendation engine.</a:t>
            </a:r>
            <a:endParaRPr lang="en-US" sz="1550" dirty="0"/>
          </a:p>
        </p:txBody>
      </p:sp>
      <p:sp>
        <p:nvSpPr>
          <p:cNvPr id="17" name="Shape 11"/>
          <p:cNvSpPr/>
          <p:nvPr/>
        </p:nvSpPr>
        <p:spPr>
          <a:xfrm>
            <a:off x="1725692" y="6601182"/>
            <a:ext cx="22860" cy="1083469"/>
          </a:xfrm>
          <a:prstGeom prst="rect">
            <a:avLst/>
          </a:prstGeom>
          <a:solidFill>
            <a:srgbClr val="FFE14D"/>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3714988" y="496014"/>
            <a:ext cx="1218486" cy="240625"/>
          </a:xfrm>
          <a:prstGeom prst="roundRect">
            <a:avLst>
              <a:gd name="adj" fmla="val 63868"/>
            </a:avLst>
          </a:prstGeom>
          <a:solidFill>
            <a:srgbClr val="4D4000"/>
          </a:solidFill>
          <a:ln/>
        </p:spPr>
      </p:sp>
      <p:sp>
        <p:nvSpPr>
          <p:cNvPr id="3" name="Text 1"/>
          <p:cNvSpPr/>
          <p:nvPr/>
        </p:nvSpPr>
        <p:spPr>
          <a:xfrm>
            <a:off x="3791783" y="534352"/>
            <a:ext cx="1064895" cy="163949"/>
          </a:xfrm>
          <a:prstGeom prst="rect">
            <a:avLst/>
          </a:prstGeom>
          <a:noFill/>
          <a:ln/>
        </p:spPr>
        <p:txBody>
          <a:bodyPr wrap="none" lIns="0" tIns="0" rIns="0" bIns="0" rtlCol="0" anchor="t"/>
          <a:lstStyle/>
          <a:p>
            <a:pPr algn="l" indent="0" marL="0">
              <a:lnSpc>
                <a:spcPts val="1250"/>
              </a:lnSpc>
              <a:buNone/>
            </a:pPr>
            <a:r>
              <a:rPr lang="en-US" sz="800" dirty="0">
                <a:solidFill>
                  <a:srgbClr val="D7D4CC"/>
                </a:solidFill>
                <a:latin typeface="Raleway Medium" pitchFamily="34" charset="0"/>
                <a:ea typeface="Raleway Medium" pitchFamily="34" charset="-122"/>
                <a:cs typeface="Raleway Medium" pitchFamily="34" charset="-120"/>
              </a:rPr>
              <a:t>CUSTOMER SUPPORT</a:t>
            </a:r>
            <a:endParaRPr lang="en-US" sz="800" dirty="0"/>
          </a:p>
        </p:txBody>
      </p:sp>
      <p:sp>
        <p:nvSpPr>
          <p:cNvPr id="4" name="Text 2"/>
          <p:cNvSpPr/>
          <p:nvPr/>
        </p:nvSpPr>
        <p:spPr>
          <a:xfrm>
            <a:off x="3714988" y="787837"/>
            <a:ext cx="6928485" cy="284559"/>
          </a:xfrm>
          <a:prstGeom prst="rect">
            <a:avLst/>
          </a:prstGeom>
          <a:noFill/>
          <a:ln/>
        </p:spPr>
        <p:txBody>
          <a:bodyPr wrap="none" lIns="0" tIns="0" rIns="0" bIns="0" rtlCol="0" anchor="t"/>
          <a:lstStyle/>
          <a:p>
            <a:pPr algn="l" indent="0" marL="0">
              <a:lnSpc>
                <a:spcPts val="2200"/>
              </a:lnSpc>
              <a:buNone/>
            </a:pPr>
            <a:r>
              <a:rPr lang="en-US" sz="1750" b="1" dirty="0">
                <a:solidFill>
                  <a:srgbClr val="FFE14D"/>
                </a:solidFill>
                <a:latin typeface="Comfortaa Bold" pitchFamily="34" charset="0"/>
                <a:ea typeface="Comfortaa Bold" pitchFamily="34" charset="-122"/>
                <a:cs typeface="Comfortaa Bold" pitchFamily="34" charset="-120"/>
              </a:rPr>
              <a:t>AI Chatbots and Virtual Assistants Revolutionising Service</a:t>
            </a:r>
            <a:endParaRPr lang="en-US" sz="1750" dirty="0"/>
          </a:p>
        </p:txBody>
      </p:sp>
      <p:pic>
        <p:nvPicPr>
          <p:cNvPr id="5" name="Image 0" descr="preencoded.png">    </p:cNvPr>
          <p:cNvPicPr>
            <a:picLocks noChangeAspect="1"/>
          </p:cNvPicPr>
          <p:nvPr/>
        </p:nvPicPr>
        <p:blipFill>
          <a:blip r:embed="rId1"/>
          <a:stretch>
            <a:fillRect/>
          </a:stretch>
        </p:blipFill>
        <p:spPr>
          <a:xfrm>
            <a:off x="3714988" y="1408509"/>
            <a:ext cx="3443883" cy="3443883"/>
          </a:xfrm>
          <a:prstGeom prst="rect">
            <a:avLst/>
          </a:prstGeom>
        </p:spPr>
      </p:pic>
      <p:sp>
        <p:nvSpPr>
          <p:cNvPr id="6" name="Text 3"/>
          <p:cNvSpPr/>
          <p:nvPr/>
        </p:nvSpPr>
        <p:spPr>
          <a:xfrm>
            <a:off x="7478911" y="1392436"/>
            <a:ext cx="3443883" cy="426720"/>
          </a:xfrm>
          <a:prstGeom prst="rect">
            <a:avLst/>
          </a:prstGeom>
          <a:noFill/>
          <a:ln/>
        </p:spPr>
        <p:txBody>
          <a:bodyPr wrap="square" lIns="0" tIns="0" rIns="0" bIns="0" rtlCol="0" anchor="t"/>
          <a:lstStyle/>
          <a:p>
            <a:pPr algn="l" indent="0" marL="0">
              <a:lnSpc>
                <a:spcPts val="1650"/>
              </a:lnSpc>
              <a:buNone/>
            </a:pPr>
            <a:r>
              <a:rPr lang="en-US" sz="1300" b="1" dirty="0">
                <a:solidFill>
                  <a:srgbClr val="FFE14D"/>
                </a:solidFill>
                <a:latin typeface="Comfortaa Bold" pitchFamily="34" charset="0"/>
                <a:ea typeface="Comfortaa Bold" pitchFamily="34" charset="-122"/>
                <a:cs typeface="Comfortaa Bold" pitchFamily="34" charset="-120"/>
              </a:rPr>
              <a:t>Enhancing Customer Satisfaction 24/7</a:t>
            </a:r>
            <a:endParaRPr lang="en-US" sz="1300" dirty="0"/>
          </a:p>
        </p:txBody>
      </p:sp>
      <p:sp>
        <p:nvSpPr>
          <p:cNvPr id="7" name="Text 4"/>
          <p:cNvSpPr/>
          <p:nvPr/>
        </p:nvSpPr>
        <p:spPr>
          <a:xfrm>
            <a:off x="7478911" y="1947148"/>
            <a:ext cx="3443883" cy="1024533"/>
          </a:xfrm>
          <a:prstGeom prst="rect">
            <a:avLst/>
          </a:prstGeom>
          <a:noFill/>
          <a:ln/>
        </p:spPr>
        <p:txBody>
          <a:bodyPr wrap="square" lIns="0" tIns="0" rIns="0" bIns="0" rtlCol="0" anchor="t"/>
          <a:lstStyle/>
          <a:p>
            <a:pPr algn="l" indent="0" marL="0">
              <a:lnSpc>
                <a:spcPts val="1600"/>
              </a:lnSpc>
              <a:buNone/>
            </a:pPr>
            <a:r>
              <a:rPr lang="en-US" sz="1000" dirty="0">
                <a:solidFill>
                  <a:srgbClr val="D7D4CC"/>
                </a:solidFill>
                <a:latin typeface="Raleway Medium" pitchFamily="34" charset="0"/>
                <a:ea typeface="Raleway Medium" pitchFamily="34" charset="-122"/>
                <a:cs typeface="Raleway Medium" pitchFamily="34" charset="-120"/>
              </a:rPr>
              <a:t>AI chatbots improve client satisfaction by providing immediate assistance around the clock, quickly answering frequently asked questions, and expertly assisting clients in making purchases. These intelligent systems learn from every interaction.</a:t>
            </a:r>
            <a:endParaRPr lang="en-US" sz="1000" dirty="0"/>
          </a:p>
        </p:txBody>
      </p:sp>
      <p:sp>
        <p:nvSpPr>
          <p:cNvPr id="8" name="Text 5"/>
          <p:cNvSpPr/>
          <p:nvPr/>
        </p:nvSpPr>
        <p:spPr>
          <a:xfrm>
            <a:off x="7478911" y="3115747"/>
            <a:ext cx="127992" cy="160020"/>
          </a:xfrm>
          <a:prstGeom prst="rect">
            <a:avLst/>
          </a:prstGeom>
          <a:noFill/>
          <a:ln/>
        </p:spPr>
        <p:txBody>
          <a:bodyPr wrap="none" lIns="0" tIns="0" rIns="0" bIns="0" rtlCol="0" anchor="t"/>
          <a:lstStyle/>
          <a:p>
            <a:pPr algn="l" indent="0" marL="0">
              <a:lnSpc>
                <a:spcPts val="1600"/>
              </a:lnSpc>
              <a:buNone/>
            </a:pPr>
            <a:r>
              <a:rPr lang="en-US" sz="1000" dirty="0">
                <a:solidFill>
                  <a:srgbClr val="D7D4CC"/>
                </a:solidFill>
                <a:latin typeface="Comfortaa Light" pitchFamily="34" charset="0"/>
                <a:ea typeface="Comfortaa Light" pitchFamily="34" charset="-122"/>
                <a:cs typeface="Comfortaa Light" pitchFamily="34" charset="-120"/>
              </a:rPr>
              <a:t>01</a:t>
            </a:r>
            <a:endParaRPr lang="en-US" sz="1000" dirty="0"/>
          </a:p>
        </p:txBody>
      </p:sp>
      <p:sp>
        <p:nvSpPr>
          <p:cNvPr id="9" name="Shape 6"/>
          <p:cNvSpPr/>
          <p:nvPr/>
        </p:nvSpPr>
        <p:spPr>
          <a:xfrm>
            <a:off x="7478911" y="3318034"/>
            <a:ext cx="3443883" cy="15240"/>
          </a:xfrm>
          <a:prstGeom prst="rect">
            <a:avLst/>
          </a:prstGeom>
          <a:solidFill>
            <a:srgbClr val="FFE14D"/>
          </a:solidFill>
          <a:ln/>
        </p:spPr>
      </p:sp>
      <p:sp>
        <p:nvSpPr>
          <p:cNvPr id="10" name="Text 7"/>
          <p:cNvSpPr/>
          <p:nvPr/>
        </p:nvSpPr>
        <p:spPr>
          <a:xfrm>
            <a:off x="7478911" y="3412450"/>
            <a:ext cx="1422916" cy="177760"/>
          </a:xfrm>
          <a:prstGeom prst="rect">
            <a:avLst/>
          </a:prstGeom>
          <a:noFill/>
          <a:ln/>
        </p:spPr>
        <p:txBody>
          <a:bodyPr wrap="none" lIns="0" tIns="0" rIns="0" bIns="0" rtlCol="0" anchor="t"/>
          <a:lstStyle/>
          <a:p>
            <a:pPr algn="l" indent="0" marL="0">
              <a:lnSpc>
                <a:spcPts val="1400"/>
              </a:lnSpc>
              <a:buNone/>
            </a:pPr>
            <a:r>
              <a:rPr lang="en-US" sz="1100" b="1" dirty="0">
                <a:solidFill>
                  <a:srgbClr val="D7D4CC"/>
                </a:solidFill>
                <a:latin typeface="Comfortaa Bold" pitchFamily="34" charset="0"/>
                <a:ea typeface="Comfortaa Bold" pitchFamily="34" charset="-122"/>
                <a:cs typeface="Comfortaa Bold" pitchFamily="34" charset="-120"/>
              </a:rPr>
              <a:t>Instant Response</a:t>
            </a:r>
            <a:endParaRPr lang="en-US" sz="1100" dirty="0"/>
          </a:p>
        </p:txBody>
      </p:sp>
      <p:sp>
        <p:nvSpPr>
          <p:cNvPr id="11" name="Text 8"/>
          <p:cNvSpPr/>
          <p:nvPr/>
        </p:nvSpPr>
        <p:spPr>
          <a:xfrm>
            <a:off x="7478911" y="3718203"/>
            <a:ext cx="3443883" cy="409813"/>
          </a:xfrm>
          <a:prstGeom prst="rect">
            <a:avLst/>
          </a:prstGeom>
          <a:noFill/>
          <a:ln/>
        </p:spPr>
        <p:txBody>
          <a:bodyPr wrap="square" lIns="0" tIns="0" rIns="0" bIns="0" rtlCol="0" anchor="t"/>
          <a:lstStyle/>
          <a:p>
            <a:pPr algn="l" indent="0" marL="0">
              <a:lnSpc>
                <a:spcPts val="1600"/>
              </a:lnSpc>
              <a:buNone/>
            </a:pPr>
            <a:r>
              <a:rPr lang="en-US" sz="1000" dirty="0">
                <a:solidFill>
                  <a:srgbClr val="D7D4CC"/>
                </a:solidFill>
                <a:latin typeface="Raleway Medium" pitchFamily="34" charset="0"/>
                <a:ea typeface="Raleway Medium" pitchFamily="34" charset="-122"/>
                <a:cs typeface="Raleway Medium" pitchFamily="34" charset="-120"/>
              </a:rPr>
              <a:t>Immediate answers to customer queries without wait times</a:t>
            </a:r>
            <a:endParaRPr lang="en-US" sz="1000" dirty="0"/>
          </a:p>
        </p:txBody>
      </p:sp>
      <p:sp>
        <p:nvSpPr>
          <p:cNvPr id="12" name="Text 9"/>
          <p:cNvSpPr/>
          <p:nvPr/>
        </p:nvSpPr>
        <p:spPr>
          <a:xfrm>
            <a:off x="7478911" y="4351973"/>
            <a:ext cx="127992" cy="160020"/>
          </a:xfrm>
          <a:prstGeom prst="rect">
            <a:avLst/>
          </a:prstGeom>
          <a:noFill/>
          <a:ln/>
        </p:spPr>
        <p:txBody>
          <a:bodyPr wrap="none" lIns="0" tIns="0" rIns="0" bIns="0" rtlCol="0" anchor="t"/>
          <a:lstStyle/>
          <a:p>
            <a:pPr algn="l" indent="0" marL="0">
              <a:lnSpc>
                <a:spcPts val="1600"/>
              </a:lnSpc>
              <a:buNone/>
            </a:pPr>
            <a:r>
              <a:rPr lang="en-US" sz="1000" dirty="0">
                <a:solidFill>
                  <a:srgbClr val="D7D4CC"/>
                </a:solidFill>
                <a:latin typeface="Comfortaa Light" pitchFamily="34" charset="0"/>
                <a:ea typeface="Comfortaa Light" pitchFamily="34" charset="-122"/>
                <a:cs typeface="Comfortaa Light" pitchFamily="34" charset="-120"/>
              </a:rPr>
              <a:t>02</a:t>
            </a:r>
            <a:endParaRPr lang="en-US" sz="1000" dirty="0"/>
          </a:p>
        </p:txBody>
      </p:sp>
      <p:sp>
        <p:nvSpPr>
          <p:cNvPr id="13" name="Shape 10"/>
          <p:cNvSpPr/>
          <p:nvPr/>
        </p:nvSpPr>
        <p:spPr>
          <a:xfrm>
            <a:off x="7478911" y="4554260"/>
            <a:ext cx="3443883" cy="15240"/>
          </a:xfrm>
          <a:prstGeom prst="rect">
            <a:avLst/>
          </a:prstGeom>
          <a:solidFill>
            <a:srgbClr val="FFE14D"/>
          </a:solidFill>
          <a:ln/>
        </p:spPr>
      </p:sp>
      <p:sp>
        <p:nvSpPr>
          <p:cNvPr id="14" name="Text 11"/>
          <p:cNvSpPr/>
          <p:nvPr/>
        </p:nvSpPr>
        <p:spPr>
          <a:xfrm>
            <a:off x="7478911" y="4648676"/>
            <a:ext cx="1422916" cy="177760"/>
          </a:xfrm>
          <a:prstGeom prst="rect">
            <a:avLst/>
          </a:prstGeom>
          <a:noFill/>
          <a:ln/>
        </p:spPr>
        <p:txBody>
          <a:bodyPr wrap="none" lIns="0" tIns="0" rIns="0" bIns="0" rtlCol="0" anchor="t"/>
          <a:lstStyle/>
          <a:p>
            <a:pPr algn="l" indent="0" marL="0">
              <a:lnSpc>
                <a:spcPts val="1400"/>
              </a:lnSpc>
              <a:buNone/>
            </a:pPr>
            <a:r>
              <a:rPr lang="en-US" sz="1100" b="1" dirty="0">
                <a:solidFill>
                  <a:srgbClr val="D7D4CC"/>
                </a:solidFill>
                <a:latin typeface="Comfortaa Bold" pitchFamily="34" charset="0"/>
                <a:ea typeface="Comfortaa Bold" pitchFamily="34" charset="-122"/>
                <a:cs typeface="Comfortaa Bold" pitchFamily="34" charset="-120"/>
              </a:rPr>
              <a:t>Guided Purchasing</a:t>
            </a:r>
            <a:endParaRPr lang="en-US" sz="1100" dirty="0"/>
          </a:p>
        </p:txBody>
      </p:sp>
      <p:sp>
        <p:nvSpPr>
          <p:cNvPr id="15" name="Text 12"/>
          <p:cNvSpPr/>
          <p:nvPr/>
        </p:nvSpPr>
        <p:spPr>
          <a:xfrm>
            <a:off x="7478911" y="4954429"/>
            <a:ext cx="3443883" cy="409813"/>
          </a:xfrm>
          <a:prstGeom prst="rect">
            <a:avLst/>
          </a:prstGeom>
          <a:noFill/>
          <a:ln/>
        </p:spPr>
        <p:txBody>
          <a:bodyPr wrap="square" lIns="0" tIns="0" rIns="0" bIns="0" rtlCol="0" anchor="t"/>
          <a:lstStyle/>
          <a:p>
            <a:pPr algn="l" indent="0" marL="0">
              <a:lnSpc>
                <a:spcPts val="1600"/>
              </a:lnSpc>
              <a:buNone/>
            </a:pPr>
            <a:r>
              <a:rPr lang="en-US" sz="1000" dirty="0">
                <a:solidFill>
                  <a:srgbClr val="D7D4CC"/>
                </a:solidFill>
                <a:latin typeface="Raleway Medium" pitchFamily="34" charset="0"/>
                <a:ea typeface="Raleway Medium" pitchFamily="34" charset="-122"/>
                <a:cs typeface="Raleway Medium" pitchFamily="34" charset="-120"/>
              </a:rPr>
              <a:t>Personalised product recommendations and purchase assistance</a:t>
            </a:r>
            <a:endParaRPr lang="en-US" sz="1000" dirty="0"/>
          </a:p>
        </p:txBody>
      </p:sp>
      <p:sp>
        <p:nvSpPr>
          <p:cNvPr id="16" name="Text 13"/>
          <p:cNvSpPr/>
          <p:nvPr/>
        </p:nvSpPr>
        <p:spPr>
          <a:xfrm>
            <a:off x="7478911" y="5588198"/>
            <a:ext cx="127992" cy="160020"/>
          </a:xfrm>
          <a:prstGeom prst="rect">
            <a:avLst/>
          </a:prstGeom>
          <a:noFill/>
          <a:ln/>
        </p:spPr>
        <p:txBody>
          <a:bodyPr wrap="none" lIns="0" tIns="0" rIns="0" bIns="0" rtlCol="0" anchor="t"/>
          <a:lstStyle/>
          <a:p>
            <a:pPr algn="l" indent="0" marL="0">
              <a:lnSpc>
                <a:spcPts val="1600"/>
              </a:lnSpc>
              <a:buNone/>
            </a:pPr>
            <a:r>
              <a:rPr lang="en-US" sz="1000" dirty="0">
                <a:solidFill>
                  <a:srgbClr val="D7D4CC"/>
                </a:solidFill>
                <a:latin typeface="Comfortaa Light" pitchFamily="34" charset="0"/>
                <a:ea typeface="Comfortaa Light" pitchFamily="34" charset="-122"/>
                <a:cs typeface="Comfortaa Light" pitchFamily="34" charset="-120"/>
              </a:rPr>
              <a:t>03</a:t>
            </a:r>
            <a:endParaRPr lang="en-US" sz="1000" dirty="0"/>
          </a:p>
        </p:txBody>
      </p:sp>
      <p:sp>
        <p:nvSpPr>
          <p:cNvPr id="17" name="Shape 14"/>
          <p:cNvSpPr/>
          <p:nvPr/>
        </p:nvSpPr>
        <p:spPr>
          <a:xfrm>
            <a:off x="7478911" y="5790486"/>
            <a:ext cx="3443883" cy="15240"/>
          </a:xfrm>
          <a:prstGeom prst="rect">
            <a:avLst/>
          </a:prstGeom>
          <a:solidFill>
            <a:srgbClr val="FFE14D"/>
          </a:solidFill>
          <a:ln/>
        </p:spPr>
      </p:sp>
      <p:sp>
        <p:nvSpPr>
          <p:cNvPr id="18" name="Text 15"/>
          <p:cNvSpPr/>
          <p:nvPr/>
        </p:nvSpPr>
        <p:spPr>
          <a:xfrm>
            <a:off x="7478911" y="5884902"/>
            <a:ext cx="1520547" cy="177760"/>
          </a:xfrm>
          <a:prstGeom prst="rect">
            <a:avLst/>
          </a:prstGeom>
          <a:noFill/>
          <a:ln/>
        </p:spPr>
        <p:txBody>
          <a:bodyPr wrap="none" lIns="0" tIns="0" rIns="0" bIns="0" rtlCol="0" anchor="t"/>
          <a:lstStyle/>
          <a:p>
            <a:pPr algn="l" indent="0" marL="0">
              <a:lnSpc>
                <a:spcPts val="1400"/>
              </a:lnSpc>
              <a:buNone/>
            </a:pPr>
            <a:r>
              <a:rPr lang="en-US" sz="1100" b="1" dirty="0">
                <a:solidFill>
                  <a:srgbClr val="D7D4CC"/>
                </a:solidFill>
                <a:latin typeface="Comfortaa Bold" pitchFamily="34" charset="0"/>
                <a:ea typeface="Comfortaa Bold" pitchFamily="34" charset="-122"/>
                <a:cs typeface="Comfortaa Bold" pitchFamily="34" charset="-120"/>
              </a:rPr>
              <a:t>Seamless Escalation</a:t>
            </a:r>
            <a:endParaRPr lang="en-US" sz="1100" dirty="0"/>
          </a:p>
        </p:txBody>
      </p:sp>
      <p:sp>
        <p:nvSpPr>
          <p:cNvPr id="19" name="Text 16"/>
          <p:cNvSpPr/>
          <p:nvPr/>
        </p:nvSpPr>
        <p:spPr>
          <a:xfrm>
            <a:off x="7478911" y="6190655"/>
            <a:ext cx="3443883" cy="204907"/>
          </a:xfrm>
          <a:prstGeom prst="rect">
            <a:avLst/>
          </a:prstGeom>
          <a:noFill/>
          <a:ln/>
        </p:spPr>
        <p:txBody>
          <a:bodyPr wrap="none" lIns="0" tIns="0" rIns="0" bIns="0" rtlCol="0" anchor="t"/>
          <a:lstStyle/>
          <a:p>
            <a:pPr algn="l" indent="0" marL="0">
              <a:lnSpc>
                <a:spcPts val="1600"/>
              </a:lnSpc>
              <a:buNone/>
            </a:pPr>
            <a:r>
              <a:rPr lang="en-US" sz="1000" dirty="0">
                <a:solidFill>
                  <a:srgbClr val="D7D4CC"/>
                </a:solidFill>
                <a:latin typeface="Raleway Medium" pitchFamily="34" charset="0"/>
                <a:ea typeface="Raleway Medium" pitchFamily="34" charset="-122"/>
                <a:cs typeface="Raleway Medium" pitchFamily="34" charset="-120"/>
              </a:rPr>
              <a:t>Smooth handoff to human agents when needed</a:t>
            </a:r>
            <a:endParaRPr lang="en-US" sz="1000" dirty="0"/>
          </a:p>
        </p:txBody>
      </p:sp>
      <p:sp>
        <p:nvSpPr>
          <p:cNvPr id="20" name="Shape 17"/>
          <p:cNvSpPr/>
          <p:nvPr/>
        </p:nvSpPr>
        <p:spPr>
          <a:xfrm>
            <a:off x="3714988" y="6779657"/>
            <a:ext cx="7200305" cy="953810"/>
          </a:xfrm>
          <a:prstGeom prst="roundRect">
            <a:avLst>
              <a:gd name="adj" fmla="val 20141"/>
            </a:avLst>
          </a:prstGeom>
          <a:solidFill>
            <a:srgbClr val="4D4000"/>
          </a:solidFill>
          <a:ln/>
        </p:spPr>
      </p:sp>
      <p:pic>
        <p:nvPicPr>
          <p:cNvPr id="21" name="Image 1" descr="preencoded.png">    </p:cNvPr>
          <p:cNvPicPr>
            <a:picLocks noChangeAspect="1"/>
          </p:cNvPicPr>
          <p:nvPr/>
        </p:nvPicPr>
        <p:blipFill>
          <a:blip r:embed="rId2"/>
          <a:stretch>
            <a:fillRect/>
          </a:stretch>
        </p:blipFill>
        <p:spPr>
          <a:xfrm>
            <a:off x="3842980" y="6972300"/>
            <a:ext cx="160020" cy="127992"/>
          </a:xfrm>
          <a:prstGeom prst="rect">
            <a:avLst/>
          </a:prstGeom>
        </p:spPr>
      </p:pic>
      <p:sp>
        <p:nvSpPr>
          <p:cNvPr id="22" name="Text 18"/>
          <p:cNvSpPr/>
          <p:nvPr/>
        </p:nvSpPr>
        <p:spPr>
          <a:xfrm>
            <a:off x="4130993" y="6939558"/>
            <a:ext cx="6656308" cy="614720"/>
          </a:xfrm>
          <a:prstGeom prst="rect">
            <a:avLst/>
          </a:prstGeom>
          <a:noFill/>
          <a:ln/>
        </p:spPr>
        <p:txBody>
          <a:bodyPr wrap="square" lIns="0" tIns="0" rIns="0" bIns="0" rtlCol="0" anchor="t"/>
          <a:lstStyle/>
          <a:p>
            <a:pPr algn="l" indent="0" marL="0">
              <a:lnSpc>
                <a:spcPts val="1600"/>
              </a:lnSpc>
              <a:buNone/>
            </a:pPr>
            <a:r>
              <a:rPr lang="en-US" sz="1000" b="1" dirty="0">
                <a:solidFill>
                  <a:srgbClr val="FFFFFF"/>
                </a:solidFill>
                <a:latin typeface="Raleway Medium" pitchFamily="34" charset="0"/>
                <a:ea typeface="Raleway Medium" pitchFamily="34" charset="-122"/>
                <a:cs typeface="Raleway Medium" pitchFamily="34" charset="-120"/>
              </a:rPr>
              <a:t>Sephora Success:</a:t>
            </a:r>
            <a:pPr algn="l" indent="0" marL="0">
              <a:lnSpc>
                <a:spcPts val="1600"/>
              </a:lnSpc>
              <a:buNone/>
            </a:pPr>
            <a:r>
              <a:rPr lang="en-US" sz="1000" dirty="0">
                <a:solidFill>
                  <a:srgbClr val="FFFFFF"/>
                </a:solidFill>
                <a:latin typeface="Raleway Medium" pitchFamily="34" charset="0"/>
                <a:ea typeface="Raleway Medium" pitchFamily="34" charset="-122"/>
                <a:cs typeface="Raleway Medium" pitchFamily="34" charset="-120"/>
              </a:rPr>
              <a:t> Sephora's AI chatbot boosts customer engagement and encourages repeat business by offering immediate assistance and tailored beauty recommendations, resulting in higher conversion rates and customer satisfaction scores.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094899" y="784503"/>
            <a:ext cx="10172581" cy="491728"/>
          </a:xfrm>
          <a:prstGeom prst="rect">
            <a:avLst/>
          </a:prstGeom>
          <a:noFill/>
          <a:ln/>
        </p:spPr>
        <p:txBody>
          <a:bodyPr wrap="none" lIns="0" tIns="0" rIns="0" bIns="0" rtlCol="0" anchor="t"/>
          <a:lstStyle/>
          <a:p>
            <a:pPr algn="l" indent="0" marL="0">
              <a:lnSpc>
                <a:spcPts val="3850"/>
              </a:lnSpc>
              <a:buNone/>
            </a:pPr>
            <a:r>
              <a:rPr lang="en-US" sz="3050" b="1" dirty="0">
                <a:solidFill>
                  <a:srgbClr val="FFE14D"/>
                </a:solidFill>
                <a:latin typeface="Comfortaa Bold" pitchFamily="34" charset="0"/>
                <a:ea typeface="Comfortaa Bold" pitchFamily="34" charset="-122"/>
                <a:cs typeface="Comfortaa Bold" pitchFamily="34" charset="-120"/>
              </a:rPr>
              <a:t>Predictive Sales Forecasting and Dynamic Pricing</a:t>
            </a:r>
            <a:endParaRPr lang="en-US" sz="3050" dirty="0"/>
          </a:p>
        </p:txBody>
      </p:sp>
      <p:sp>
        <p:nvSpPr>
          <p:cNvPr id="3" name="Shape 1"/>
          <p:cNvSpPr/>
          <p:nvPr/>
        </p:nvSpPr>
        <p:spPr>
          <a:xfrm>
            <a:off x="1094899" y="1718667"/>
            <a:ext cx="3999309" cy="3664029"/>
          </a:xfrm>
          <a:prstGeom prst="roundRect">
            <a:avLst>
              <a:gd name="adj" fmla="val 9059"/>
            </a:avLst>
          </a:prstGeom>
          <a:solidFill>
            <a:srgbClr val="27272B"/>
          </a:solidFill>
          <a:ln w="30480">
            <a:solidFill>
              <a:srgbClr val="5F5F63"/>
            </a:solidFill>
            <a:prstDash val="solid"/>
          </a:ln>
        </p:spPr>
      </p:sp>
      <p:sp>
        <p:nvSpPr>
          <p:cNvPr id="4" name="Shape 2"/>
          <p:cNvSpPr/>
          <p:nvPr/>
        </p:nvSpPr>
        <p:spPr>
          <a:xfrm>
            <a:off x="1125379" y="1749147"/>
            <a:ext cx="3938349" cy="663773"/>
          </a:xfrm>
          <a:prstGeom prst="roundRect">
            <a:avLst>
              <a:gd name="adj" fmla="val 44494"/>
            </a:avLst>
          </a:prstGeom>
          <a:solidFill>
            <a:srgbClr val="46464A"/>
          </a:solidFill>
          <a:ln/>
        </p:spPr>
      </p:sp>
      <p:sp>
        <p:nvSpPr>
          <p:cNvPr id="5" name="Text 3"/>
          <p:cNvSpPr/>
          <p:nvPr/>
        </p:nvSpPr>
        <p:spPr>
          <a:xfrm>
            <a:off x="2928580" y="1873568"/>
            <a:ext cx="331827" cy="414814"/>
          </a:xfrm>
          <a:prstGeom prst="rect">
            <a:avLst/>
          </a:prstGeom>
          <a:noFill/>
          <a:ln/>
        </p:spPr>
        <p:txBody>
          <a:bodyPr wrap="none" lIns="0" tIns="0" rIns="0" bIns="0" rtlCol="0" anchor="t"/>
          <a:lstStyle/>
          <a:p>
            <a:pPr algn="l" indent="0" marL="0">
              <a:lnSpc>
                <a:spcPts val="2600"/>
              </a:lnSpc>
              <a:buNone/>
            </a:pPr>
            <a:r>
              <a:rPr lang="en-US" sz="2600" b="1" dirty="0">
                <a:solidFill>
                  <a:srgbClr val="D7D4CC"/>
                </a:solidFill>
                <a:latin typeface="Comfortaa Bold" pitchFamily="34" charset="0"/>
                <a:ea typeface="Comfortaa Bold" pitchFamily="34" charset="-122"/>
                <a:cs typeface="Comfortaa Bold" pitchFamily="34" charset="-120"/>
              </a:rPr>
              <a:t>1</a:t>
            </a:r>
            <a:endParaRPr lang="en-US" sz="2600" dirty="0"/>
          </a:p>
        </p:txBody>
      </p:sp>
      <p:sp>
        <p:nvSpPr>
          <p:cNvPr id="6" name="Text 4"/>
          <p:cNvSpPr/>
          <p:nvPr/>
        </p:nvSpPr>
        <p:spPr>
          <a:xfrm>
            <a:off x="1346597" y="2634139"/>
            <a:ext cx="2465070" cy="307300"/>
          </a:xfrm>
          <a:prstGeom prst="rect">
            <a:avLst/>
          </a:prstGeom>
          <a:noFill/>
          <a:ln/>
        </p:spPr>
        <p:txBody>
          <a:bodyPr wrap="none" lIns="0" tIns="0" rIns="0" bIns="0" rtlCol="0" anchor="t"/>
          <a:lstStyle/>
          <a:p>
            <a:pPr algn="l" indent="0" marL="0">
              <a:lnSpc>
                <a:spcPts val="2400"/>
              </a:lnSpc>
              <a:buNone/>
            </a:pPr>
            <a:r>
              <a:rPr lang="en-US" sz="1900" b="1" dirty="0">
                <a:solidFill>
                  <a:srgbClr val="D7D4CC"/>
                </a:solidFill>
                <a:latin typeface="Comfortaa Bold" pitchFamily="34" charset="0"/>
                <a:ea typeface="Comfortaa Bold" pitchFamily="34" charset="-122"/>
                <a:cs typeface="Comfortaa Bold" pitchFamily="34" charset="-120"/>
              </a:rPr>
              <a:t>Demand Prediction</a:t>
            </a:r>
            <a:endParaRPr lang="en-US" sz="1900" dirty="0"/>
          </a:p>
        </p:txBody>
      </p:sp>
      <p:sp>
        <p:nvSpPr>
          <p:cNvPr id="7" name="Text 5"/>
          <p:cNvSpPr/>
          <p:nvPr/>
        </p:nvSpPr>
        <p:spPr>
          <a:xfrm>
            <a:off x="1346597" y="3074194"/>
            <a:ext cx="3495913" cy="707707"/>
          </a:xfrm>
          <a:prstGeom prst="rect">
            <a:avLst/>
          </a:prstGeom>
          <a:noFill/>
          <a:ln/>
        </p:spPr>
        <p:txBody>
          <a:bodyPr wrap="square" lIns="0" tIns="0" rIns="0" bIns="0" rtlCol="0" anchor="t"/>
          <a:lstStyle/>
          <a:p>
            <a:pPr algn="l" indent="0" marL="0">
              <a:lnSpc>
                <a:spcPts val="2750"/>
              </a:lnSpc>
              <a:buNone/>
            </a:pPr>
            <a:r>
              <a:rPr lang="en-US" sz="1700" dirty="0">
                <a:solidFill>
                  <a:srgbClr val="D7D4CC"/>
                </a:solidFill>
                <a:latin typeface="Raleway Medium" pitchFamily="34" charset="0"/>
                <a:ea typeface="Raleway Medium" pitchFamily="34" charset="-122"/>
                <a:cs typeface="Raleway Medium" pitchFamily="34" charset="-120"/>
              </a:rPr>
              <a:t>Accurately forecasting customer demand patterns</a:t>
            </a:r>
            <a:endParaRPr lang="en-US" sz="1700" dirty="0"/>
          </a:p>
        </p:txBody>
      </p:sp>
      <p:sp>
        <p:nvSpPr>
          <p:cNvPr id="8" name="Text 6"/>
          <p:cNvSpPr/>
          <p:nvPr/>
        </p:nvSpPr>
        <p:spPr>
          <a:xfrm>
            <a:off x="1346597" y="3914656"/>
            <a:ext cx="3495913" cy="353854"/>
          </a:xfrm>
          <a:prstGeom prst="rect">
            <a:avLst/>
          </a:prstGeom>
          <a:noFill/>
          <a:ln/>
        </p:spPr>
        <p:txBody>
          <a:bodyPr wrap="none" lIns="0" tIns="0" rIns="0" bIns="0" rtlCol="0" anchor="t"/>
          <a:lstStyle/>
          <a:p>
            <a:pPr algn="l" marL="342900" indent="-342900">
              <a:lnSpc>
                <a:spcPts val="2750"/>
              </a:lnSpc>
              <a:buSzPct val="100000"/>
              <a:buChar char="•"/>
            </a:pPr>
            <a:r>
              <a:rPr lang="en-US" sz="1700" dirty="0">
                <a:solidFill>
                  <a:srgbClr val="D7D4CC"/>
                </a:solidFill>
                <a:latin typeface="Raleway Medium" pitchFamily="34" charset="0"/>
                <a:ea typeface="Raleway Medium" pitchFamily="34" charset="-122"/>
                <a:cs typeface="Raleway Medium" pitchFamily="34" charset="-120"/>
              </a:rPr>
              <a:t>Seasonal trend identification</a:t>
            </a:r>
            <a:endParaRPr lang="en-US" sz="1700" dirty="0"/>
          </a:p>
        </p:txBody>
      </p:sp>
      <p:sp>
        <p:nvSpPr>
          <p:cNvPr id="9" name="Text 7"/>
          <p:cNvSpPr/>
          <p:nvPr/>
        </p:nvSpPr>
        <p:spPr>
          <a:xfrm>
            <a:off x="1346597" y="4345900"/>
            <a:ext cx="3495913" cy="353854"/>
          </a:xfrm>
          <a:prstGeom prst="rect">
            <a:avLst/>
          </a:prstGeom>
          <a:noFill/>
          <a:ln/>
        </p:spPr>
        <p:txBody>
          <a:bodyPr wrap="none" lIns="0" tIns="0" rIns="0" bIns="0" rtlCol="0" anchor="t"/>
          <a:lstStyle/>
          <a:p>
            <a:pPr algn="l" marL="342900" indent="-342900">
              <a:lnSpc>
                <a:spcPts val="2750"/>
              </a:lnSpc>
              <a:buSzPct val="100000"/>
              <a:buChar char="•"/>
            </a:pPr>
            <a:r>
              <a:rPr lang="en-US" sz="1700" dirty="0">
                <a:solidFill>
                  <a:srgbClr val="D7D4CC"/>
                </a:solidFill>
                <a:latin typeface="Raleway Medium" pitchFamily="34" charset="0"/>
                <a:ea typeface="Raleway Medium" pitchFamily="34" charset="-122"/>
                <a:cs typeface="Raleway Medium" pitchFamily="34" charset="-120"/>
              </a:rPr>
              <a:t>Market condition analysis</a:t>
            </a:r>
            <a:endParaRPr lang="en-US" sz="1700" dirty="0"/>
          </a:p>
        </p:txBody>
      </p:sp>
      <p:sp>
        <p:nvSpPr>
          <p:cNvPr id="10" name="Text 8"/>
          <p:cNvSpPr/>
          <p:nvPr/>
        </p:nvSpPr>
        <p:spPr>
          <a:xfrm>
            <a:off x="1346597" y="4777145"/>
            <a:ext cx="3495913" cy="353854"/>
          </a:xfrm>
          <a:prstGeom prst="rect">
            <a:avLst/>
          </a:prstGeom>
          <a:noFill/>
          <a:ln/>
        </p:spPr>
        <p:txBody>
          <a:bodyPr wrap="none" lIns="0" tIns="0" rIns="0" bIns="0" rtlCol="0" anchor="t"/>
          <a:lstStyle/>
          <a:p>
            <a:pPr algn="l" marL="342900" indent="-342900">
              <a:lnSpc>
                <a:spcPts val="2750"/>
              </a:lnSpc>
              <a:buSzPct val="100000"/>
              <a:buChar char="•"/>
            </a:pPr>
            <a:r>
              <a:rPr lang="en-US" sz="1700" dirty="0">
                <a:solidFill>
                  <a:srgbClr val="D7D4CC"/>
                </a:solidFill>
                <a:latin typeface="Raleway Medium" pitchFamily="34" charset="0"/>
                <a:ea typeface="Raleway Medium" pitchFamily="34" charset="-122"/>
                <a:cs typeface="Raleway Medium" pitchFamily="34" charset="-120"/>
              </a:rPr>
              <a:t>Historical data processing</a:t>
            </a:r>
            <a:endParaRPr lang="en-US" sz="1700" dirty="0"/>
          </a:p>
        </p:txBody>
      </p:sp>
      <p:sp>
        <p:nvSpPr>
          <p:cNvPr id="11" name="Shape 9"/>
          <p:cNvSpPr/>
          <p:nvPr/>
        </p:nvSpPr>
        <p:spPr>
          <a:xfrm>
            <a:off x="5315426" y="1718667"/>
            <a:ext cx="3999428" cy="3664029"/>
          </a:xfrm>
          <a:prstGeom prst="roundRect">
            <a:avLst>
              <a:gd name="adj" fmla="val 9059"/>
            </a:avLst>
          </a:prstGeom>
          <a:solidFill>
            <a:srgbClr val="27272B"/>
          </a:solidFill>
          <a:ln w="30480">
            <a:solidFill>
              <a:srgbClr val="5F5F63"/>
            </a:solidFill>
            <a:prstDash val="solid"/>
          </a:ln>
        </p:spPr>
      </p:sp>
      <p:sp>
        <p:nvSpPr>
          <p:cNvPr id="12" name="Shape 10"/>
          <p:cNvSpPr/>
          <p:nvPr/>
        </p:nvSpPr>
        <p:spPr>
          <a:xfrm>
            <a:off x="5345906" y="1749147"/>
            <a:ext cx="3938468" cy="663773"/>
          </a:xfrm>
          <a:prstGeom prst="roundRect">
            <a:avLst>
              <a:gd name="adj" fmla="val 44494"/>
            </a:avLst>
          </a:prstGeom>
          <a:solidFill>
            <a:srgbClr val="46464A"/>
          </a:solidFill>
          <a:ln/>
        </p:spPr>
      </p:sp>
      <p:sp>
        <p:nvSpPr>
          <p:cNvPr id="13" name="Text 11"/>
          <p:cNvSpPr/>
          <p:nvPr/>
        </p:nvSpPr>
        <p:spPr>
          <a:xfrm>
            <a:off x="7149227" y="1873568"/>
            <a:ext cx="331827" cy="414814"/>
          </a:xfrm>
          <a:prstGeom prst="rect">
            <a:avLst/>
          </a:prstGeom>
          <a:noFill/>
          <a:ln/>
        </p:spPr>
        <p:txBody>
          <a:bodyPr wrap="none" lIns="0" tIns="0" rIns="0" bIns="0" rtlCol="0" anchor="t"/>
          <a:lstStyle/>
          <a:p>
            <a:pPr algn="l" indent="0" marL="0">
              <a:lnSpc>
                <a:spcPts val="2600"/>
              </a:lnSpc>
              <a:buNone/>
            </a:pPr>
            <a:r>
              <a:rPr lang="en-US" sz="2600" b="1" dirty="0">
                <a:solidFill>
                  <a:srgbClr val="D7D4CC"/>
                </a:solidFill>
                <a:latin typeface="Comfortaa Bold" pitchFamily="34" charset="0"/>
                <a:ea typeface="Comfortaa Bold" pitchFamily="34" charset="-122"/>
                <a:cs typeface="Comfortaa Bold" pitchFamily="34" charset="-120"/>
              </a:rPr>
              <a:t>2</a:t>
            </a:r>
            <a:endParaRPr lang="en-US" sz="2600" dirty="0"/>
          </a:p>
        </p:txBody>
      </p:sp>
      <p:sp>
        <p:nvSpPr>
          <p:cNvPr id="14" name="Text 12"/>
          <p:cNvSpPr/>
          <p:nvPr/>
        </p:nvSpPr>
        <p:spPr>
          <a:xfrm>
            <a:off x="5567124" y="2634139"/>
            <a:ext cx="2955369" cy="307300"/>
          </a:xfrm>
          <a:prstGeom prst="rect">
            <a:avLst/>
          </a:prstGeom>
          <a:noFill/>
          <a:ln/>
        </p:spPr>
        <p:txBody>
          <a:bodyPr wrap="none" lIns="0" tIns="0" rIns="0" bIns="0" rtlCol="0" anchor="t"/>
          <a:lstStyle/>
          <a:p>
            <a:pPr algn="l" indent="0" marL="0">
              <a:lnSpc>
                <a:spcPts val="2400"/>
              </a:lnSpc>
              <a:buNone/>
            </a:pPr>
            <a:r>
              <a:rPr lang="en-US" sz="1900" b="1" dirty="0">
                <a:solidFill>
                  <a:srgbClr val="D7D4CC"/>
                </a:solidFill>
                <a:latin typeface="Comfortaa Bold" pitchFamily="34" charset="0"/>
                <a:ea typeface="Comfortaa Bold" pitchFamily="34" charset="-122"/>
                <a:cs typeface="Comfortaa Bold" pitchFamily="34" charset="-120"/>
              </a:rPr>
              <a:t>Inventory Optimisation</a:t>
            </a:r>
            <a:endParaRPr lang="en-US" sz="1900" dirty="0"/>
          </a:p>
        </p:txBody>
      </p:sp>
      <p:sp>
        <p:nvSpPr>
          <p:cNvPr id="15" name="Text 13"/>
          <p:cNvSpPr/>
          <p:nvPr/>
        </p:nvSpPr>
        <p:spPr>
          <a:xfrm>
            <a:off x="5567124" y="3074194"/>
            <a:ext cx="3496032" cy="353854"/>
          </a:xfrm>
          <a:prstGeom prst="rect">
            <a:avLst/>
          </a:prstGeom>
          <a:noFill/>
          <a:ln/>
        </p:spPr>
        <p:txBody>
          <a:bodyPr wrap="none" lIns="0" tIns="0" rIns="0" bIns="0" rtlCol="0" anchor="t"/>
          <a:lstStyle/>
          <a:p>
            <a:pPr algn="l" indent="0" marL="0">
              <a:lnSpc>
                <a:spcPts val="2750"/>
              </a:lnSpc>
              <a:buNone/>
            </a:pPr>
            <a:r>
              <a:rPr lang="en-US" sz="1700" dirty="0">
                <a:solidFill>
                  <a:srgbClr val="D7D4CC"/>
                </a:solidFill>
                <a:latin typeface="Raleway Medium" pitchFamily="34" charset="0"/>
                <a:ea typeface="Raleway Medium" pitchFamily="34" charset="-122"/>
                <a:cs typeface="Raleway Medium" pitchFamily="34" charset="-120"/>
              </a:rPr>
              <a:t>Maintaining perfect stock levels</a:t>
            </a:r>
            <a:endParaRPr lang="en-US" sz="1700" dirty="0"/>
          </a:p>
        </p:txBody>
      </p:sp>
      <p:sp>
        <p:nvSpPr>
          <p:cNvPr id="16" name="Text 14"/>
          <p:cNvSpPr/>
          <p:nvPr/>
        </p:nvSpPr>
        <p:spPr>
          <a:xfrm>
            <a:off x="5567124" y="3560802"/>
            <a:ext cx="3496032" cy="353854"/>
          </a:xfrm>
          <a:prstGeom prst="rect">
            <a:avLst/>
          </a:prstGeom>
          <a:noFill/>
          <a:ln/>
        </p:spPr>
        <p:txBody>
          <a:bodyPr wrap="none" lIns="0" tIns="0" rIns="0" bIns="0" rtlCol="0" anchor="t"/>
          <a:lstStyle/>
          <a:p>
            <a:pPr algn="l" marL="342900" indent="-342900">
              <a:lnSpc>
                <a:spcPts val="2750"/>
              </a:lnSpc>
              <a:buSzPct val="100000"/>
              <a:buChar char="•"/>
            </a:pPr>
            <a:r>
              <a:rPr lang="en-US" sz="1700" dirty="0">
                <a:solidFill>
                  <a:srgbClr val="D7D4CC"/>
                </a:solidFill>
                <a:latin typeface="Raleway Medium" pitchFamily="34" charset="0"/>
                <a:ea typeface="Raleway Medium" pitchFamily="34" charset="-122"/>
                <a:cs typeface="Raleway Medium" pitchFamily="34" charset="-120"/>
              </a:rPr>
              <a:t>Reducing stockouts</a:t>
            </a:r>
            <a:endParaRPr lang="en-US" sz="1700" dirty="0"/>
          </a:p>
        </p:txBody>
      </p:sp>
      <p:sp>
        <p:nvSpPr>
          <p:cNvPr id="17" name="Text 15"/>
          <p:cNvSpPr/>
          <p:nvPr/>
        </p:nvSpPr>
        <p:spPr>
          <a:xfrm>
            <a:off x="5567124" y="3992047"/>
            <a:ext cx="3496032" cy="353854"/>
          </a:xfrm>
          <a:prstGeom prst="rect">
            <a:avLst/>
          </a:prstGeom>
          <a:noFill/>
          <a:ln/>
        </p:spPr>
        <p:txBody>
          <a:bodyPr wrap="none" lIns="0" tIns="0" rIns="0" bIns="0" rtlCol="0" anchor="t"/>
          <a:lstStyle/>
          <a:p>
            <a:pPr algn="l" marL="342900" indent="-342900">
              <a:lnSpc>
                <a:spcPts val="2750"/>
              </a:lnSpc>
              <a:buSzPct val="100000"/>
              <a:buChar char="•"/>
            </a:pPr>
            <a:r>
              <a:rPr lang="en-US" sz="1700" dirty="0">
                <a:solidFill>
                  <a:srgbClr val="D7D4CC"/>
                </a:solidFill>
                <a:latin typeface="Raleway Medium" pitchFamily="34" charset="0"/>
                <a:ea typeface="Raleway Medium" pitchFamily="34" charset="-122"/>
                <a:cs typeface="Raleway Medium" pitchFamily="34" charset="-120"/>
              </a:rPr>
              <a:t>Minimising excess inventory</a:t>
            </a:r>
            <a:endParaRPr lang="en-US" sz="1700" dirty="0"/>
          </a:p>
        </p:txBody>
      </p:sp>
      <p:sp>
        <p:nvSpPr>
          <p:cNvPr id="18" name="Text 16"/>
          <p:cNvSpPr/>
          <p:nvPr/>
        </p:nvSpPr>
        <p:spPr>
          <a:xfrm>
            <a:off x="5567124" y="4423291"/>
            <a:ext cx="3496032" cy="353854"/>
          </a:xfrm>
          <a:prstGeom prst="rect">
            <a:avLst/>
          </a:prstGeom>
          <a:noFill/>
          <a:ln/>
        </p:spPr>
        <p:txBody>
          <a:bodyPr wrap="none" lIns="0" tIns="0" rIns="0" bIns="0" rtlCol="0" anchor="t"/>
          <a:lstStyle/>
          <a:p>
            <a:pPr algn="l" marL="342900" indent="-342900">
              <a:lnSpc>
                <a:spcPts val="2750"/>
              </a:lnSpc>
              <a:buSzPct val="100000"/>
              <a:buChar char="•"/>
            </a:pPr>
            <a:r>
              <a:rPr lang="en-US" sz="1700" dirty="0">
                <a:solidFill>
                  <a:srgbClr val="D7D4CC"/>
                </a:solidFill>
                <a:latin typeface="Raleway Medium" pitchFamily="34" charset="0"/>
                <a:ea typeface="Raleway Medium" pitchFamily="34" charset="-122"/>
                <a:cs typeface="Raleway Medium" pitchFamily="34" charset="-120"/>
              </a:rPr>
              <a:t>Maximising turnover rates</a:t>
            </a:r>
            <a:endParaRPr lang="en-US" sz="1700" dirty="0"/>
          </a:p>
        </p:txBody>
      </p:sp>
      <p:sp>
        <p:nvSpPr>
          <p:cNvPr id="19" name="Shape 17"/>
          <p:cNvSpPr/>
          <p:nvPr/>
        </p:nvSpPr>
        <p:spPr>
          <a:xfrm>
            <a:off x="9536073" y="1718667"/>
            <a:ext cx="3999309" cy="3664029"/>
          </a:xfrm>
          <a:prstGeom prst="roundRect">
            <a:avLst>
              <a:gd name="adj" fmla="val 9059"/>
            </a:avLst>
          </a:prstGeom>
          <a:solidFill>
            <a:srgbClr val="27272B"/>
          </a:solidFill>
          <a:ln w="30480">
            <a:solidFill>
              <a:srgbClr val="5F5F63"/>
            </a:solidFill>
            <a:prstDash val="solid"/>
          </a:ln>
        </p:spPr>
      </p:sp>
      <p:sp>
        <p:nvSpPr>
          <p:cNvPr id="20" name="Shape 18"/>
          <p:cNvSpPr/>
          <p:nvPr/>
        </p:nvSpPr>
        <p:spPr>
          <a:xfrm>
            <a:off x="9566553" y="1749147"/>
            <a:ext cx="3938349" cy="663773"/>
          </a:xfrm>
          <a:prstGeom prst="roundRect">
            <a:avLst>
              <a:gd name="adj" fmla="val 44494"/>
            </a:avLst>
          </a:prstGeom>
          <a:solidFill>
            <a:srgbClr val="46464A"/>
          </a:solidFill>
          <a:ln/>
        </p:spPr>
      </p:sp>
      <p:sp>
        <p:nvSpPr>
          <p:cNvPr id="21" name="Text 19"/>
          <p:cNvSpPr/>
          <p:nvPr/>
        </p:nvSpPr>
        <p:spPr>
          <a:xfrm>
            <a:off x="11369754" y="1873568"/>
            <a:ext cx="331827" cy="414814"/>
          </a:xfrm>
          <a:prstGeom prst="rect">
            <a:avLst/>
          </a:prstGeom>
          <a:noFill/>
          <a:ln/>
        </p:spPr>
        <p:txBody>
          <a:bodyPr wrap="none" lIns="0" tIns="0" rIns="0" bIns="0" rtlCol="0" anchor="t"/>
          <a:lstStyle/>
          <a:p>
            <a:pPr algn="l" indent="0" marL="0">
              <a:lnSpc>
                <a:spcPts val="2600"/>
              </a:lnSpc>
              <a:buNone/>
            </a:pPr>
            <a:r>
              <a:rPr lang="en-US" sz="2600" b="1" dirty="0">
                <a:solidFill>
                  <a:srgbClr val="D7D4CC"/>
                </a:solidFill>
                <a:latin typeface="Comfortaa Bold" pitchFamily="34" charset="0"/>
                <a:ea typeface="Comfortaa Bold" pitchFamily="34" charset="-122"/>
                <a:cs typeface="Comfortaa Bold" pitchFamily="34" charset="-120"/>
              </a:rPr>
              <a:t>3</a:t>
            </a:r>
            <a:endParaRPr lang="en-US" sz="2600" dirty="0"/>
          </a:p>
        </p:txBody>
      </p:sp>
      <p:sp>
        <p:nvSpPr>
          <p:cNvPr id="22" name="Text 20"/>
          <p:cNvSpPr/>
          <p:nvPr/>
        </p:nvSpPr>
        <p:spPr>
          <a:xfrm>
            <a:off x="9787771" y="2634139"/>
            <a:ext cx="2458522" cy="307300"/>
          </a:xfrm>
          <a:prstGeom prst="rect">
            <a:avLst/>
          </a:prstGeom>
          <a:noFill/>
          <a:ln/>
        </p:spPr>
        <p:txBody>
          <a:bodyPr wrap="none" lIns="0" tIns="0" rIns="0" bIns="0" rtlCol="0" anchor="t"/>
          <a:lstStyle/>
          <a:p>
            <a:pPr algn="l" indent="0" marL="0">
              <a:lnSpc>
                <a:spcPts val="2400"/>
              </a:lnSpc>
              <a:buNone/>
            </a:pPr>
            <a:r>
              <a:rPr lang="en-US" sz="1900" b="1" dirty="0">
                <a:solidFill>
                  <a:srgbClr val="D7D4CC"/>
                </a:solidFill>
                <a:latin typeface="Comfortaa Bold" pitchFamily="34" charset="0"/>
                <a:ea typeface="Comfortaa Bold" pitchFamily="34" charset="-122"/>
                <a:cs typeface="Comfortaa Bold" pitchFamily="34" charset="-120"/>
              </a:rPr>
              <a:t>Dynamic Pricing</a:t>
            </a:r>
            <a:endParaRPr lang="en-US" sz="1900" dirty="0"/>
          </a:p>
        </p:txBody>
      </p:sp>
      <p:sp>
        <p:nvSpPr>
          <p:cNvPr id="23" name="Text 21"/>
          <p:cNvSpPr/>
          <p:nvPr/>
        </p:nvSpPr>
        <p:spPr>
          <a:xfrm>
            <a:off x="9787771" y="3074194"/>
            <a:ext cx="3495913" cy="353854"/>
          </a:xfrm>
          <a:prstGeom prst="rect">
            <a:avLst/>
          </a:prstGeom>
          <a:noFill/>
          <a:ln/>
        </p:spPr>
        <p:txBody>
          <a:bodyPr wrap="none" lIns="0" tIns="0" rIns="0" bIns="0" rtlCol="0" anchor="t"/>
          <a:lstStyle/>
          <a:p>
            <a:pPr algn="l" indent="0" marL="0">
              <a:lnSpc>
                <a:spcPts val="2750"/>
              </a:lnSpc>
              <a:buNone/>
            </a:pPr>
            <a:r>
              <a:rPr lang="en-US" sz="1700" dirty="0">
                <a:solidFill>
                  <a:srgbClr val="D7D4CC"/>
                </a:solidFill>
                <a:latin typeface="Raleway Medium" pitchFamily="34" charset="0"/>
                <a:ea typeface="Raleway Medium" pitchFamily="34" charset="-122"/>
                <a:cs typeface="Raleway Medium" pitchFamily="34" charset="-120"/>
              </a:rPr>
              <a:t>Adjusting prices in real-time</a:t>
            </a:r>
            <a:endParaRPr lang="en-US" sz="1700" dirty="0"/>
          </a:p>
        </p:txBody>
      </p:sp>
      <p:sp>
        <p:nvSpPr>
          <p:cNvPr id="24" name="Text 22"/>
          <p:cNvSpPr/>
          <p:nvPr/>
        </p:nvSpPr>
        <p:spPr>
          <a:xfrm>
            <a:off x="9787771" y="3560802"/>
            <a:ext cx="3495913" cy="353854"/>
          </a:xfrm>
          <a:prstGeom prst="rect">
            <a:avLst/>
          </a:prstGeom>
          <a:noFill/>
          <a:ln/>
        </p:spPr>
        <p:txBody>
          <a:bodyPr wrap="none" lIns="0" tIns="0" rIns="0" bIns="0" rtlCol="0" anchor="t"/>
          <a:lstStyle/>
          <a:p>
            <a:pPr algn="l" marL="342900" indent="-342900">
              <a:lnSpc>
                <a:spcPts val="2750"/>
              </a:lnSpc>
              <a:buSzPct val="100000"/>
              <a:buChar char="•"/>
            </a:pPr>
            <a:r>
              <a:rPr lang="en-US" sz="1700" dirty="0">
                <a:solidFill>
                  <a:srgbClr val="D7D4CC"/>
                </a:solidFill>
                <a:latin typeface="Raleway Medium" pitchFamily="34" charset="0"/>
                <a:ea typeface="Raleway Medium" pitchFamily="34" charset="-122"/>
                <a:cs typeface="Raleway Medium" pitchFamily="34" charset="-120"/>
              </a:rPr>
              <a:t>Competitor pricing analysis</a:t>
            </a:r>
            <a:endParaRPr lang="en-US" sz="1700" dirty="0"/>
          </a:p>
        </p:txBody>
      </p:sp>
      <p:sp>
        <p:nvSpPr>
          <p:cNvPr id="25" name="Text 23"/>
          <p:cNvSpPr/>
          <p:nvPr/>
        </p:nvSpPr>
        <p:spPr>
          <a:xfrm>
            <a:off x="9787771" y="3992047"/>
            <a:ext cx="3495913" cy="353854"/>
          </a:xfrm>
          <a:prstGeom prst="rect">
            <a:avLst/>
          </a:prstGeom>
          <a:noFill/>
          <a:ln/>
        </p:spPr>
        <p:txBody>
          <a:bodyPr wrap="none" lIns="0" tIns="0" rIns="0" bIns="0" rtlCol="0" anchor="t"/>
          <a:lstStyle/>
          <a:p>
            <a:pPr algn="l" marL="342900" indent="-342900">
              <a:lnSpc>
                <a:spcPts val="2750"/>
              </a:lnSpc>
              <a:buSzPct val="100000"/>
              <a:buChar char="•"/>
            </a:pPr>
            <a:r>
              <a:rPr lang="en-US" sz="1700" dirty="0">
                <a:solidFill>
                  <a:srgbClr val="D7D4CC"/>
                </a:solidFill>
                <a:latin typeface="Raleway Medium" pitchFamily="34" charset="0"/>
                <a:ea typeface="Raleway Medium" pitchFamily="34" charset="-122"/>
                <a:cs typeface="Raleway Medium" pitchFamily="34" charset="-120"/>
              </a:rPr>
              <a:t>Demand-based adjustments</a:t>
            </a:r>
            <a:endParaRPr lang="en-US" sz="1700" dirty="0"/>
          </a:p>
        </p:txBody>
      </p:sp>
      <p:sp>
        <p:nvSpPr>
          <p:cNvPr id="26" name="Text 24"/>
          <p:cNvSpPr/>
          <p:nvPr/>
        </p:nvSpPr>
        <p:spPr>
          <a:xfrm>
            <a:off x="9787771" y="4423291"/>
            <a:ext cx="3495913" cy="353854"/>
          </a:xfrm>
          <a:prstGeom prst="rect">
            <a:avLst/>
          </a:prstGeom>
          <a:noFill/>
          <a:ln/>
        </p:spPr>
        <p:txBody>
          <a:bodyPr wrap="none" lIns="0" tIns="0" rIns="0" bIns="0" rtlCol="0" anchor="t"/>
          <a:lstStyle/>
          <a:p>
            <a:pPr algn="l" marL="342900" indent="-342900">
              <a:lnSpc>
                <a:spcPts val="2750"/>
              </a:lnSpc>
              <a:buSzPct val="100000"/>
              <a:buChar char="•"/>
            </a:pPr>
            <a:r>
              <a:rPr lang="en-US" sz="1700" dirty="0">
                <a:solidFill>
                  <a:srgbClr val="D7D4CC"/>
                </a:solidFill>
                <a:latin typeface="Raleway Medium" pitchFamily="34" charset="0"/>
                <a:ea typeface="Raleway Medium" pitchFamily="34" charset="-122"/>
                <a:cs typeface="Raleway Medium" pitchFamily="34" charset="-120"/>
              </a:rPr>
              <a:t>Revenue optimisation</a:t>
            </a:r>
            <a:endParaRPr lang="en-US" sz="1700" dirty="0"/>
          </a:p>
        </p:txBody>
      </p:sp>
      <p:sp>
        <p:nvSpPr>
          <p:cNvPr id="27" name="Text 25"/>
          <p:cNvSpPr/>
          <p:nvPr/>
        </p:nvSpPr>
        <p:spPr>
          <a:xfrm>
            <a:off x="1094899" y="5830610"/>
            <a:ext cx="5950387" cy="1415415"/>
          </a:xfrm>
          <a:prstGeom prst="rect">
            <a:avLst/>
          </a:prstGeom>
          <a:noFill/>
          <a:ln/>
        </p:spPr>
        <p:txBody>
          <a:bodyPr wrap="square" lIns="0" tIns="0" rIns="0" bIns="0" rtlCol="0" anchor="t"/>
          <a:lstStyle/>
          <a:p>
            <a:pPr algn="l" indent="0" marL="0">
              <a:lnSpc>
                <a:spcPts val="2750"/>
              </a:lnSpc>
              <a:buNone/>
            </a:pPr>
            <a:r>
              <a:rPr lang="en-US" sz="1700" b="1" dirty="0">
                <a:solidFill>
                  <a:srgbClr val="D7D4CC"/>
                </a:solidFill>
                <a:latin typeface="Raleway Medium" pitchFamily="34" charset="0"/>
                <a:ea typeface="Raleway Medium" pitchFamily="34" charset="-122"/>
                <a:cs typeface="Raleway Medium" pitchFamily="34" charset="-120"/>
              </a:rPr>
              <a:t>Walmart</a:t>
            </a:r>
            <a:pPr algn="l" indent="0" marL="0">
              <a:lnSpc>
                <a:spcPts val="2750"/>
              </a:lnSpc>
              <a:buNone/>
            </a:pPr>
            <a:r>
              <a:rPr lang="en-US" sz="1700" dirty="0">
                <a:solidFill>
                  <a:srgbClr val="D7D4CC"/>
                </a:solidFill>
                <a:latin typeface="Raleway Medium" pitchFamily="34" charset="0"/>
                <a:ea typeface="Raleway Medium" pitchFamily="34" charset="-122"/>
                <a:cs typeface="Raleway Medium" pitchFamily="34" charset="-120"/>
              </a:rPr>
              <a:t> maximises revenue and minimises stockouts during peak seasons using AI-driven demand forecasting to optimise inventory levels across thousands of locations.</a:t>
            </a:r>
            <a:endParaRPr lang="en-US" sz="1700" dirty="0"/>
          </a:p>
        </p:txBody>
      </p:sp>
      <p:sp>
        <p:nvSpPr>
          <p:cNvPr id="28" name="Text 26"/>
          <p:cNvSpPr/>
          <p:nvPr/>
        </p:nvSpPr>
        <p:spPr>
          <a:xfrm>
            <a:off x="7592735" y="5830610"/>
            <a:ext cx="5950387" cy="1061561"/>
          </a:xfrm>
          <a:prstGeom prst="rect">
            <a:avLst/>
          </a:prstGeom>
          <a:noFill/>
          <a:ln/>
        </p:spPr>
        <p:txBody>
          <a:bodyPr wrap="square" lIns="0" tIns="0" rIns="0" bIns="0" rtlCol="0" anchor="t"/>
          <a:lstStyle/>
          <a:p>
            <a:pPr algn="l" indent="0" marL="0">
              <a:lnSpc>
                <a:spcPts val="2750"/>
              </a:lnSpc>
              <a:buNone/>
            </a:pPr>
            <a:r>
              <a:rPr lang="en-US" sz="1700" b="1" dirty="0">
                <a:solidFill>
                  <a:srgbClr val="D7D4CC"/>
                </a:solidFill>
                <a:latin typeface="Raleway Medium" pitchFamily="34" charset="0"/>
                <a:ea typeface="Raleway Medium" pitchFamily="34" charset="-122"/>
                <a:cs typeface="Raleway Medium" pitchFamily="34" charset="-120"/>
              </a:rPr>
              <a:t>Uber's</a:t>
            </a:r>
            <a:pPr algn="l" indent="0" marL="0">
              <a:lnSpc>
                <a:spcPts val="2750"/>
              </a:lnSpc>
              <a:buNone/>
            </a:pPr>
            <a:r>
              <a:rPr lang="en-US" sz="1700" dirty="0">
                <a:solidFill>
                  <a:srgbClr val="D7D4CC"/>
                </a:solidFill>
                <a:latin typeface="Raleway Medium" pitchFamily="34" charset="0"/>
                <a:ea typeface="Raleway Medium" pitchFamily="34" charset="-122"/>
                <a:cs typeface="Raleway Medium" pitchFamily="34" charset="-120"/>
              </a:rPr>
              <a:t> AI-driven dynamic pricing model balances supply and demand in real-time, maximising revenue whilst preserving service availability for customers.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23674" y="907137"/>
            <a:ext cx="12422981" cy="522922"/>
          </a:xfrm>
          <a:prstGeom prst="rect">
            <a:avLst/>
          </a:prstGeom>
          <a:noFill/>
          <a:ln/>
        </p:spPr>
        <p:txBody>
          <a:bodyPr wrap="none" lIns="0" tIns="0" rIns="0" bIns="0" rtlCol="0" anchor="t"/>
          <a:lstStyle/>
          <a:p>
            <a:pPr algn="l" indent="0" marL="0">
              <a:lnSpc>
                <a:spcPts val="4100"/>
              </a:lnSpc>
              <a:buNone/>
            </a:pPr>
            <a:r>
              <a:rPr lang="en-US" sz="3250" b="1" dirty="0">
                <a:solidFill>
                  <a:srgbClr val="FFE14D"/>
                </a:solidFill>
                <a:latin typeface="Comfortaa Bold" pitchFamily="34" charset="0"/>
                <a:ea typeface="Comfortaa Bold" pitchFamily="34" charset="-122"/>
                <a:cs typeface="Comfortaa Bold" pitchFamily="34" charset="-120"/>
              </a:rPr>
              <a:t>AI-Powered Cross-Selling, Upselling, and Revenue Growth</a:t>
            </a:r>
            <a:endParaRPr lang="en-US" sz="3250" dirty="0"/>
          </a:p>
        </p:txBody>
      </p:sp>
      <p:sp>
        <p:nvSpPr>
          <p:cNvPr id="3" name="Text 1"/>
          <p:cNvSpPr/>
          <p:nvPr/>
        </p:nvSpPr>
        <p:spPr>
          <a:xfrm>
            <a:off x="823674" y="1900714"/>
            <a:ext cx="12983051" cy="1129784"/>
          </a:xfrm>
          <a:prstGeom prst="rect">
            <a:avLst/>
          </a:prstGeom>
          <a:noFill/>
          <a:ln/>
        </p:spPr>
        <p:txBody>
          <a:bodyPr wrap="square" lIns="0" tIns="0" rIns="0" bIns="0" rtlCol="0" anchor="t"/>
          <a:lstStyle/>
          <a:p>
            <a:pPr algn="l" indent="0" marL="0">
              <a:lnSpc>
                <a:spcPts val="2950"/>
              </a:lnSpc>
              <a:buNone/>
            </a:pPr>
            <a:r>
              <a:rPr lang="en-US" sz="1850" dirty="0">
                <a:solidFill>
                  <a:srgbClr val="D7D4CC"/>
                </a:solidFill>
                <a:latin typeface="Raleway Medium" pitchFamily="34" charset="0"/>
                <a:ea typeface="Raleway Medium" pitchFamily="34" charset="-122"/>
                <a:cs typeface="Raleway Medium" pitchFamily="34" charset="-120"/>
              </a:rPr>
              <a:t>AI increases average order value through intelligent recommendations for related products, providing strategic upgrades when needed, and customising promotions and bundles based on individual customer preferences and purchase patterns.</a:t>
            </a:r>
            <a:endParaRPr lang="en-US" sz="18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23674" y="3295174"/>
            <a:ext cx="588288" cy="588288"/>
          </a:xfrm>
          <a:prstGeom prst="rect">
            <a:avLst/>
          </a:prstGeom>
        </p:spPr>
      </p:pic>
      <p:sp>
        <p:nvSpPr>
          <p:cNvPr id="5" name="Text 2"/>
          <p:cNvSpPr/>
          <p:nvPr/>
        </p:nvSpPr>
        <p:spPr>
          <a:xfrm>
            <a:off x="823674" y="4177546"/>
            <a:ext cx="3683198" cy="326827"/>
          </a:xfrm>
          <a:prstGeom prst="rect">
            <a:avLst/>
          </a:prstGeom>
          <a:noFill/>
          <a:ln/>
        </p:spPr>
        <p:txBody>
          <a:bodyPr wrap="none" lIns="0" tIns="0" rIns="0" bIns="0" rtlCol="0" anchor="t"/>
          <a:lstStyle/>
          <a:p>
            <a:pPr algn="l" indent="0" marL="0">
              <a:lnSpc>
                <a:spcPts val="2550"/>
              </a:lnSpc>
              <a:buNone/>
            </a:pPr>
            <a:r>
              <a:rPr lang="en-US" sz="2050" b="1" dirty="0">
                <a:solidFill>
                  <a:srgbClr val="D7D4CC"/>
                </a:solidFill>
                <a:latin typeface="Comfortaa Bold" pitchFamily="34" charset="0"/>
                <a:ea typeface="Comfortaa Bold" pitchFamily="34" charset="-122"/>
                <a:cs typeface="Comfortaa Bold" pitchFamily="34" charset="-120"/>
              </a:rPr>
              <a:t>Product Recommendations</a:t>
            </a:r>
            <a:endParaRPr lang="en-US" sz="2050" dirty="0"/>
          </a:p>
        </p:txBody>
      </p:sp>
      <p:sp>
        <p:nvSpPr>
          <p:cNvPr id="6" name="Text 3"/>
          <p:cNvSpPr/>
          <p:nvPr/>
        </p:nvSpPr>
        <p:spPr>
          <a:xfrm>
            <a:off x="823674" y="4645462"/>
            <a:ext cx="4131588" cy="1129784"/>
          </a:xfrm>
          <a:prstGeom prst="rect">
            <a:avLst/>
          </a:prstGeom>
          <a:noFill/>
          <a:ln/>
        </p:spPr>
        <p:txBody>
          <a:bodyPr wrap="square" lIns="0" tIns="0" rIns="0" bIns="0" rtlCol="0" anchor="t"/>
          <a:lstStyle/>
          <a:p>
            <a:pPr algn="l" indent="0" marL="0">
              <a:lnSpc>
                <a:spcPts val="2950"/>
              </a:lnSpc>
              <a:buNone/>
            </a:pPr>
            <a:r>
              <a:rPr lang="en-US" sz="1850" dirty="0">
                <a:solidFill>
                  <a:srgbClr val="D7D4CC"/>
                </a:solidFill>
                <a:latin typeface="Raleway Medium" pitchFamily="34" charset="0"/>
                <a:ea typeface="Raleway Medium" pitchFamily="34" charset="-122"/>
                <a:cs typeface="Raleway Medium" pitchFamily="34" charset="-120"/>
              </a:rPr>
              <a:t>Suggesting complementary items that enhance the customer's purchase and overall experience</a:t>
            </a:r>
            <a:endParaRPr lang="en-US" sz="18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49347" y="3295174"/>
            <a:ext cx="588288" cy="588288"/>
          </a:xfrm>
          <a:prstGeom prst="rect">
            <a:avLst/>
          </a:prstGeom>
        </p:spPr>
      </p:pic>
      <p:sp>
        <p:nvSpPr>
          <p:cNvPr id="8" name="Text 4"/>
          <p:cNvSpPr/>
          <p:nvPr/>
        </p:nvSpPr>
        <p:spPr>
          <a:xfrm>
            <a:off x="5249347" y="4177546"/>
            <a:ext cx="2690336" cy="326827"/>
          </a:xfrm>
          <a:prstGeom prst="rect">
            <a:avLst/>
          </a:prstGeom>
          <a:noFill/>
          <a:ln/>
        </p:spPr>
        <p:txBody>
          <a:bodyPr wrap="none" lIns="0" tIns="0" rIns="0" bIns="0" rtlCol="0" anchor="t"/>
          <a:lstStyle/>
          <a:p>
            <a:pPr algn="l" indent="0" marL="0">
              <a:lnSpc>
                <a:spcPts val="2550"/>
              </a:lnSpc>
              <a:buNone/>
            </a:pPr>
            <a:r>
              <a:rPr lang="en-US" sz="2050" b="1" dirty="0">
                <a:solidFill>
                  <a:srgbClr val="D7D4CC"/>
                </a:solidFill>
                <a:latin typeface="Comfortaa Bold" pitchFamily="34" charset="0"/>
                <a:ea typeface="Comfortaa Bold" pitchFamily="34" charset="-122"/>
                <a:cs typeface="Comfortaa Bold" pitchFamily="34" charset="-120"/>
              </a:rPr>
              <a:t>Strategic Upgrades</a:t>
            </a:r>
            <a:endParaRPr lang="en-US" sz="2050" dirty="0"/>
          </a:p>
        </p:txBody>
      </p:sp>
      <p:sp>
        <p:nvSpPr>
          <p:cNvPr id="9" name="Text 5"/>
          <p:cNvSpPr/>
          <p:nvPr/>
        </p:nvSpPr>
        <p:spPr>
          <a:xfrm>
            <a:off x="5249347" y="4645462"/>
            <a:ext cx="4131588" cy="1129784"/>
          </a:xfrm>
          <a:prstGeom prst="rect">
            <a:avLst/>
          </a:prstGeom>
          <a:noFill/>
          <a:ln/>
        </p:spPr>
        <p:txBody>
          <a:bodyPr wrap="square" lIns="0" tIns="0" rIns="0" bIns="0" rtlCol="0" anchor="t"/>
          <a:lstStyle/>
          <a:p>
            <a:pPr algn="l" indent="0" marL="0">
              <a:lnSpc>
                <a:spcPts val="2950"/>
              </a:lnSpc>
              <a:buNone/>
            </a:pPr>
            <a:r>
              <a:rPr lang="en-US" sz="1850" dirty="0">
                <a:solidFill>
                  <a:srgbClr val="D7D4CC"/>
                </a:solidFill>
                <a:latin typeface="Raleway Medium" pitchFamily="34" charset="0"/>
                <a:ea typeface="Raleway Medium" pitchFamily="34" charset="-122"/>
                <a:cs typeface="Raleway Medium" pitchFamily="34" charset="-120"/>
              </a:rPr>
              <a:t>Identifying optimal moments to present premium options and enhanced features</a:t>
            </a:r>
            <a:endParaRPr lang="en-US" sz="18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75019" y="3295174"/>
            <a:ext cx="588288" cy="588288"/>
          </a:xfrm>
          <a:prstGeom prst="rect">
            <a:avLst/>
          </a:prstGeom>
        </p:spPr>
      </p:pic>
      <p:sp>
        <p:nvSpPr>
          <p:cNvPr id="11" name="Text 6"/>
          <p:cNvSpPr/>
          <p:nvPr/>
        </p:nvSpPr>
        <p:spPr>
          <a:xfrm>
            <a:off x="9675019" y="4177546"/>
            <a:ext cx="2614851" cy="326827"/>
          </a:xfrm>
          <a:prstGeom prst="rect">
            <a:avLst/>
          </a:prstGeom>
          <a:noFill/>
          <a:ln/>
        </p:spPr>
        <p:txBody>
          <a:bodyPr wrap="none" lIns="0" tIns="0" rIns="0" bIns="0" rtlCol="0" anchor="t"/>
          <a:lstStyle/>
          <a:p>
            <a:pPr algn="l" indent="0" marL="0">
              <a:lnSpc>
                <a:spcPts val="2550"/>
              </a:lnSpc>
              <a:buNone/>
            </a:pPr>
            <a:r>
              <a:rPr lang="en-US" sz="2050" b="1" dirty="0">
                <a:solidFill>
                  <a:srgbClr val="D7D4CC"/>
                </a:solidFill>
                <a:latin typeface="Comfortaa Bold" pitchFamily="34" charset="0"/>
                <a:ea typeface="Comfortaa Bold" pitchFamily="34" charset="-122"/>
                <a:cs typeface="Comfortaa Bold" pitchFamily="34" charset="-120"/>
              </a:rPr>
              <a:t>Bundle Creation</a:t>
            </a:r>
            <a:endParaRPr lang="en-US" sz="2050" dirty="0"/>
          </a:p>
        </p:txBody>
      </p:sp>
      <p:sp>
        <p:nvSpPr>
          <p:cNvPr id="12" name="Text 7"/>
          <p:cNvSpPr/>
          <p:nvPr/>
        </p:nvSpPr>
        <p:spPr>
          <a:xfrm>
            <a:off x="9675019" y="4645462"/>
            <a:ext cx="4131588" cy="1129784"/>
          </a:xfrm>
          <a:prstGeom prst="rect">
            <a:avLst/>
          </a:prstGeom>
          <a:noFill/>
          <a:ln/>
        </p:spPr>
        <p:txBody>
          <a:bodyPr wrap="square" lIns="0" tIns="0" rIns="0" bIns="0" rtlCol="0" anchor="t"/>
          <a:lstStyle/>
          <a:p>
            <a:pPr algn="l" indent="0" marL="0">
              <a:lnSpc>
                <a:spcPts val="2950"/>
              </a:lnSpc>
              <a:buNone/>
            </a:pPr>
            <a:r>
              <a:rPr lang="en-US" sz="1850" dirty="0">
                <a:solidFill>
                  <a:srgbClr val="D7D4CC"/>
                </a:solidFill>
                <a:latin typeface="Raleway Medium" pitchFamily="34" charset="0"/>
                <a:ea typeface="Raleway Medium" pitchFamily="34" charset="-122"/>
                <a:cs typeface="Raleway Medium" pitchFamily="34" charset="-120"/>
              </a:rPr>
              <a:t>Automatically generating personalised product bundles with attractive pricing</a:t>
            </a:r>
            <a:endParaRPr lang="en-US" sz="1850" dirty="0"/>
          </a:p>
        </p:txBody>
      </p:sp>
      <p:sp>
        <p:nvSpPr>
          <p:cNvPr id="13" name="Text 8"/>
          <p:cNvSpPr/>
          <p:nvPr/>
        </p:nvSpPr>
        <p:spPr>
          <a:xfrm>
            <a:off x="1176576" y="6304597"/>
            <a:ext cx="12630150" cy="753189"/>
          </a:xfrm>
          <a:prstGeom prst="rect">
            <a:avLst/>
          </a:prstGeom>
          <a:noFill/>
          <a:ln/>
        </p:spPr>
        <p:txBody>
          <a:bodyPr wrap="square" lIns="0" tIns="0" rIns="0" bIns="0" rtlCol="0" anchor="t"/>
          <a:lstStyle/>
          <a:p>
            <a:pPr algn="l" indent="0" marL="0">
              <a:lnSpc>
                <a:spcPts val="2950"/>
              </a:lnSpc>
              <a:buNone/>
            </a:pPr>
            <a:r>
              <a:rPr lang="en-US" sz="1850" dirty="0">
                <a:solidFill>
                  <a:srgbClr val="D7D4CC"/>
                </a:solidFill>
                <a:latin typeface="Raleway Medium" pitchFamily="34" charset="0"/>
                <a:ea typeface="Raleway Medium" pitchFamily="34" charset="-122"/>
                <a:cs typeface="Raleway Medium" pitchFamily="34" charset="-120"/>
              </a:rPr>
              <a:t>Spotify increases user engagement and subscription conversions by using AI to customise playlists and deliver timely premium upgrade prompts, resulting in higher customer lifetime value.</a:t>
            </a:r>
            <a:endParaRPr lang="en-US" sz="1850" dirty="0"/>
          </a:p>
        </p:txBody>
      </p:sp>
      <p:sp>
        <p:nvSpPr>
          <p:cNvPr id="14" name="Shape 9"/>
          <p:cNvSpPr/>
          <p:nvPr/>
        </p:nvSpPr>
        <p:spPr>
          <a:xfrm>
            <a:off x="823674" y="6039922"/>
            <a:ext cx="30480" cy="1282541"/>
          </a:xfrm>
          <a:prstGeom prst="rect">
            <a:avLst/>
          </a:prstGeom>
          <a:solidFill>
            <a:srgbClr val="FFE14D"/>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1518166" y="731639"/>
            <a:ext cx="1944886" cy="387548"/>
          </a:xfrm>
          <a:prstGeom prst="roundRect">
            <a:avLst>
              <a:gd name="adj" fmla="val 63853"/>
            </a:avLst>
          </a:prstGeom>
          <a:solidFill>
            <a:srgbClr val="FFF6CC"/>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641872" y="842963"/>
            <a:ext cx="164902" cy="164902"/>
          </a:xfrm>
          <a:prstGeom prst="rect">
            <a:avLst/>
          </a:prstGeom>
        </p:spPr>
      </p:pic>
      <p:sp>
        <p:nvSpPr>
          <p:cNvPr id="4" name="Text 1"/>
          <p:cNvSpPr/>
          <p:nvPr/>
        </p:nvSpPr>
        <p:spPr>
          <a:xfrm>
            <a:off x="1889165" y="793433"/>
            <a:ext cx="1450181" cy="263962"/>
          </a:xfrm>
          <a:prstGeom prst="rect">
            <a:avLst/>
          </a:prstGeom>
          <a:noFill/>
          <a:ln/>
        </p:spPr>
        <p:txBody>
          <a:bodyPr wrap="none" lIns="0" tIns="0" rIns="0" bIns="0" rtlCol="0" anchor="t"/>
          <a:lstStyle/>
          <a:p>
            <a:pPr algn="l" indent="0" marL="0">
              <a:lnSpc>
                <a:spcPts val="2050"/>
              </a:lnSpc>
              <a:buNone/>
            </a:pPr>
            <a:r>
              <a:rPr lang="en-US" sz="1250" dirty="0">
                <a:solidFill>
                  <a:srgbClr val="000000"/>
                </a:solidFill>
                <a:latin typeface="Raleway Medium" pitchFamily="34" charset="0"/>
                <a:ea typeface="Raleway Medium" pitchFamily="34" charset="-122"/>
                <a:cs typeface="Raleway Medium" pitchFamily="34" charset="-120"/>
              </a:rPr>
              <a:t>BUSINESS IMPACT</a:t>
            </a:r>
            <a:endParaRPr lang="en-US" sz="1250" dirty="0"/>
          </a:p>
        </p:txBody>
      </p:sp>
      <p:sp>
        <p:nvSpPr>
          <p:cNvPr id="5" name="Text 2"/>
          <p:cNvSpPr/>
          <p:nvPr/>
        </p:nvSpPr>
        <p:spPr>
          <a:xfrm>
            <a:off x="1518166" y="1201579"/>
            <a:ext cx="8025527" cy="458153"/>
          </a:xfrm>
          <a:prstGeom prst="rect">
            <a:avLst/>
          </a:prstGeom>
          <a:noFill/>
          <a:ln/>
        </p:spPr>
        <p:txBody>
          <a:bodyPr wrap="none" lIns="0" tIns="0" rIns="0" bIns="0" rtlCol="0" anchor="t"/>
          <a:lstStyle/>
          <a:p>
            <a:pPr algn="l" indent="0" marL="0">
              <a:lnSpc>
                <a:spcPts val="3600"/>
              </a:lnSpc>
              <a:buNone/>
            </a:pPr>
            <a:r>
              <a:rPr lang="en-US" sz="2850" b="1" dirty="0">
                <a:solidFill>
                  <a:srgbClr val="000000"/>
                </a:solidFill>
                <a:latin typeface="Comfortaa Bold" pitchFamily="34" charset="0"/>
                <a:ea typeface="Comfortaa Bold" pitchFamily="34" charset="-122"/>
                <a:cs typeface="Comfortaa Bold" pitchFamily="34" charset="-120"/>
              </a:rPr>
              <a:t>Measurable Benefits of AI Implementation</a:t>
            </a:r>
            <a:endParaRPr lang="en-US" sz="2850" dirty="0"/>
          </a:p>
        </p:txBody>
      </p:sp>
      <p:sp>
        <p:nvSpPr>
          <p:cNvPr id="6" name="Text 3"/>
          <p:cNvSpPr/>
          <p:nvPr/>
        </p:nvSpPr>
        <p:spPr>
          <a:xfrm>
            <a:off x="1518166" y="2072164"/>
            <a:ext cx="2705100" cy="680442"/>
          </a:xfrm>
          <a:prstGeom prst="rect">
            <a:avLst/>
          </a:prstGeom>
          <a:noFill/>
          <a:ln/>
        </p:spPr>
        <p:txBody>
          <a:bodyPr wrap="none" lIns="0" tIns="0" rIns="0" bIns="0" rtlCol="0" anchor="t"/>
          <a:lstStyle/>
          <a:p>
            <a:pPr algn="ctr" indent="0" marL="0">
              <a:lnSpc>
                <a:spcPts val="5350"/>
              </a:lnSpc>
              <a:buNone/>
            </a:pPr>
            <a:r>
              <a:rPr lang="en-US" sz="5350" b="1" dirty="0">
                <a:solidFill>
                  <a:srgbClr val="000000"/>
                </a:solidFill>
                <a:latin typeface="Comfortaa Bold" pitchFamily="34" charset="0"/>
                <a:ea typeface="Comfortaa Bold" pitchFamily="34" charset="-122"/>
                <a:cs typeface="Comfortaa Bold" pitchFamily="34" charset="-120"/>
              </a:rPr>
              <a:t>35%</a:t>
            </a:r>
            <a:endParaRPr lang="en-US" sz="5350" dirty="0"/>
          </a:p>
        </p:txBody>
      </p:sp>
      <p:sp>
        <p:nvSpPr>
          <p:cNvPr id="7" name="Text 4"/>
          <p:cNvSpPr/>
          <p:nvPr/>
        </p:nvSpPr>
        <p:spPr>
          <a:xfrm>
            <a:off x="1725097" y="3010376"/>
            <a:ext cx="2291239" cy="286345"/>
          </a:xfrm>
          <a:prstGeom prst="rect">
            <a:avLst/>
          </a:prstGeom>
          <a:noFill/>
          <a:ln/>
        </p:spPr>
        <p:txBody>
          <a:bodyPr wrap="none" lIns="0" tIns="0" rIns="0" bIns="0" rtlCol="0" anchor="t"/>
          <a:lstStyle/>
          <a:p>
            <a:pPr algn="ctr" indent="0" marL="0">
              <a:lnSpc>
                <a:spcPts val="2250"/>
              </a:lnSpc>
              <a:buNone/>
            </a:pPr>
            <a:r>
              <a:rPr lang="en-US" sz="1800" b="1" dirty="0">
                <a:solidFill>
                  <a:srgbClr val="000000"/>
                </a:solidFill>
                <a:latin typeface="Comfortaa Bold" pitchFamily="34" charset="0"/>
                <a:ea typeface="Comfortaa Bold" pitchFamily="34" charset="-122"/>
                <a:cs typeface="Comfortaa Bold" pitchFamily="34" charset="-120"/>
              </a:rPr>
              <a:t>Revenue Increase</a:t>
            </a:r>
            <a:endParaRPr lang="en-US" sz="1800" dirty="0"/>
          </a:p>
        </p:txBody>
      </p:sp>
      <p:sp>
        <p:nvSpPr>
          <p:cNvPr id="8" name="Text 5"/>
          <p:cNvSpPr/>
          <p:nvPr/>
        </p:nvSpPr>
        <p:spPr>
          <a:xfrm>
            <a:off x="1518166" y="3420428"/>
            <a:ext cx="2705100" cy="989767"/>
          </a:xfrm>
          <a:prstGeom prst="rect">
            <a:avLst/>
          </a:prstGeom>
          <a:noFill/>
          <a:ln/>
        </p:spPr>
        <p:txBody>
          <a:bodyPr wrap="square" lIns="0" tIns="0" rIns="0" bIns="0" rtlCol="0" anchor="t"/>
          <a:lstStyle/>
          <a:p>
            <a:pPr algn="ctr" indent="0" marL="0">
              <a:lnSpc>
                <a:spcPts val="2550"/>
              </a:lnSpc>
              <a:buNone/>
            </a:pPr>
            <a:r>
              <a:rPr lang="en-US" sz="1600" dirty="0">
                <a:solidFill>
                  <a:srgbClr val="000000"/>
                </a:solidFill>
                <a:latin typeface="Raleway Medium" pitchFamily="34" charset="0"/>
                <a:ea typeface="Raleway Medium" pitchFamily="34" charset="-122"/>
                <a:cs typeface="Raleway Medium" pitchFamily="34" charset="-120"/>
              </a:rPr>
              <a:t>Average lift in total revenue from AI-powered recommendations</a:t>
            </a:r>
            <a:endParaRPr lang="en-US" sz="1600" dirty="0"/>
          </a:p>
        </p:txBody>
      </p:sp>
      <p:sp>
        <p:nvSpPr>
          <p:cNvPr id="9" name="Text 6"/>
          <p:cNvSpPr/>
          <p:nvPr/>
        </p:nvSpPr>
        <p:spPr>
          <a:xfrm>
            <a:off x="4481036" y="2072164"/>
            <a:ext cx="2705219" cy="680442"/>
          </a:xfrm>
          <a:prstGeom prst="rect">
            <a:avLst/>
          </a:prstGeom>
          <a:noFill/>
          <a:ln/>
        </p:spPr>
        <p:txBody>
          <a:bodyPr wrap="none" lIns="0" tIns="0" rIns="0" bIns="0" rtlCol="0" anchor="t"/>
          <a:lstStyle/>
          <a:p>
            <a:pPr algn="ctr" indent="0" marL="0">
              <a:lnSpc>
                <a:spcPts val="5350"/>
              </a:lnSpc>
              <a:buNone/>
            </a:pPr>
            <a:r>
              <a:rPr lang="en-US" sz="5350" b="1" dirty="0">
                <a:solidFill>
                  <a:srgbClr val="000000"/>
                </a:solidFill>
                <a:latin typeface="Comfortaa Bold" pitchFamily="34" charset="0"/>
                <a:ea typeface="Comfortaa Bold" pitchFamily="34" charset="-122"/>
                <a:cs typeface="Comfortaa Bold" pitchFamily="34" charset="-120"/>
              </a:rPr>
              <a:t>2.5x</a:t>
            </a:r>
            <a:endParaRPr lang="en-US" sz="5350" dirty="0"/>
          </a:p>
        </p:txBody>
      </p:sp>
      <p:sp>
        <p:nvSpPr>
          <p:cNvPr id="10" name="Text 7"/>
          <p:cNvSpPr/>
          <p:nvPr/>
        </p:nvSpPr>
        <p:spPr>
          <a:xfrm>
            <a:off x="4687967" y="3010376"/>
            <a:ext cx="2291239" cy="286345"/>
          </a:xfrm>
          <a:prstGeom prst="rect">
            <a:avLst/>
          </a:prstGeom>
          <a:noFill/>
          <a:ln/>
        </p:spPr>
        <p:txBody>
          <a:bodyPr wrap="none" lIns="0" tIns="0" rIns="0" bIns="0" rtlCol="0" anchor="t"/>
          <a:lstStyle/>
          <a:p>
            <a:pPr algn="ctr" indent="0" marL="0">
              <a:lnSpc>
                <a:spcPts val="2250"/>
              </a:lnSpc>
              <a:buNone/>
            </a:pPr>
            <a:r>
              <a:rPr lang="en-US" sz="1800" b="1" dirty="0">
                <a:solidFill>
                  <a:srgbClr val="000000"/>
                </a:solidFill>
                <a:latin typeface="Comfortaa Bold" pitchFamily="34" charset="0"/>
                <a:ea typeface="Comfortaa Bold" pitchFamily="34" charset="-122"/>
                <a:cs typeface="Comfortaa Bold" pitchFamily="34" charset="-120"/>
              </a:rPr>
              <a:t>CLV Growth</a:t>
            </a:r>
            <a:endParaRPr lang="en-US" sz="1800" dirty="0"/>
          </a:p>
        </p:txBody>
      </p:sp>
      <p:sp>
        <p:nvSpPr>
          <p:cNvPr id="11" name="Text 8"/>
          <p:cNvSpPr/>
          <p:nvPr/>
        </p:nvSpPr>
        <p:spPr>
          <a:xfrm>
            <a:off x="4481036" y="3420428"/>
            <a:ext cx="2705219" cy="989767"/>
          </a:xfrm>
          <a:prstGeom prst="rect">
            <a:avLst/>
          </a:prstGeom>
          <a:noFill/>
          <a:ln/>
        </p:spPr>
        <p:txBody>
          <a:bodyPr wrap="square" lIns="0" tIns="0" rIns="0" bIns="0" rtlCol="0" anchor="t"/>
          <a:lstStyle/>
          <a:p>
            <a:pPr algn="ctr" indent="0" marL="0">
              <a:lnSpc>
                <a:spcPts val="2550"/>
              </a:lnSpc>
              <a:buNone/>
            </a:pPr>
            <a:r>
              <a:rPr lang="en-US" sz="1600" dirty="0">
                <a:solidFill>
                  <a:srgbClr val="000000"/>
                </a:solidFill>
                <a:latin typeface="Raleway Medium" pitchFamily="34" charset="0"/>
                <a:ea typeface="Raleway Medium" pitchFamily="34" charset="-122"/>
                <a:cs typeface="Raleway Medium" pitchFamily="34" charset="-120"/>
              </a:rPr>
              <a:t>Increased customer lifetime value through retention strategies</a:t>
            </a:r>
            <a:endParaRPr lang="en-US" sz="1600" dirty="0"/>
          </a:p>
        </p:txBody>
      </p:sp>
      <p:sp>
        <p:nvSpPr>
          <p:cNvPr id="12" name="Text 9"/>
          <p:cNvSpPr/>
          <p:nvPr/>
        </p:nvSpPr>
        <p:spPr>
          <a:xfrm>
            <a:off x="7444026" y="2072164"/>
            <a:ext cx="2705100" cy="680442"/>
          </a:xfrm>
          <a:prstGeom prst="rect">
            <a:avLst/>
          </a:prstGeom>
          <a:noFill/>
          <a:ln/>
        </p:spPr>
        <p:txBody>
          <a:bodyPr wrap="none" lIns="0" tIns="0" rIns="0" bIns="0" rtlCol="0" anchor="t"/>
          <a:lstStyle/>
          <a:p>
            <a:pPr algn="ctr" indent="0" marL="0">
              <a:lnSpc>
                <a:spcPts val="5350"/>
              </a:lnSpc>
              <a:buNone/>
            </a:pPr>
            <a:r>
              <a:rPr lang="en-US" sz="5350" b="1" dirty="0">
                <a:solidFill>
                  <a:srgbClr val="000000"/>
                </a:solidFill>
                <a:latin typeface="Comfortaa Bold" pitchFamily="34" charset="0"/>
                <a:ea typeface="Comfortaa Bold" pitchFamily="34" charset="-122"/>
                <a:cs typeface="Comfortaa Bold" pitchFamily="34" charset="-120"/>
              </a:rPr>
              <a:t>40%</a:t>
            </a:r>
            <a:endParaRPr lang="en-US" sz="5350" dirty="0"/>
          </a:p>
        </p:txBody>
      </p:sp>
      <p:sp>
        <p:nvSpPr>
          <p:cNvPr id="13" name="Text 10"/>
          <p:cNvSpPr/>
          <p:nvPr/>
        </p:nvSpPr>
        <p:spPr>
          <a:xfrm>
            <a:off x="7650956" y="3010376"/>
            <a:ext cx="2291239" cy="286345"/>
          </a:xfrm>
          <a:prstGeom prst="rect">
            <a:avLst/>
          </a:prstGeom>
          <a:noFill/>
          <a:ln/>
        </p:spPr>
        <p:txBody>
          <a:bodyPr wrap="none" lIns="0" tIns="0" rIns="0" bIns="0" rtlCol="0" anchor="t"/>
          <a:lstStyle/>
          <a:p>
            <a:pPr algn="ctr" indent="0" marL="0">
              <a:lnSpc>
                <a:spcPts val="2250"/>
              </a:lnSpc>
              <a:buNone/>
            </a:pPr>
            <a:r>
              <a:rPr lang="en-US" sz="1800" b="1" dirty="0">
                <a:solidFill>
                  <a:srgbClr val="000000"/>
                </a:solidFill>
                <a:latin typeface="Comfortaa Bold" pitchFamily="34" charset="0"/>
                <a:ea typeface="Comfortaa Bold" pitchFamily="34" charset="-122"/>
                <a:cs typeface="Comfortaa Bold" pitchFamily="34" charset="-120"/>
              </a:rPr>
              <a:t>Cost Reduction</a:t>
            </a:r>
            <a:endParaRPr lang="en-US" sz="1800" dirty="0"/>
          </a:p>
        </p:txBody>
      </p:sp>
      <p:sp>
        <p:nvSpPr>
          <p:cNvPr id="14" name="Text 11"/>
          <p:cNvSpPr/>
          <p:nvPr/>
        </p:nvSpPr>
        <p:spPr>
          <a:xfrm>
            <a:off x="7444026" y="3420428"/>
            <a:ext cx="2705100" cy="989767"/>
          </a:xfrm>
          <a:prstGeom prst="rect">
            <a:avLst/>
          </a:prstGeom>
          <a:noFill/>
          <a:ln/>
        </p:spPr>
        <p:txBody>
          <a:bodyPr wrap="square" lIns="0" tIns="0" rIns="0" bIns="0" rtlCol="0" anchor="t"/>
          <a:lstStyle/>
          <a:p>
            <a:pPr algn="ctr" indent="0" marL="0">
              <a:lnSpc>
                <a:spcPts val="2550"/>
              </a:lnSpc>
              <a:buNone/>
            </a:pPr>
            <a:r>
              <a:rPr lang="en-US" sz="1600" dirty="0">
                <a:solidFill>
                  <a:srgbClr val="000000"/>
                </a:solidFill>
                <a:latin typeface="Raleway Medium" pitchFamily="34" charset="0"/>
                <a:ea typeface="Raleway Medium" pitchFamily="34" charset="-122"/>
                <a:cs typeface="Raleway Medium" pitchFamily="34" charset="-120"/>
              </a:rPr>
              <a:t>Lower acquisition and marketing expenses through efficiency</a:t>
            </a:r>
            <a:endParaRPr lang="en-US" sz="1600" dirty="0"/>
          </a:p>
        </p:txBody>
      </p:sp>
      <p:sp>
        <p:nvSpPr>
          <p:cNvPr id="15" name="Text 12"/>
          <p:cNvSpPr/>
          <p:nvPr/>
        </p:nvSpPr>
        <p:spPr>
          <a:xfrm>
            <a:off x="10406896" y="2072164"/>
            <a:ext cx="2705219" cy="680442"/>
          </a:xfrm>
          <a:prstGeom prst="rect">
            <a:avLst/>
          </a:prstGeom>
          <a:noFill/>
          <a:ln/>
        </p:spPr>
        <p:txBody>
          <a:bodyPr wrap="none" lIns="0" tIns="0" rIns="0" bIns="0" rtlCol="0" anchor="t"/>
          <a:lstStyle/>
          <a:p>
            <a:pPr algn="ctr" indent="0" marL="0">
              <a:lnSpc>
                <a:spcPts val="5350"/>
              </a:lnSpc>
              <a:buNone/>
            </a:pPr>
            <a:r>
              <a:rPr lang="en-US" sz="5350" b="1" dirty="0">
                <a:solidFill>
                  <a:srgbClr val="000000"/>
                </a:solidFill>
                <a:latin typeface="Comfortaa Bold" pitchFamily="34" charset="0"/>
                <a:ea typeface="Comfortaa Bold" pitchFamily="34" charset="-122"/>
                <a:cs typeface="Comfortaa Bold" pitchFamily="34" charset="-120"/>
              </a:rPr>
              <a:t>60%</a:t>
            </a:r>
            <a:endParaRPr lang="en-US" sz="5350" dirty="0"/>
          </a:p>
        </p:txBody>
      </p:sp>
      <p:sp>
        <p:nvSpPr>
          <p:cNvPr id="16" name="Text 13"/>
          <p:cNvSpPr/>
          <p:nvPr/>
        </p:nvSpPr>
        <p:spPr>
          <a:xfrm>
            <a:off x="10613827" y="3010376"/>
            <a:ext cx="2291239" cy="286345"/>
          </a:xfrm>
          <a:prstGeom prst="rect">
            <a:avLst/>
          </a:prstGeom>
          <a:noFill/>
          <a:ln/>
        </p:spPr>
        <p:txBody>
          <a:bodyPr wrap="none" lIns="0" tIns="0" rIns="0" bIns="0" rtlCol="0" anchor="t"/>
          <a:lstStyle/>
          <a:p>
            <a:pPr algn="ctr" indent="0" marL="0">
              <a:lnSpc>
                <a:spcPts val="2250"/>
              </a:lnSpc>
              <a:buNone/>
            </a:pPr>
            <a:r>
              <a:rPr lang="en-US" sz="1800" b="1" dirty="0">
                <a:solidFill>
                  <a:srgbClr val="000000"/>
                </a:solidFill>
                <a:latin typeface="Comfortaa Bold" pitchFamily="34" charset="0"/>
                <a:ea typeface="Comfortaa Bold" pitchFamily="34" charset="-122"/>
                <a:cs typeface="Comfortaa Bold" pitchFamily="34" charset="-120"/>
              </a:rPr>
              <a:t>Faster Decisions</a:t>
            </a:r>
            <a:endParaRPr lang="en-US" sz="1800" dirty="0"/>
          </a:p>
        </p:txBody>
      </p:sp>
      <p:sp>
        <p:nvSpPr>
          <p:cNvPr id="17" name="Text 14"/>
          <p:cNvSpPr/>
          <p:nvPr/>
        </p:nvSpPr>
        <p:spPr>
          <a:xfrm>
            <a:off x="10406896" y="3420428"/>
            <a:ext cx="2705219" cy="659844"/>
          </a:xfrm>
          <a:prstGeom prst="rect">
            <a:avLst/>
          </a:prstGeom>
          <a:noFill/>
          <a:ln/>
        </p:spPr>
        <p:txBody>
          <a:bodyPr wrap="square" lIns="0" tIns="0" rIns="0" bIns="0" rtlCol="0" anchor="t"/>
          <a:lstStyle/>
          <a:p>
            <a:pPr algn="ctr" indent="0" marL="0">
              <a:lnSpc>
                <a:spcPts val="2550"/>
              </a:lnSpc>
              <a:buNone/>
            </a:pPr>
            <a:r>
              <a:rPr lang="en-US" sz="1600" dirty="0">
                <a:solidFill>
                  <a:srgbClr val="000000"/>
                </a:solidFill>
                <a:latin typeface="Raleway Medium" pitchFamily="34" charset="0"/>
                <a:ea typeface="Raleway Medium" pitchFamily="34" charset="-122"/>
                <a:cs typeface="Raleway Medium" pitchFamily="34" charset="-120"/>
              </a:rPr>
              <a:t>Accelerated data-driven decision-making processes</a:t>
            </a:r>
            <a:endParaRPr lang="en-US" sz="1600" dirty="0"/>
          </a:p>
        </p:txBody>
      </p:sp>
      <p:sp>
        <p:nvSpPr>
          <p:cNvPr id="18" name="Shape 15"/>
          <p:cNvSpPr/>
          <p:nvPr/>
        </p:nvSpPr>
        <p:spPr>
          <a:xfrm>
            <a:off x="1518166" y="4745236"/>
            <a:ext cx="11593949" cy="33338"/>
          </a:xfrm>
          <a:prstGeom prst="rect">
            <a:avLst/>
          </a:prstGeom>
          <a:solidFill>
            <a:srgbClr val="000000">
              <a:alpha val="50000"/>
            </a:srgbClr>
          </a:solidFill>
          <a:ln/>
        </p:spPr>
      </p:sp>
      <p:sp>
        <p:nvSpPr>
          <p:cNvPr id="19" name="Text 16"/>
          <p:cNvSpPr/>
          <p:nvPr/>
        </p:nvSpPr>
        <p:spPr>
          <a:xfrm>
            <a:off x="1518166" y="5087898"/>
            <a:ext cx="3401854" cy="343614"/>
          </a:xfrm>
          <a:prstGeom prst="rect">
            <a:avLst/>
          </a:prstGeom>
          <a:noFill/>
          <a:ln/>
        </p:spPr>
        <p:txBody>
          <a:bodyPr wrap="none" lIns="0" tIns="0" rIns="0" bIns="0" rtlCol="0" anchor="t"/>
          <a:lstStyle/>
          <a:p>
            <a:pPr algn="l" indent="0" marL="0">
              <a:lnSpc>
                <a:spcPts val="2700"/>
              </a:lnSpc>
              <a:buNone/>
            </a:pPr>
            <a:r>
              <a:rPr lang="en-US" sz="2150" b="1" dirty="0">
                <a:solidFill>
                  <a:srgbClr val="000000"/>
                </a:solidFill>
                <a:latin typeface="Comfortaa Bold" pitchFamily="34" charset="0"/>
                <a:ea typeface="Comfortaa Bold" pitchFamily="34" charset="-122"/>
                <a:cs typeface="Comfortaa Bold" pitchFamily="34" charset="-120"/>
              </a:rPr>
              <a:t>Key Business Outcomes</a:t>
            </a:r>
            <a:endParaRPr lang="en-US" sz="2150" dirty="0"/>
          </a:p>
        </p:txBody>
      </p:sp>
      <p:sp>
        <p:nvSpPr>
          <p:cNvPr id="20" name="Shape 17"/>
          <p:cNvSpPr/>
          <p:nvPr/>
        </p:nvSpPr>
        <p:spPr>
          <a:xfrm>
            <a:off x="1518166" y="5740837"/>
            <a:ext cx="463987" cy="463987"/>
          </a:xfrm>
          <a:prstGeom prst="roundRect">
            <a:avLst>
              <a:gd name="adj" fmla="val 66667"/>
            </a:avLst>
          </a:prstGeom>
          <a:solidFill>
            <a:srgbClr val="46464A"/>
          </a:solidFill>
          <a:ln/>
        </p:spPr>
      </p:sp>
      <p:sp>
        <p:nvSpPr>
          <p:cNvPr id="21" name="Text 18"/>
          <p:cNvSpPr/>
          <p:nvPr/>
        </p:nvSpPr>
        <p:spPr>
          <a:xfrm>
            <a:off x="2188369" y="5811679"/>
            <a:ext cx="3022521" cy="572691"/>
          </a:xfrm>
          <a:prstGeom prst="rect">
            <a:avLst/>
          </a:prstGeom>
          <a:noFill/>
          <a:ln/>
        </p:spPr>
        <p:txBody>
          <a:bodyPr wrap="square" lIns="0" tIns="0" rIns="0" bIns="0" rtlCol="0" anchor="t"/>
          <a:lstStyle/>
          <a:p>
            <a:pPr algn="l" indent="0" marL="0">
              <a:lnSpc>
                <a:spcPts val="2250"/>
              </a:lnSpc>
              <a:buNone/>
            </a:pPr>
            <a:r>
              <a:rPr lang="en-US" sz="1800" b="1" dirty="0">
                <a:solidFill>
                  <a:srgbClr val="000000"/>
                </a:solidFill>
                <a:latin typeface="Comfortaa Bold" pitchFamily="34" charset="0"/>
                <a:ea typeface="Comfortaa Bold" pitchFamily="34" charset="-122"/>
                <a:cs typeface="Comfortaa Bold" pitchFamily="34" charset="-120"/>
              </a:rPr>
              <a:t>Enhanced Customer Experience</a:t>
            </a:r>
            <a:endParaRPr lang="en-US" sz="1800" dirty="0"/>
          </a:p>
        </p:txBody>
      </p:sp>
      <p:sp>
        <p:nvSpPr>
          <p:cNvPr id="22" name="Text 19"/>
          <p:cNvSpPr/>
          <p:nvPr/>
        </p:nvSpPr>
        <p:spPr>
          <a:xfrm>
            <a:off x="2188369" y="6508075"/>
            <a:ext cx="3022521" cy="989767"/>
          </a:xfrm>
          <a:prstGeom prst="rect">
            <a:avLst/>
          </a:prstGeom>
          <a:noFill/>
          <a:ln/>
        </p:spPr>
        <p:txBody>
          <a:bodyPr wrap="square" lIns="0" tIns="0" rIns="0" bIns="0" rtlCol="0" anchor="t"/>
          <a:lstStyle/>
          <a:p>
            <a:pPr algn="l" indent="0" marL="0">
              <a:lnSpc>
                <a:spcPts val="2550"/>
              </a:lnSpc>
              <a:buNone/>
            </a:pPr>
            <a:r>
              <a:rPr lang="en-US" sz="1600" dirty="0">
                <a:solidFill>
                  <a:srgbClr val="000000"/>
                </a:solidFill>
                <a:latin typeface="Raleway Medium" pitchFamily="34" charset="0"/>
                <a:ea typeface="Raleway Medium" pitchFamily="34" charset="-122"/>
                <a:cs typeface="Raleway Medium" pitchFamily="34" charset="-120"/>
              </a:rPr>
              <a:t>Higher satisfaction scores and loyalty metrics through personalised interactions</a:t>
            </a:r>
            <a:endParaRPr lang="en-US" sz="1600" dirty="0"/>
          </a:p>
        </p:txBody>
      </p:sp>
      <p:sp>
        <p:nvSpPr>
          <p:cNvPr id="23" name="Shape 20"/>
          <p:cNvSpPr/>
          <p:nvPr/>
        </p:nvSpPr>
        <p:spPr>
          <a:xfrm>
            <a:off x="5468660" y="5740837"/>
            <a:ext cx="463987" cy="463987"/>
          </a:xfrm>
          <a:prstGeom prst="roundRect">
            <a:avLst>
              <a:gd name="adj" fmla="val 66667"/>
            </a:avLst>
          </a:prstGeom>
          <a:solidFill>
            <a:srgbClr val="46464A"/>
          </a:solidFill>
          <a:ln/>
        </p:spPr>
      </p:sp>
      <p:sp>
        <p:nvSpPr>
          <p:cNvPr id="24" name="Text 21"/>
          <p:cNvSpPr/>
          <p:nvPr/>
        </p:nvSpPr>
        <p:spPr>
          <a:xfrm>
            <a:off x="6138862" y="5811679"/>
            <a:ext cx="3022640" cy="572691"/>
          </a:xfrm>
          <a:prstGeom prst="rect">
            <a:avLst/>
          </a:prstGeom>
          <a:noFill/>
          <a:ln/>
        </p:spPr>
        <p:txBody>
          <a:bodyPr wrap="square" lIns="0" tIns="0" rIns="0" bIns="0" rtlCol="0" anchor="t"/>
          <a:lstStyle/>
          <a:p>
            <a:pPr algn="l" indent="0" marL="0">
              <a:lnSpc>
                <a:spcPts val="2250"/>
              </a:lnSpc>
              <a:buNone/>
            </a:pPr>
            <a:r>
              <a:rPr lang="en-US" sz="1800" b="1" dirty="0">
                <a:solidFill>
                  <a:srgbClr val="000000"/>
                </a:solidFill>
                <a:latin typeface="Comfortaa Bold" pitchFamily="34" charset="0"/>
                <a:ea typeface="Comfortaa Bold" pitchFamily="34" charset="-122"/>
                <a:cs typeface="Comfortaa Bold" pitchFamily="34" charset="-120"/>
              </a:rPr>
              <a:t>Increased Conversion Rates</a:t>
            </a:r>
            <a:endParaRPr lang="en-US" sz="1800" dirty="0"/>
          </a:p>
        </p:txBody>
      </p:sp>
      <p:sp>
        <p:nvSpPr>
          <p:cNvPr id="25" name="Text 22"/>
          <p:cNvSpPr/>
          <p:nvPr/>
        </p:nvSpPr>
        <p:spPr>
          <a:xfrm>
            <a:off x="6138862" y="6508075"/>
            <a:ext cx="3022640" cy="989767"/>
          </a:xfrm>
          <a:prstGeom prst="rect">
            <a:avLst/>
          </a:prstGeom>
          <a:noFill/>
          <a:ln/>
        </p:spPr>
        <p:txBody>
          <a:bodyPr wrap="square" lIns="0" tIns="0" rIns="0" bIns="0" rtlCol="0" anchor="t"/>
          <a:lstStyle/>
          <a:p>
            <a:pPr algn="l" indent="0" marL="0">
              <a:lnSpc>
                <a:spcPts val="2550"/>
              </a:lnSpc>
              <a:buNone/>
            </a:pPr>
            <a:r>
              <a:rPr lang="en-US" sz="1600" dirty="0">
                <a:solidFill>
                  <a:srgbClr val="000000"/>
                </a:solidFill>
                <a:latin typeface="Raleway Medium" pitchFamily="34" charset="0"/>
                <a:ea typeface="Raleway Medium" pitchFamily="34" charset="-122"/>
                <a:cs typeface="Raleway Medium" pitchFamily="34" charset="-120"/>
              </a:rPr>
              <a:t>Improved sales performance with higher repeat purchase frequency</a:t>
            </a:r>
            <a:endParaRPr lang="en-US" sz="1600" dirty="0"/>
          </a:p>
        </p:txBody>
      </p:sp>
      <p:sp>
        <p:nvSpPr>
          <p:cNvPr id="26" name="Shape 23"/>
          <p:cNvSpPr/>
          <p:nvPr/>
        </p:nvSpPr>
        <p:spPr>
          <a:xfrm>
            <a:off x="9419273" y="5740837"/>
            <a:ext cx="463987" cy="463987"/>
          </a:xfrm>
          <a:prstGeom prst="roundRect">
            <a:avLst>
              <a:gd name="adj" fmla="val 66667"/>
            </a:avLst>
          </a:prstGeom>
          <a:solidFill>
            <a:srgbClr val="46464A"/>
          </a:solidFill>
          <a:ln/>
        </p:spPr>
      </p:sp>
      <p:sp>
        <p:nvSpPr>
          <p:cNvPr id="27" name="Text 24"/>
          <p:cNvSpPr/>
          <p:nvPr/>
        </p:nvSpPr>
        <p:spPr>
          <a:xfrm>
            <a:off x="10089475" y="5811679"/>
            <a:ext cx="2778443" cy="286345"/>
          </a:xfrm>
          <a:prstGeom prst="rect">
            <a:avLst/>
          </a:prstGeom>
          <a:noFill/>
          <a:ln/>
        </p:spPr>
        <p:txBody>
          <a:bodyPr wrap="none" lIns="0" tIns="0" rIns="0" bIns="0" rtlCol="0" anchor="t"/>
          <a:lstStyle/>
          <a:p>
            <a:pPr algn="l" indent="0" marL="0">
              <a:lnSpc>
                <a:spcPts val="2250"/>
              </a:lnSpc>
              <a:buNone/>
            </a:pPr>
            <a:r>
              <a:rPr lang="en-US" sz="1800" b="1" dirty="0">
                <a:solidFill>
                  <a:srgbClr val="000000"/>
                </a:solidFill>
                <a:latin typeface="Comfortaa Bold" pitchFamily="34" charset="0"/>
                <a:ea typeface="Comfortaa Bold" pitchFamily="34" charset="-122"/>
                <a:cs typeface="Comfortaa Bold" pitchFamily="34" charset="-120"/>
              </a:rPr>
              <a:t>Competitive Advantage</a:t>
            </a:r>
            <a:endParaRPr lang="en-US" sz="1800" dirty="0"/>
          </a:p>
        </p:txBody>
      </p:sp>
      <p:sp>
        <p:nvSpPr>
          <p:cNvPr id="28" name="Text 25"/>
          <p:cNvSpPr/>
          <p:nvPr/>
        </p:nvSpPr>
        <p:spPr>
          <a:xfrm>
            <a:off x="10089475" y="6221730"/>
            <a:ext cx="3022521" cy="989767"/>
          </a:xfrm>
          <a:prstGeom prst="rect">
            <a:avLst/>
          </a:prstGeom>
          <a:noFill/>
          <a:ln/>
        </p:spPr>
        <p:txBody>
          <a:bodyPr wrap="square" lIns="0" tIns="0" rIns="0" bIns="0" rtlCol="0" anchor="t"/>
          <a:lstStyle/>
          <a:p>
            <a:pPr algn="l" indent="0" marL="0">
              <a:lnSpc>
                <a:spcPts val="2550"/>
              </a:lnSpc>
              <a:buNone/>
            </a:pPr>
            <a:r>
              <a:rPr lang="en-US" sz="1600" dirty="0">
                <a:solidFill>
                  <a:srgbClr val="000000"/>
                </a:solidFill>
                <a:latin typeface="Raleway Medium" pitchFamily="34" charset="0"/>
                <a:ea typeface="Raleway Medium" pitchFamily="34" charset="-122"/>
                <a:cs typeface="Raleway Medium" pitchFamily="34" charset="-120"/>
              </a:rPr>
              <a:t>Outperform competitors through superior customer intelligence and engagement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845004" y="339447"/>
            <a:ext cx="5468779" cy="274201"/>
          </a:xfrm>
          <a:prstGeom prst="rect">
            <a:avLst/>
          </a:prstGeom>
          <a:noFill/>
          <a:ln/>
        </p:spPr>
        <p:txBody>
          <a:bodyPr wrap="none" lIns="0" tIns="0" rIns="0" bIns="0" rtlCol="0" anchor="t"/>
          <a:lstStyle/>
          <a:p>
            <a:pPr algn="l" indent="0" marL="0">
              <a:lnSpc>
                <a:spcPts val="2150"/>
              </a:lnSpc>
              <a:buNone/>
            </a:pPr>
            <a:r>
              <a:rPr lang="en-US" sz="1700" b="1" dirty="0">
                <a:solidFill>
                  <a:srgbClr val="FFE14D"/>
                </a:solidFill>
                <a:latin typeface="Comfortaa Bold" pitchFamily="34" charset="0"/>
                <a:ea typeface="Comfortaa Bold" pitchFamily="34" charset="-122"/>
                <a:cs typeface="Comfortaa Bold" pitchFamily="34" charset="-120"/>
              </a:rPr>
              <a:t>Best Practices for Successful AI Implementation</a:t>
            </a:r>
            <a:endParaRPr lang="en-US" sz="1700" dirty="0"/>
          </a:p>
        </p:txBody>
      </p:sp>
      <p:pic>
        <p:nvPicPr>
          <p:cNvPr id="3" name="Image 0" descr="preencoded.png">    </p:cNvPr>
          <p:cNvPicPr>
            <a:picLocks noChangeAspect="1"/>
          </p:cNvPicPr>
          <p:nvPr/>
        </p:nvPicPr>
        <p:blipFill>
          <a:blip r:embed="rId1"/>
          <a:stretch>
            <a:fillRect/>
          </a:stretch>
        </p:blipFill>
        <p:spPr>
          <a:xfrm>
            <a:off x="3845004" y="937617"/>
            <a:ext cx="3319582" cy="3319582"/>
          </a:xfrm>
          <a:prstGeom prst="rect">
            <a:avLst/>
          </a:prstGeom>
        </p:spPr>
      </p:pic>
      <p:sp>
        <p:nvSpPr>
          <p:cNvPr id="4" name="Text 1"/>
          <p:cNvSpPr/>
          <p:nvPr/>
        </p:nvSpPr>
        <p:spPr>
          <a:xfrm>
            <a:off x="7473196" y="909876"/>
            <a:ext cx="3319582" cy="987623"/>
          </a:xfrm>
          <a:prstGeom prst="rect">
            <a:avLst/>
          </a:prstGeom>
          <a:noFill/>
          <a:ln/>
        </p:spPr>
        <p:txBody>
          <a:bodyPr wrap="square" lIns="0" tIns="0" rIns="0" bIns="0" rtlCol="0" anchor="t"/>
          <a:lstStyle/>
          <a:p>
            <a:pPr algn="l" indent="0" marL="0">
              <a:lnSpc>
                <a:spcPts val="1550"/>
              </a:lnSpc>
              <a:buNone/>
            </a:pPr>
            <a:r>
              <a:rPr lang="en-US" sz="950" dirty="0">
                <a:solidFill>
                  <a:srgbClr val="D7D4CC"/>
                </a:solidFill>
                <a:latin typeface="Raleway Medium" pitchFamily="34" charset="0"/>
                <a:ea typeface="Raleway Medium" pitchFamily="34" charset="-122"/>
                <a:cs typeface="Raleway Medium" pitchFamily="34" charset="-120"/>
              </a:rPr>
              <a:t>To maximise AI's benefits, companies should establish precise goals for sales and retention whilst ensuring superior customer data quality. Success requires fusing human knowledge with AI insights whilst preserving data privacy and transparency.</a:t>
            </a:r>
            <a:endParaRPr lang="en-US" sz="950" dirty="0"/>
          </a:p>
        </p:txBody>
      </p:sp>
      <p:sp>
        <p:nvSpPr>
          <p:cNvPr id="5" name="Shape 2"/>
          <p:cNvSpPr/>
          <p:nvPr/>
        </p:nvSpPr>
        <p:spPr>
          <a:xfrm>
            <a:off x="7307461" y="4534853"/>
            <a:ext cx="15240" cy="3685699"/>
          </a:xfrm>
          <a:prstGeom prst="roundRect">
            <a:avLst>
              <a:gd name="adj" fmla="val 1215000"/>
            </a:avLst>
          </a:prstGeom>
          <a:solidFill>
            <a:srgbClr val="5F5F63"/>
          </a:solidFill>
          <a:ln/>
        </p:spPr>
      </p:sp>
      <p:sp>
        <p:nvSpPr>
          <p:cNvPr id="6" name="Shape 3"/>
          <p:cNvSpPr/>
          <p:nvPr/>
        </p:nvSpPr>
        <p:spPr>
          <a:xfrm>
            <a:off x="6821210" y="4666059"/>
            <a:ext cx="370284" cy="15240"/>
          </a:xfrm>
          <a:prstGeom prst="roundRect">
            <a:avLst>
              <a:gd name="adj" fmla="val 1215000"/>
            </a:avLst>
          </a:prstGeom>
          <a:solidFill>
            <a:srgbClr val="5F5F63"/>
          </a:solidFill>
          <a:ln/>
        </p:spPr>
      </p:sp>
      <p:sp>
        <p:nvSpPr>
          <p:cNvPr id="7" name="Shape 4"/>
          <p:cNvSpPr/>
          <p:nvPr/>
        </p:nvSpPr>
        <p:spPr>
          <a:xfrm>
            <a:off x="7176254" y="4534853"/>
            <a:ext cx="277654" cy="277654"/>
          </a:xfrm>
          <a:prstGeom prst="roundRect">
            <a:avLst>
              <a:gd name="adj" fmla="val 66689"/>
            </a:avLst>
          </a:prstGeom>
          <a:solidFill>
            <a:srgbClr val="46464A"/>
          </a:solidFill>
          <a:ln/>
        </p:spPr>
      </p:sp>
      <p:sp>
        <p:nvSpPr>
          <p:cNvPr id="8" name="Text 5"/>
          <p:cNvSpPr/>
          <p:nvPr/>
        </p:nvSpPr>
        <p:spPr>
          <a:xfrm>
            <a:off x="7232809" y="4570809"/>
            <a:ext cx="164544" cy="205740"/>
          </a:xfrm>
          <a:prstGeom prst="rect">
            <a:avLst/>
          </a:prstGeom>
          <a:noFill/>
          <a:ln/>
        </p:spPr>
        <p:txBody>
          <a:bodyPr wrap="none" lIns="0" tIns="0" rIns="0" bIns="0" rtlCol="0" anchor="t"/>
          <a:lstStyle/>
          <a:p>
            <a:pPr algn="ctr" indent="0" marL="0">
              <a:lnSpc>
                <a:spcPts val="1250"/>
              </a:lnSpc>
              <a:buNone/>
            </a:pPr>
            <a:r>
              <a:rPr lang="en-US" sz="1250" b="1" dirty="0">
                <a:solidFill>
                  <a:srgbClr val="D7D4CC"/>
                </a:solidFill>
                <a:latin typeface="Comfortaa Bold" pitchFamily="34" charset="0"/>
                <a:ea typeface="Comfortaa Bold" pitchFamily="34" charset="-122"/>
                <a:cs typeface="Comfortaa Bold" pitchFamily="34" charset="-120"/>
              </a:rPr>
              <a:t>1</a:t>
            </a:r>
            <a:endParaRPr lang="en-US" sz="1250" dirty="0"/>
          </a:p>
        </p:txBody>
      </p:sp>
      <p:sp>
        <p:nvSpPr>
          <p:cNvPr id="9" name="Text 6"/>
          <p:cNvSpPr/>
          <p:nvPr/>
        </p:nvSpPr>
        <p:spPr>
          <a:xfrm>
            <a:off x="5019080" y="4577239"/>
            <a:ext cx="1678781" cy="171450"/>
          </a:xfrm>
          <a:prstGeom prst="rect">
            <a:avLst/>
          </a:prstGeom>
          <a:noFill/>
          <a:ln/>
        </p:spPr>
        <p:txBody>
          <a:bodyPr wrap="none" lIns="0" tIns="0" rIns="0" bIns="0" rtlCol="0" anchor="t"/>
          <a:lstStyle/>
          <a:p>
            <a:pPr algn="r" indent="0" marL="0">
              <a:lnSpc>
                <a:spcPts val="1350"/>
              </a:lnSpc>
              <a:buNone/>
            </a:pPr>
            <a:r>
              <a:rPr lang="en-US" sz="1050" b="1" dirty="0">
                <a:solidFill>
                  <a:srgbClr val="D7D4CC"/>
                </a:solidFill>
                <a:latin typeface="Comfortaa Bold" pitchFamily="34" charset="0"/>
                <a:ea typeface="Comfortaa Bold" pitchFamily="34" charset="-122"/>
                <a:cs typeface="Comfortaa Bold" pitchFamily="34" charset="-120"/>
              </a:rPr>
              <a:t>Define Clear Objectives</a:t>
            </a:r>
            <a:endParaRPr lang="en-US" sz="1050" dirty="0"/>
          </a:p>
        </p:txBody>
      </p:sp>
      <p:sp>
        <p:nvSpPr>
          <p:cNvPr id="10" name="Text 7"/>
          <p:cNvSpPr/>
          <p:nvPr/>
        </p:nvSpPr>
        <p:spPr>
          <a:xfrm>
            <a:off x="3845004" y="4822746"/>
            <a:ext cx="2852857" cy="395049"/>
          </a:xfrm>
          <a:prstGeom prst="rect">
            <a:avLst/>
          </a:prstGeom>
          <a:noFill/>
          <a:ln/>
        </p:spPr>
        <p:txBody>
          <a:bodyPr wrap="square" lIns="0" tIns="0" rIns="0" bIns="0" rtlCol="0" anchor="t"/>
          <a:lstStyle/>
          <a:p>
            <a:pPr algn="r" indent="0" marL="0">
              <a:lnSpc>
                <a:spcPts val="1550"/>
              </a:lnSpc>
              <a:buNone/>
            </a:pPr>
            <a:r>
              <a:rPr lang="en-US" sz="950" dirty="0">
                <a:solidFill>
                  <a:srgbClr val="D7D4CC"/>
                </a:solidFill>
                <a:latin typeface="Raleway Medium" pitchFamily="34" charset="0"/>
                <a:ea typeface="Raleway Medium" pitchFamily="34" charset="-122"/>
                <a:cs typeface="Raleway Medium" pitchFamily="34" charset="-120"/>
              </a:rPr>
              <a:t>Set specific, measurable goals for retention and sales growth</a:t>
            </a:r>
            <a:endParaRPr lang="en-US" sz="950" dirty="0"/>
          </a:p>
        </p:txBody>
      </p:sp>
      <p:sp>
        <p:nvSpPr>
          <p:cNvPr id="11" name="Shape 8"/>
          <p:cNvSpPr/>
          <p:nvPr/>
        </p:nvSpPr>
        <p:spPr>
          <a:xfrm>
            <a:off x="7438668" y="5406628"/>
            <a:ext cx="370284" cy="15240"/>
          </a:xfrm>
          <a:prstGeom prst="roundRect">
            <a:avLst>
              <a:gd name="adj" fmla="val 1215000"/>
            </a:avLst>
          </a:prstGeom>
          <a:solidFill>
            <a:srgbClr val="5F5F63"/>
          </a:solidFill>
          <a:ln/>
        </p:spPr>
      </p:sp>
      <p:sp>
        <p:nvSpPr>
          <p:cNvPr id="12" name="Shape 9"/>
          <p:cNvSpPr/>
          <p:nvPr/>
        </p:nvSpPr>
        <p:spPr>
          <a:xfrm>
            <a:off x="7176254" y="5275421"/>
            <a:ext cx="277654" cy="277654"/>
          </a:xfrm>
          <a:prstGeom prst="roundRect">
            <a:avLst>
              <a:gd name="adj" fmla="val 66689"/>
            </a:avLst>
          </a:prstGeom>
          <a:solidFill>
            <a:srgbClr val="46464A"/>
          </a:solidFill>
          <a:ln/>
        </p:spPr>
      </p:sp>
      <p:sp>
        <p:nvSpPr>
          <p:cNvPr id="13" name="Text 10"/>
          <p:cNvSpPr/>
          <p:nvPr/>
        </p:nvSpPr>
        <p:spPr>
          <a:xfrm>
            <a:off x="7232809" y="5311378"/>
            <a:ext cx="164544" cy="205740"/>
          </a:xfrm>
          <a:prstGeom prst="rect">
            <a:avLst/>
          </a:prstGeom>
          <a:noFill/>
          <a:ln/>
        </p:spPr>
        <p:txBody>
          <a:bodyPr wrap="none" lIns="0" tIns="0" rIns="0" bIns="0" rtlCol="0" anchor="t"/>
          <a:lstStyle/>
          <a:p>
            <a:pPr algn="ctr" indent="0" marL="0">
              <a:lnSpc>
                <a:spcPts val="1250"/>
              </a:lnSpc>
              <a:buNone/>
            </a:pPr>
            <a:r>
              <a:rPr lang="en-US" sz="1250" b="1" dirty="0">
                <a:solidFill>
                  <a:srgbClr val="D7D4CC"/>
                </a:solidFill>
                <a:latin typeface="Comfortaa Bold" pitchFamily="34" charset="0"/>
                <a:ea typeface="Comfortaa Bold" pitchFamily="34" charset="-122"/>
                <a:cs typeface="Comfortaa Bold" pitchFamily="34" charset="-120"/>
              </a:rPr>
              <a:t>2</a:t>
            </a:r>
            <a:endParaRPr lang="en-US" sz="1250" dirty="0"/>
          </a:p>
        </p:txBody>
      </p:sp>
      <p:sp>
        <p:nvSpPr>
          <p:cNvPr id="14" name="Text 11"/>
          <p:cNvSpPr/>
          <p:nvPr/>
        </p:nvSpPr>
        <p:spPr>
          <a:xfrm>
            <a:off x="7932301" y="5317808"/>
            <a:ext cx="1455896" cy="171450"/>
          </a:xfrm>
          <a:prstGeom prst="rect">
            <a:avLst/>
          </a:prstGeom>
          <a:noFill/>
          <a:ln/>
        </p:spPr>
        <p:txBody>
          <a:bodyPr wrap="none" lIns="0" tIns="0" rIns="0" bIns="0" rtlCol="0" anchor="t"/>
          <a:lstStyle/>
          <a:p>
            <a:pPr algn="l" indent="0" marL="0">
              <a:lnSpc>
                <a:spcPts val="1350"/>
              </a:lnSpc>
              <a:buNone/>
            </a:pPr>
            <a:r>
              <a:rPr lang="en-US" sz="1050" b="1" dirty="0">
                <a:solidFill>
                  <a:srgbClr val="D7D4CC"/>
                </a:solidFill>
                <a:latin typeface="Comfortaa Bold" pitchFamily="34" charset="0"/>
                <a:ea typeface="Comfortaa Bold" pitchFamily="34" charset="-122"/>
                <a:cs typeface="Comfortaa Bold" pitchFamily="34" charset="-120"/>
              </a:rPr>
              <a:t>Ensure Data Quality</a:t>
            </a:r>
            <a:endParaRPr lang="en-US" sz="1050" dirty="0"/>
          </a:p>
        </p:txBody>
      </p:sp>
      <p:sp>
        <p:nvSpPr>
          <p:cNvPr id="15" name="Text 12"/>
          <p:cNvSpPr/>
          <p:nvPr/>
        </p:nvSpPr>
        <p:spPr>
          <a:xfrm>
            <a:off x="7932301" y="5563314"/>
            <a:ext cx="2852976" cy="395049"/>
          </a:xfrm>
          <a:prstGeom prst="rect">
            <a:avLst/>
          </a:prstGeom>
          <a:noFill/>
          <a:ln/>
        </p:spPr>
        <p:txBody>
          <a:bodyPr wrap="square" lIns="0" tIns="0" rIns="0" bIns="0" rtlCol="0" anchor="t"/>
          <a:lstStyle/>
          <a:p>
            <a:pPr algn="l" indent="0" marL="0">
              <a:lnSpc>
                <a:spcPts val="1550"/>
              </a:lnSpc>
              <a:buNone/>
            </a:pPr>
            <a:r>
              <a:rPr lang="en-US" sz="950" dirty="0">
                <a:solidFill>
                  <a:srgbClr val="D7D4CC"/>
                </a:solidFill>
                <a:latin typeface="Raleway Medium" pitchFamily="34" charset="0"/>
                <a:ea typeface="Raleway Medium" pitchFamily="34" charset="-122"/>
                <a:cs typeface="Raleway Medium" pitchFamily="34" charset="-120"/>
              </a:rPr>
              <a:t>Build robust data collection and management systems</a:t>
            </a:r>
            <a:endParaRPr lang="en-US" sz="950" dirty="0"/>
          </a:p>
        </p:txBody>
      </p:sp>
      <p:sp>
        <p:nvSpPr>
          <p:cNvPr id="16" name="Shape 13"/>
          <p:cNvSpPr/>
          <p:nvPr/>
        </p:nvSpPr>
        <p:spPr>
          <a:xfrm>
            <a:off x="6821210" y="6044922"/>
            <a:ext cx="370284" cy="15240"/>
          </a:xfrm>
          <a:prstGeom prst="roundRect">
            <a:avLst>
              <a:gd name="adj" fmla="val 1215000"/>
            </a:avLst>
          </a:prstGeom>
          <a:solidFill>
            <a:srgbClr val="5F5F63"/>
          </a:solidFill>
          <a:ln/>
        </p:spPr>
      </p:sp>
      <p:sp>
        <p:nvSpPr>
          <p:cNvPr id="17" name="Shape 14"/>
          <p:cNvSpPr/>
          <p:nvPr/>
        </p:nvSpPr>
        <p:spPr>
          <a:xfrm>
            <a:off x="7176254" y="5913715"/>
            <a:ext cx="277654" cy="277654"/>
          </a:xfrm>
          <a:prstGeom prst="roundRect">
            <a:avLst>
              <a:gd name="adj" fmla="val 66689"/>
            </a:avLst>
          </a:prstGeom>
          <a:solidFill>
            <a:srgbClr val="46464A"/>
          </a:solidFill>
          <a:ln/>
        </p:spPr>
      </p:sp>
      <p:sp>
        <p:nvSpPr>
          <p:cNvPr id="18" name="Text 15"/>
          <p:cNvSpPr/>
          <p:nvPr/>
        </p:nvSpPr>
        <p:spPr>
          <a:xfrm>
            <a:off x="7232809" y="5949672"/>
            <a:ext cx="164544" cy="205740"/>
          </a:xfrm>
          <a:prstGeom prst="rect">
            <a:avLst/>
          </a:prstGeom>
          <a:noFill/>
          <a:ln/>
        </p:spPr>
        <p:txBody>
          <a:bodyPr wrap="none" lIns="0" tIns="0" rIns="0" bIns="0" rtlCol="0" anchor="t"/>
          <a:lstStyle/>
          <a:p>
            <a:pPr algn="ctr" indent="0" marL="0">
              <a:lnSpc>
                <a:spcPts val="1250"/>
              </a:lnSpc>
              <a:buNone/>
            </a:pPr>
            <a:r>
              <a:rPr lang="en-US" sz="1250" b="1" dirty="0">
                <a:solidFill>
                  <a:srgbClr val="D7D4CC"/>
                </a:solidFill>
                <a:latin typeface="Comfortaa Bold" pitchFamily="34" charset="0"/>
                <a:ea typeface="Comfortaa Bold" pitchFamily="34" charset="-122"/>
                <a:cs typeface="Comfortaa Bold" pitchFamily="34" charset="-120"/>
              </a:rPr>
              <a:t>3</a:t>
            </a:r>
            <a:endParaRPr lang="en-US" sz="1250" dirty="0"/>
          </a:p>
        </p:txBody>
      </p:sp>
      <p:sp>
        <p:nvSpPr>
          <p:cNvPr id="19" name="Text 16"/>
          <p:cNvSpPr/>
          <p:nvPr/>
        </p:nvSpPr>
        <p:spPr>
          <a:xfrm>
            <a:off x="4684871" y="5956102"/>
            <a:ext cx="2012990" cy="171450"/>
          </a:xfrm>
          <a:prstGeom prst="rect">
            <a:avLst/>
          </a:prstGeom>
          <a:noFill/>
          <a:ln/>
        </p:spPr>
        <p:txBody>
          <a:bodyPr wrap="none" lIns="0" tIns="0" rIns="0" bIns="0" rtlCol="0" anchor="t"/>
          <a:lstStyle/>
          <a:p>
            <a:pPr algn="r" indent="0" marL="0">
              <a:lnSpc>
                <a:spcPts val="1350"/>
              </a:lnSpc>
              <a:buNone/>
            </a:pPr>
            <a:r>
              <a:rPr lang="en-US" sz="1050" b="1" dirty="0">
                <a:solidFill>
                  <a:srgbClr val="D7D4CC"/>
                </a:solidFill>
                <a:latin typeface="Comfortaa Bold" pitchFamily="34" charset="0"/>
                <a:ea typeface="Comfortaa Bold" pitchFamily="34" charset="-122"/>
                <a:cs typeface="Comfortaa Bold" pitchFamily="34" charset="-120"/>
              </a:rPr>
              <a:t>Blend AI and Human Insight</a:t>
            </a:r>
            <a:endParaRPr lang="en-US" sz="1050" dirty="0"/>
          </a:p>
        </p:txBody>
      </p:sp>
      <p:sp>
        <p:nvSpPr>
          <p:cNvPr id="20" name="Text 17"/>
          <p:cNvSpPr/>
          <p:nvPr/>
        </p:nvSpPr>
        <p:spPr>
          <a:xfrm>
            <a:off x="3845004" y="6201608"/>
            <a:ext cx="2852857" cy="395049"/>
          </a:xfrm>
          <a:prstGeom prst="rect">
            <a:avLst/>
          </a:prstGeom>
          <a:noFill/>
          <a:ln/>
        </p:spPr>
        <p:txBody>
          <a:bodyPr wrap="square" lIns="0" tIns="0" rIns="0" bIns="0" rtlCol="0" anchor="t"/>
          <a:lstStyle/>
          <a:p>
            <a:pPr algn="r" indent="0" marL="0">
              <a:lnSpc>
                <a:spcPts val="1550"/>
              </a:lnSpc>
              <a:buNone/>
            </a:pPr>
            <a:r>
              <a:rPr lang="en-US" sz="950" dirty="0">
                <a:solidFill>
                  <a:srgbClr val="D7D4CC"/>
                </a:solidFill>
                <a:latin typeface="Raleway Medium" pitchFamily="34" charset="0"/>
                <a:ea typeface="Raleway Medium" pitchFamily="34" charset="-122"/>
                <a:cs typeface="Raleway Medium" pitchFamily="34" charset="-120"/>
              </a:rPr>
              <a:t>Combine algorithmic power with human creativity</a:t>
            </a:r>
            <a:endParaRPr lang="en-US" sz="950" dirty="0"/>
          </a:p>
        </p:txBody>
      </p:sp>
      <p:sp>
        <p:nvSpPr>
          <p:cNvPr id="21" name="Shape 18"/>
          <p:cNvSpPr/>
          <p:nvPr/>
        </p:nvSpPr>
        <p:spPr>
          <a:xfrm>
            <a:off x="7438668" y="6683335"/>
            <a:ext cx="370284" cy="15240"/>
          </a:xfrm>
          <a:prstGeom prst="roundRect">
            <a:avLst>
              <a:gd name="adj" fmla="val 1215000"/>
            </a:avLst>
          </a:prstGeom>
          <a:solidFill>
            <a:srgbClr val="5F5F63"/>
          </a:solidFill>
          <a:ln/>
        </p:spPr>
      </p:sp>
      <p:sp>
        <p:nvSpPr>
          <p:cNvPr id="22" name="Shape 19"/>
          <p:cNvSpPr/>
          <p:nvPr/>
        </p:nvSpPr>
        <p:spPr>
          <a:xfrm>
            <a:off x="7176254" y="6552128"/>
            <a:ext cx="277654" cy="277654"/>
          </a:xfrm>
          <a:prstGeom prst="roundRect">
            <a:avLst>
              <a:gd name="adj" fmla="val 66689"/>
            </a:avLst>
          </a:prstGeom>
          <a:solidFill>
            <a:srgbClr val="46464A"/>
          </a:solidFill>
          <a:ln/>
        </p:spPr>
      </p:sp>
      <p:sp>
        <p:nvSpPr>
          <p:cNvPr id="23" name="Text 20"/>
          <p:cNvSpPr/>
          <p:nvPr/>
        </p:nvSpPr>
        <p:spPr>
          <a:xfrm>
            <a:off x="7232809" y="6588085"/>
            <a:ext cx="164544" cy="205740"/>
          </a:xfrm>
          <a:prstGeom prst="rect">
            <a:avLst/>
          </a:prstGeom>
          <a:noFill/>
          <a:ln/>
        </p:spPr>
        <p:txBody>
          <a:bodyPr wrap="none" lIns="0" tIns="0" rIns="0" bIns="0" rtlCol="0" anchor="t"/>
          <a:lstStyle/>
          <a:p>
            <a:pPr algn="ctr" indent="0" marL="0">
              <a:lnSpc>
                <a:spcPts val="1250"/>
              </a:lnSpc>
              <a:buNone/>
            </a:pPr>
            <a:r>
              <a:rPr lang="en-US" sz="1250" b="1" dirty="0">
                <a:solidFill>
                  <a:srgbClr val="D7D4CC"/>
                </a:solidFill>
                <a:latin typeface="Comfortaa Bold" pitchFamily="34" charset="0"/>
                <a:ea typeface="Comfortaa Bold" pitchFamily="34" charset="-122"/>
                <a:cs typeface="Comfortaa Bold" pitchFamily="34" charset="-120"/>
              </a:rPr>
              <a:t>4</a:t>
            </a:r>
            <a:endParaRPr lang="en-US" sz="1250" dirty="0"/>
          </a:p>
        </p:txBody>
      </p:sp>
      <p:sp>
        <p:nvSpPr>
          <p:cNvPr id="24" name="Text 21"/>
          <p:cNvSpPr/>
          <p:nvPr/>
        </p:nvSpPr>
        <p:spPr>
          <a:xfrm>
            <a:off x="7932301" y="6594515"/>
            <a:ext cx="1663541" cy="171450"/>
          </a:xfrm>
          <a:prstGeom prst="rect">
            <a:avLst/>
          </a:prstGeom>
          <a:noFill/>
          <a:ln/>
        </p:spPr>
        <p:txBody>
          <a:bodyPr wrap="none" lIns="0" tIns="0" rIns="0" bIns="0" rtlCol="0" anchor="t"/>
          <a:lstStyle/>
          <a:p>
            <a:pPr algn="l" indent="0" marL="0">
              <a:lnSpc>
                <a:spcPts val="1350"/>
              </a:lnSpc>
              <a:buNone/>
            </a:pPr>
            <a:r>
              <a:rPr lang="en-US" sz="1050" b="1" dirty="0">
                <a:solidFill>
                  <a:srgbClr val="D7D4CC"/>
                </a:solidFill>
                <a:latin typeface="Comfortaa Bold" pitchFamily="34" charset="0"/>
                <a:ea typeface="Comfortaa Bold" pitchFamily="34" charset="-122"/>
                <a:cs typeface="Comfortaa Bold" pitchFamily="34" charset="-120"/>
              </a:rPr>
              <a:t>Maintain Transparency</a:t>
            </a:r>
            <a:endParaRPr lang="en-US" sz="1050" dirty="0"/>
          </a:p>
        </p:txBody>
      </p:sp>
      <p:sp>
        <p:nvSpPr>
          <p:cNvPr id="25" name="Text 22"/>
          <p:cNvSpPr/>
          <p:nvPr/>
        </p:nvSpPr>
        <p:spPr>
          <a:xfrm>
            <a:off x="7932301" y="6840022"/>
            <a:ext cx="2852976" cy="395049"/>
          </a:xfrm>
          <a:prstGeom prst="rect">
            <a:avLst/>
          </a:prstGeom>
          <a:noFill/>
          <a:ln/>
        </p:spPr>
        <p:txBody>
          <a:bodyPr wrap="square" lIns="0" tIns="0" rIns="0" bIns="0" rtlCol="0" anchor="t"/>
          <a:lstStyle/>
          <a:p>
            <a:pPr algn="l" indent="0" marL="0">
              <a:lnSpc>
                <a:spcPts val="1550"/>
              </a:lnSpc>
              <a:buNone/>
            </a:pPr>
            <a:r>
              <a:rPr lang="en-US" sz="950" dirty="0">
                <a:solidFill>
                  <a:srgbClr val="D7D4CC"/>
                </a:solidFill>
                <a:latin typeface="Raleway Medium" pitchFamily="34" charset="0"/>
                <a:ea typeface="Raleway Medium" pitchFamily="34" charset="-122"/>
                <a:cs typeface="Raleway Medium" pitchFamily="34" charset="-120"/>
              </a:rPr>
              <a:t>Preserve customer trust through ethical AI practices</a:t>
            </a:r>
            <a:endParaRPr lang="en-US" sz="950" dirty="0"/>
          </a:p>
        </p:txBody>
      </p:sp>
      <p:sp>
        <p:nvSpPr>
          <p:cNvPr id="26" name="Shape 23"/>
          <p:cNvSpPr/>
          <p:nvPr/>
        </p:nvSpPr>
        <p:spPr>
          <a:xfrm>
            <a:off x="6821210" y="7321748"/>
            <a:ext cx="370284" cy="15240"/>
          </a:xfrm>
          <a:prstGeom prst="roundRect">
            <a:avLst>
              <a:gd name="adj" fmla="val 1215000"/>
            </a:avLst>
          </a:prstGeom>
          <a:solidFill>
            <a:srgbClr val="5F5F63"/>
          </a:solidFill>
          <a:ln/>
        </p:spPr>
      </p:sp>
      <p:sp>
        <p:nvSpPr>
          <p:cNvPr id="27" name="Shape 24"/>
          <p:cNvSpPr/>
          <p:nvPr/>
        </p:nvSpPr>
        <p:spPr>
          <a:xfrm>
            <a:off x="7176254" y="7190542"/>
            <a:ext cx="277654" cy="277654"/>
          </a:xfrm>
          <a:prstGeom prst="roundRect">
            <a:avLst>
              <a:gd name="adj" fmla="val 66689"/>
            </a:avLst>
          </a:prstGeom>
          <a:solidFill>
            <a:srgbClr val="46464A"/>
          </a:solidFill>
          <a:ln/>
        </p:spPr>
      </p:sp>
      <p:sp>
        <p:nvSpPr>
          <p:cNvPr id="28" name="Text 25"/>
          <p:cNvSpPr/>
          <p:nvPr/>
        </p:nvSpPr>
        <p:spPr>
          <a:xfrm>
            <a:off x="7232809" y="7226498"/>
            <a:ext cx="164544" cy="205740"/>
          </a:xfrm>
          <a:prstGeom prst="rect">
            <a:avLst/>
          </a:prstGeom>
          <a:noFill/>
          <a:ln/>
        </p:spPr>
        <p:txBody>
          <a:bodyPr wrap="none" lIns="0" tIns="0" rIns="0" bIns="0" rtlCol="0" anchor="t"/>
          <a:lstStyle/>
          <a:p>
            <a:pPr algn="ctr" indent="0" marL="0">
              <a:lnSpc>
                <a:spcPts val="1250"/>
              </a:lnSpc>
              <a:buNone/>
            </a:pPr>
            <a:r>
              <a:rPr lang="en-US" sz="1250" b="1" dirty="0">
                <a:solidFill>
                  <a:srgbClr val="D7D4CC"/>
                </a:solidFill>
                <a:latin typeface="Comfortaa Bold" pitchFamily="34" charset="0"/>
                <a:ea typeface="Comfortaa Bold" pitchFamily="34" charset="-122"/>
                <a:cs typeface="Comfortaa Bold" pitchFamily="34" charset="-120"/>
              </a:rPr>
              <a:t>5</a:t>
            </a:r>
            <a:endParaRPr lang="en-US" sz="1250" dirty="0"/>
          </a:p>
        </p:txBody>
      </p:sp>
      <p:sp>
        <p:nvSpPr>
          <p:cNvPr id="29" name="Text 26"/>
          <p:cNvSpPr/>
          <p:nvPr/>
        </p:nvSpPr>
        <p:spPr>
          <a:xfrm>
            <a:off x="4887397" y="7232928"/>
            <a:ext cx="1810464" cy="171450"/>
          </a:xfrm>
          <a:prstGeom prst="rect">
            <a:avLst/>
          </a:prstGeom>
          <a:noFill/>
          <a:ln/>
        </p:spPr>
        <p:txBody>
          <a:bodyPr wrap="none" lIns="0" tIns="0" rIns="0" bIns="0" rtlCol="0" anchor="t"/>
          <a:lstStyle/>
          <a:p>
            <a:pPr algn="r" indent="0" marL="0">
              <a:lnSpc>
                <a:spcPts val="1350"/>
              </a:lnSpc>
              <a:buNone/>
            </a:pPr>
            <a:r>
              <a:rPr lang="en-US" sz="1050" b="1" dirty="0">
                <a:solidFill>
                  <a:srgbClr val="D7D4CC"/>
                </a:solidFill>
                <a:latin typeface="Comfortaa Bold" pitchFamily="34" charset="0"/>
                <a:ea typeface="Comfortaa Bold" pitchFamily="34" charset="-122"/>
                <a:cs typeface="Comfortaa Bold" pitchFamily="34" charset="-120"/>
              </a:rPr>
              <a:t>Continuous Optimisation</a:t>
            </a:r>
            <a:endParaRPr lang="en-US" sz="1050" dirty="0"/>
          </a:p>
        </p:txBody>
      </p:sp>
      <p:sp>
        <p:nvSpPr>
          <p:cNvPr id="30" name="Text 27"/>
          <p:cNvSpPr/>
          <p:nvPr/>
        </p:nvSpPr>
        <p:spPr>
          <a:xfrm>
            <a:off x="3845004" y="7478435"/>
            <a:ext cx="2852857" cy="197525"/>
          </a:xfrm>
          <a:prstGeom prst="rect">
            <a:avLst/>
          </a:prstGeom>
          <a:noFill/>
          <a:ln/>
        </p:spPr>
        <p:txBody>
          <a:bodyPr wrap="none" lIns="0" tIns="0" rIns="0" bIns="0" rtlCol="0" anchor="t"/>
          <a:lstStyle/>
          <a:p>
            <a:pPr algn="r" indent="0" marL="0">
              <a:lnSpc>
                <a:spcPts val="1550"/>
              </a:lnSpc>
              <a:buNone/>
            </a:pPr>
            <a:r>
              <a:rPr lang="en-US" sz="950" dirty="0">
                <a:solidFill>
                  <a:srgbClr val="D7D4CC"/>
                </a:solidFill>
                <a:latin typeface="Raleway Medium" pitchFamily="34" charset="0"/>
                <a:ea typeface="Raleway Medium" pitchFamily="34" charset="-122"/>
                <a:cs typeface="Raleway Medium" pitchFamily="34" charset="-120"/>
              </a:rPr>
              <a:t>Test and refine AI models regularly</a:t>
            </a:r>
            <a:endParaRPr lang="en-US" sz="950" dirty="0"/>
          </a:p>
        </p:txBody>
      </p:sp>
      <p:sp>
        <p:nvSpPr>
          <p:cNvPr id="31" name="Shape 28"/>
          <p:cNvSpPr/>
          <p:nvPr/>
        </p:nvSpPr>
        <p:spPr>
          <a:xfrm>
            <a:off x="3845004" y="8421077"/>
            <a:ext cx="6940272" cy="22979"/>
          </a:xfrm>
          <a:prstGeom prst="rect">
            <a:avLst/>
          </a:prstGeom>
          <a:solidFill>
            <a:srgbClr val="D7D4CC">
              <a:alpha val="50000"/>
            </a:srgbClr>
          </a:solidFill>
          <a:ln/>
        </p:spPr>
      </p:sp>
      <p:sp>
        <p:nvSpPr>
          <p:cNvPr id="32" name="Text 29"/>
          <p:cNvSpPr/>
          <p:nvPr/>
        </p:nvSpPr>
        <p:spPr>
          <a:xfrm>
            <a:off x="3845004" y="8629174"/>
            <a:ext cx="3410069" cy="205621"/>
          </a:xfrm>
          <a:prstGeom prst="rect">
            <a:avLst/>
          </a:prstGeom>
          <a:noFill/>
          <a:ln/>
        </p:spPr>
        <p:txBody>
          <a:bodyPr wrap="none" lIns="0" tIns="0" rIns="0" bIns="0" rtlCol="0" anchor="t"/>
          <a:lstStyle/>
          <a:p>
            <a:pPr algn="l" indent="0" marL="0">
              <a:lnSpc>
                <a:spcPts val="1600"/>
              </a:lnSpc>
              <a:buNone/>
            </a:pPr>
            <a:r>
              <a:rPr lang="en-US" sz="1250" b="1" dirty="0">
                <a:solidFill>
                  <a:srgbClr val="FFE14D"/>
                </a:solidFill>
                <a:latin typeface="Comfortaa Bold" pitchFamily="34" charset="0"/>
                <a:ea typeface="Comfortaa Bold" pitchFamily="34" charset="-122"/>
                <a:cs typeface="Comfortaa Bold" pitchFamily="34" charset="-120"/>
              </a:rPr>
              <a:t>The Future Belongs to AI-Driven Brands</a:t>
            </a:r>
            <a:endParaRPr lang="en-US" sz="1250" dirty="0"/>
          </a:p>
        </p:txBody>
      </p:sp>
      <p:sp>
        <p:nvSpPr>
          <p:cNvPr id="33" name="Text 30"/>
          <p:cNvSpPr/>
          <p:nvPr/>
        </p:nvSpPr>
        <p:spPr>
          <a:xfrm>
            <a:off x="3845004" y="9019937"/>
            <a:ext cx="6940272" cy="790099"/>
          </a:xfrm>
          <a:prstGeom prst="rect">
            <a:avLst/>
          </a:prstGeom>
          <a:noFill/>
          <a:ln/>
        </p:spPr>
        <p:txBody>
          <a:bodyPr wrap="square" lIns="0" tIns="0" rIns="0" bIns="0" rtlCol="0" anchor="t"/>
          <a:lstStyle/>
          <a:p>
            <a:pPr algn="l" indent="0" marL="0">
              <a:lnSpc>
                <a:spcPts val="1550"/>
              </a:lnSpc>
              <a:buNone/>
            </a:pPr>
            <a:r>
              <a:rPr lang="en-US" sz="950" dirty="0">
                <a:solidFill>
                  <a:srgbClr val="D7D4CC"/>
                </a:solidFill>
                <a:latin typeface="Raleway Medium" pitchFamily="34" charset="0"/>
                <a:ea typeface="Raleway Medium" pitchFamily="34" charset="-122"/>
                <a:cs typeface="Raleway Medium" pitchFamily="34" charset="-120"/>
              </a:rPr>
              <a:t>AI is now a vital growth engine for companies aiming to increase sales and retain customers, not just a concept for the future. Businesses that use AI-driven automation, personalisation, and predictive insights will outperform rivals and forge closer bonds with their clients. Brands that successfully blend artificial intelligence and human creativity will dominate sales in the future.</a:t>
            </a:r>
            <a:endParaRPr lang="en-US" sz="950" dirty="0"/>
          </a:p>
        </p:txBody>
      </p:sp>
      <p:sp>
        <p:nvSpPr>
          <p:cNvPr id="34" name="Shape 31"/>
          <p:cNvSpPr/>
          <p:nvPr/>
        </p:nvSpPr>
        <p:spPr>
          <a:xfrm>
            <a:off x="3845004" y="9948863"/>
            <a:ext cx="6940272" cy="721995"/>
          </a:xfrm>
          <a:prstGeom prst="roundRect">
            <a:avLst>
              <a:gd name="adj" fmla="val 25646"/>
            </a:avLst>
          </a:prstGeom>
          <a:solidFill>
            <a:srgbClr val="4D4000"/>
          </a:solidFill>
          <a:ln/>
        </p:spPr>
      </p:sp>
      <p:pic>
        <p:nvPicPr>
          <p:cNvPr id="35" name="Image 1" descr="preencoded.png">    </p:cNvPr>
          <p:cNvPicPr>
            <a:picLocks noChangeAspect="1"/>
          </p:cNvPicPr>
          <p:nvPr/>
        </p:nvPicPr>
        <p:blipFill>
          <a:blip r:embed="rId2"/>
          <a:stretch>
            <a:fillRect/>
          </a:stretch>
        </p:blipFill>
        <p:spPr>
          <a:xfrm>
            <a:off x="3968353" y="10132219"/>
            <a:ext cx="154305" cy="123349"/>
          </a:xfrm>
          <a:prstGeom prst="rect">
            <a:avLst/>
          </a:prstGeom>
        </p:spPr>
      </p:pic>
      <p:sp>
        <p:nvSpPr>
          <p:cNvPr id="36" name="Text 32"/>
          <p:cNvSpPr/>
          <p:nvPr/>
        </p:nvSpPr>
        <p:spPr>
          <a:xfrm>
            <a:off x="4246007" y="10103048"/>
            <a:ext cx="6415921" cy="395049"/>
          </a:xfrm>
          <a:prstGeom prst="rect">
            <a:avLst/>
          </a:prstGeom>
          <a:noFill/>
          <a:ln/>
        </p:spPr>
        <p:txBody>
          <a:bodyPr wrap="square" lIns="0" tIns="0" rIns="0" bIns="0" rtlCol="0" anchor="t"/>
          <a:lstStyle/>
          <a:p>
            <a:pPr algn="l" indent="0" marL="0">
              <a:lnSpc>
                <a:spcPts val="1550"/>
              </a:lnSpc>
              <a:buNone/>
            </a:pPr>
            <a:r>
              <a:rPr lang="en-US" sz="950" b="1" dirty="0">
                <a:solidFill>
                  <a:srgbClr val="FFFFFF"/>
                </a:solidFill>
                <a:latin typeface="Raleway Medium" pitchFamily="34" charset="0"/>
                <a:ea typeface="Raleway Medium" pitchFamily="34" charset="-122"/>
                <a:cs typeface="Raleway Medium" pitchFamily="34" charset="-120"/>
              </a:rPr>
              <a:t>Ready to transform your customer retention strategy?</a:t>
            </a:r>
            <a:pPr algn="l" indent="0" marL="0">
              <a:lnSpc>
                <a:spcPts val="1550"/>
              </a:lnSpc>
              <a:buNone/>
            </a:pPr>
            <a:r>
              <a:rPr lang="en-US" sz="950" dirty="0">
                <a:solidFill>
                  <a:srgbClr val="FFFFFF"/>
                </a:solidFill>
                <a:latin typeface="Raleway Medium" pitchFamily="34" charset="0"/>
                <a:ea typeface="Raleway Medium" pitchFamily="34" charset="-122"/>
                <a:cs typeface="Raleway Medium" pitchFamily="34" charset="-120"/>
              </a:rPr>
              <a:t> Content strategist and copywriter helping tech and digital-first brands turn ideas into clear, SEO-driven content that attracts and retains customers.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2026-01-11T16:28:06Z</dcterms:created>
  <dcterms:modified xsi:type="dcterms:W3CDTF">2026-01-11T16:28:06Z</dcterms:modified>
</cp:coreProperties>
</file>